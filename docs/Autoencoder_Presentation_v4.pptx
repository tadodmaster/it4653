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6" r:id="rId26"/>
    <p:sldId id="256" r:id="rId2"/>
    <p:sldId id="257" r:id="rId3"/>
    <p:sldId id="262" r:id="rId4"/>
    <p:sldId id="258" r:id="rId5"/>
    <p:sldId id="259" r:id="rId6"/>
    <p:sldId id="263" r:id="rId7"/>
    <p:sldId id="279" r:id="rId29"/>
    <p:sldId id="264" r:id="rId8"/>
    <p:sldId id="281" r:id="rId31"/>
    <p:sldId id="260" r:id="rId9"/>
    <p:sldId id="265" r:id="rId10"/>
    <p:sldId id="275" r:id="rId11"/>
    <p:sldId id="267" r:id="rId12"/>
    <p:sldId id="268" r:id="rId13"/>
    <p:sldId id="280" r:id="rId30"/>
    <p:sldId id="272" r:id="rId14"/>
    <p:sldId id="269" r:id="rId15"/>
    <p:sldId id="270" r:id="rId16"/>
    <p:sldId id="277" r:id="rId27"/>
    <p:sldId id="271" r:id="rId17"/>
    <p:sldId id="273" r:id="rId18"/>
    <p:sldId id="261" r:id="rId19"/>
    <p:sldId id="26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790" autoAdjust="0"/>
  </p:normalViewPr>
  <p:slideViewPr>
    <p:cSldViewPr snapToGrid="0" snapToObjects="1">
      <p:cViewPr varScale="1">
        <p:scale>
          <a:sx n="84" d="100"/>
          <a:sy n="84" d="100"/>
        </p:scale>
        <p:origin x="1596" y="7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  <Relationship Id="rId26" Type="http://schemas.openxmlformats.org/officeDocument/2006/relationships/slide" Target="slides/slide20.xml"/>
  <Relationship Id="rId27" Type="http://schemas.openxmlformats.org/officeDocument/2006/relationships/slide" Target="slides/slide21.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DB25D18-C44E-4795-8B60-A4FE3BF9DCA9}" type="datetimeFigureOut">
              <a:t>8/23/2026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4BBFE63-5C62-4DEA-9880-33834C471B25}" type="slidenum">
              <a:t>‹#›</a:t>
            </a:fld>
            <a:endParaRPr lang="en-US"/>
          </a:p>
        </p:txBody>
      </p:sp>
    </p:spTree>
    <p:extLst>
      <p:ext uri="{BB962C8B-B14F-4D97-AF65-F5344CB8AC3E}">
        <p14:creationId xmlns:p14="http://schemas.microsoft.com/office/powerpoint/2010/main" val="394073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Ảnh 1×28×28 đi qua hai khối tích chập stride 2 nên kích thước không gian giảm 28→14→7, còn số kênh tăng 1→32→64. Toàn bộ 64·7·7 = 3136 đặc trưng được ép xuống d chiều bởi một lớp Linear duy nhất — đây chính là nút cổ chai. Decoder đối xứng hoàn toàn: Linear đưa d về 3136, reshape lại thành 64×7×7 rồi hai lớp ConvTranspose nâng dần về 28×28. Sigmoid ở cuối đưa pixel về [0,1] khớp với dữ liệu đầu vào đã chuẩn hoá.</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thị giác cho đường cong loss ở slide trước. Điểm đáng chú ý nhất là d = 2: loss cao không chỉ có nghĩa là ảnh mờ, mà mô hình còn tái tạo sang một chữ số khác — hai chiều ẩn không đủ để tách 10 lớp. Từ d = 32 trở đi cải thiện thị giác đã bão hoà, trong khi loss vẫn tiếp tục giảm.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Chọn d = 2 và d = 8 để so sánh vì đây là vùng còn nhìn thấy sai khác; từ d = 32 trở lên hai hàm mất mát cho ảnh gần như trùng nhau. Kết luận thực dụng: nên dành công sức chọn d thay vì tranh luận BCE hay MSE. BCE phù hợp hơn khi coi pixel là xác suất trong [0,1] — đây cũng là hàm được dùng cho thí nghiệm phát hiện bất thường.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thái cực của thí nghiệm leave-one-digit-out. Bài học: sai số tái tạo chỉ là chỉ báo bất thường tốt khi mẫu bất thường phức tạp hơn hoặc khác biệt về hình dạng so với dữ liệu huấn luyện. Với mẫu đơn giản hơn phân bố bình thường, AE tổng quát hoá tốt sang nó và tiêu chí này đảo chiều. Đây chính là động cơ chuyển sang VAE với điểm số dựa trên negative ELBO.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Variational</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Autoencoder</a:t>
            </a:r>
            <a:r>
              <a:rPr lang="vi-VN" sz="1200" b="1" i="0" kern="1200" dirty="0">
                <a:solidFill>
                  <a:schemeClr val="tx1"/>
                </a:solidFill>
                <a:effectLst/>
                <a:latin typeface="+mn-lt"/>
                <a:ea typeface="+mn-ea"/>
                <a:cs typeface="+mn-cs"/>
              </a:rPr>
              <a:t> (VAE)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kiến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sâu </a:t>
            </a:r>
            <a:r>
              <a:rPr lang="vi-VN" sz="1200" b="0" i="0" kern="1200" dirty="0" err="1">
                <a:solidFill>
                  <a:schemeClr val="tx1"/>
                </a:solidFill>
                <a:effectLst/>
                <a:latin typeface="+mn-lt"/>
                <a:ea typeface="+mn-ea"/>
                <a:cs typeface="+mn-cs"/>
              </a:rPr>
              <a:t>thuộc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nhóm</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mô </a:t>
            </a:r>
            <a:r>
              <a:rPr lang="vi-VN" sz="1200" b="1" i="0" kern="1200" dirty="0" err="1">
                <a:solidFill>
                  <a:schemeClr val="tx1"/>
                </a:solidFill>
                <a:effectLst/>
                <a:latin typeface="+mn-lt"/>
                <a:ea typeface="+mn-ea"/>
                <a:cs typeface="+mn-cs"/>
              </a:rPr>
              <a:t>hình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tạo</a:t>
            </a:r>
            <a:r>
              <a:rPr lang="vi-VN" sz="1200" b="1" i="0" kern="1200" dirty="0">
                <a:solidFill>
                  <a:schemeClr val="tx1"/>
                </a:solidFill>
                <a:effectLst/>
                <a:latin typeface="+mn-lt"/>
                <a:ea typeface="+mn-ea"/>
                <a:cs typeface="+mn-cs"/>
              </a:rPr>
              <a:t> sinh </a:t>
            </a:r>
            <a:r>
              <a:rPr lang="vi-VN" sz="1200" b="1" i="0" kern="1200" dirty="0" err="1">
                <a:solidFill>
                  <a:schemeClr val="tx1"/>
                </a:solidFill>
                <a:effectLst/>
                <a:latin typeface="+mn-lt"/>
                <a:ea typeface="+mn-ea"/>
                <a:cs typeface="+mn-cs"/>
              </a:rPr>
              <a:t>xác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suất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probabilistic</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generative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model</a:t>
            </a:r>
            <a:r>
              <a:rPr lang="vi-VN" sz="1200" b="1"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với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mạng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Autoencoder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truyền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thống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chỉ</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biểu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diễn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định</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latent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space</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ánh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đầu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thành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trong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Mục</a:t>
            </a:r>
            <a:r>
              <a:rPr lang="vi-VN" sz="1200" b="0" i="0" kern="1200" dirty="0">
                <a:solidFill>
                  <a:schemeClr val="tx1"/>
                </a:solidFill>
                <a:effectLst/>
                <a:latin typeface="+mn-lt"/>
                <a:ea typeface="+mn-ea"/>
                <a:cs typeface="+mn-cs"/>
              </a:rPr>
              <a:t> tiêu </a:t>
            </a:r>
            <a:r>
              <a:rPr lang="vi-VN" sz="1200" b="0" i="0" kern="1200" dirty="0" err="1">
                <a:solidFill>
                  <a:schemeClr val="tx1"/>
                </a:solidFill>
                <a:effectLst/>
                <a:latin typeface="+mn-lt"/>
                <a:ea typeface="+mn-ea"/>
                <a:cs typeface="+mn-cs"/>
              </a:rPr>
              <a:t>chính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cấu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trúc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bố</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xác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suất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tiềm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tập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có</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thể</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tạo</a:t>
            </a:r>
            <a:r>
              <a:rPr lang="vi-VN" sz="1200" b="0" i="0" kern="1200" dirty="0">
                <a:solidFill>
                  <a:schemeClr val="tx1"/>
                </a:solidFill>
                <a:effectLst/>
                <a:latin typeface="+mn-lt"/>
                <a:ea typeface="+mn-ea"/>
                <a:cs typeface="+mn-cs"/>
              </a:rPr>
              <a:t> ra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mới</a:t>
            </a:r>
            <a:r>
              <a:rPr lang="vi-VN" sz="1200" b="0" i="0" kern="1200" dirty="0">
                <a:solidFill>
                  <a:schemeClr val="tx1"/>
                </a:solidFill>
                <a:effectLst/>
                <a:latin typeface="+mn-lt"/>
                <a:ea typeface="+mn-ea"/>
                <a:cs typeface="+mn-cs"/>
              </a:rPr>
              <a:t> tương </a:t>
            </a:r>
            <a:r>
              <a:rPr lang="vi-VN" sz="1200" b="0" i="0" kern="1200" dirty="0" err="1">
                <a:solidFill>
                  <a:schemeClr val="tx1"/>
                </a:solidFill>
                <a:effectLst/>
                <a:latin typeface="+mn-lt"/>
                <a:ea typeface="+mn-ea"/>
                <a:cs typeface="+mn-cs"/>
              </a:rPr>
              <a:t>tự</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r>
              <a:rPr lang="vi-VN" dirty="0"/>
              <a:t>1. </a:t>
            </a:r>
            <a:r>
              <a:rPr lang="vi-VN" dirty="0" err="1"/>
              <a:t>Kiến</a:t>
            </a:r>
            <a:r>
              <a:rPr lang="vi-VN" dirty="0"/>
              <a:t> </a:t>
            </a:r>
            <a:r>
              <a:rPr lang="vi-VN" dirty="0" err="1"/>
              <a:t>trúc</a:t>
            </a:r>
            <a:r>
              <a:rPr lang="vi-VN" dirty="0"/>
              <a:t> </a:t>
            </a:r>
            <a:r>
              <a:rPr lang="vi-VN" dirty="0" err="1"/>
              <a:t>của</a:t>
            </a:r>
            <a:r>
              <a:rPr lang="vi-VN" dirty="0"/>
              <a:t> mô </a:t>
            </a:r>
            <a:r>
              <a:rPr lang="vi-VN" dirty="0" err="1"/>
              <a:t>hình</a:t>
            </a:r>
            <a:r>
              <a:rPr lang="vi-VN" dirty="0"/>
              <a:t> VAE</a:t>
            </a:r>
          </a:p>
          <a:p>
            <a:r>
              <a:rPr lang="vi-VN" dirty="0" err="1"/>
              <a:t>Một</a:t>
            </a:r>
            <a:r>
              <a:rPr lang="vi-VN" dirty="0"/>
              <a:t> mô </a:t>
            </a:r>
            <a:r>
              <a:rPr lang="vi-VN" dirty="0" err="1"/>
              <a:t>hình</a:t>
            </a:r>
            <a:r>
              <a:rPr lang="vi-VN" dirty="0"/>
              <a:t> VAE cơ </a:t>
            </a:r>
            <a:r>
              <a:rPr lang="vi-VN" dirty="0" err="1"/>
              <a:t>bản</a:t>
            </a:r>
            <a:r>
              <a:rPr lang="vi-VN" dirty="0"/>
              <a:t> </a:t>
            </a:r>
            <a:r>
              <a:rPr lang="vi-VN" dirty="0" err="1"/>
              <a:t>gồm</a:t>
            </a:r>
            <a:r>
              <a:rPr lang="vi-VN" dirty="0"/>
              <a:t> hai </a:t>
            </a:r>
            <a:r>
              <a:rPr lang="vi-VN" dirty="0" err="1"/>
              <a:t>mạng</a:t>
            </a:r>
            <a:r>
              <a:rPr lang="vi-VN" dirty="0"/>
              <a:t> </a:t>
            </a:r>
            <a:r>
              <a:rPr lang="vi-VN" dirty="0" err="1"/>
              <a:t>thần</a:t>
            </a:r>
            <a:r>
              <a:rPr lang="vi-VN" dirty="0"/>
              <a:t> kinh </a:t>
            </a:r>
            <a:r>
              <a:rPr lang="vi-VN" dirty="0" err="1"/>
              <a:t>hoạt</a:t>
            </a:r>
            <a:r>
              <a:rPr lang="vi-VN" dirty="0"/>
              <a:t> </a:t>
            </a:r>
            <a:r>
              <a:rPr lang="vi-VN" dirty="0" err="1"/>
              <a:t>động</a:t>
            </a:r>
            <a:r>
              <a:rPr lang="vi-VN" dirty="0"/>
              <a:t> song </a:t>
            </a:r>
            <a:r>
              <a:rPr lang="vi-VN" dirty="0" err="1"/>
              <a:t>song</a:t>
            </a:r>
            <a:r>
              <a:rPr lang="vi-VN" dirty="0"/>
              <a:t> </a:t>
            </a:r>
            <a:r>
              <a:rPr lang="vi-VN" dirty="0" err="1"/>
              <a:t>để</a:t>
            </a:r>
            <a:r>
              <a:rPr lang="vi-VN" dirty="0"/>
              <a:t> </a:t>
            </a:r>
            <a:r>
              <a:rPr lang="vi-VN" dirty="0" err="1"/>
              <a:t>hỗ</a:t>
            </a:r>
            <a:r>
              <a:rPr lang="vi-VN" dirty="0"/>
              <a:t> </a:t>
            </a:r>
            <a:r>
              <a:rPr lang="vi-VN" dirty="0" err="1"/>
              <a:t>trợ</a:t>
            </a:r>
            <a:r>
              <a:rPr lang="vi-VN" dirty="0"/>
              <a:t> </a:t>
            </a:r>
            <a:r>
              <a:rPr lang="vi-VN" dirty="0" err="1"/>
              <a:t>lẫn</a:t>
            </a:r>
            <a:r>
              <a:rPr lang="vi-VN" dirty="0"/>
              <a:t> nhau89:</a:t>
            </a:r>
          </a:p>
          <a:p>
            <a:r>
              <a:rPr lang="vi-VN" b="1" dirty="0" err="1"/>
              <a:t>Bộ</a:t>
            </a:r>
            <a:r>
              <a:rPr lang="vi-VN" b="1" dirty="0"/>
              <a:t> </a:t>
            </a:r>
            <a:r>
              <a:rPr lang="vi-VN" b="1" dirty="0" err="1"/>
              <a:t>mã</a:t>
            </a:r>
            <a:r>
              <a:rPr lang="vi-VN" b="1" dirty="0"/>
              <a:t> </a:t>
            </a:r>
            <a:r>
              <a:rPr lang="vi-VN" b="1" dirty="0" err="1"/>
              <a:t>hóa</a:t>
            </a:r>
            <a:r>
              <a:rPr lang="vi-VN" b="1" dirty="0"/>
              <a:t> (</a:t>
            </a:r>
            <a:r>
              <a:rPr lang="vi-VN" b="1" dirty="0" err="1"/>
              <a:t>Encoder</a:t>
            </a:r>
            <a:r>
              <a:rPr lang="vi-VN" b="1" dirty="0"/>
              <a:t> / </a:t>
            </a:r>
            <a:r>
              <a:rPr lang="vi-VN" b="1" dirty="0" err="1"/>
              <a:t>Recognition</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$q_\phi(</a:t>
            </a:r>
            <a:r>
              <a:rPr lang="vi-VN" dirty="0" err="1"/>
              <a:t>z|x</a:t>
            </a:r>
            <a:r>
              <a:rPr lang="vi-VN" dirty="0"/>
              <a:t>)$, trong </a:t>
            </a:r>
            <a:r>
              <a:rPr lang="vi-VN" dirty="0" err="1"/>
              <a:t>đó</a:t>
            </a:r>
            <a:r>
              <a:rPr lang="vi-VN" dirty="0"/>
              <a:t> $\phi$ </a:t>
            </a:r>
            <a:r>
              <a:rPr lang="vi-VN" dirty="0" err="1"/>
              <a:t>đại</a:t>
            </a:r>
            <a:r>
              <a:rPr lang="vi-VN" dirty="0"/>
              <a:t> </a:t>
            </a:r>
            <a:r>
              <a:rPr lang="vi-VN" dirty="0" err="1"/>
              <a:t>diện</a:t>
            </a:r>
            <a:r>
              <a:rPr lang="vi-VN" dirty="0"/>
              <a:t> cho </a:t>
            </a:r>
            <a:r>
              <a:rPr lang="vi-VN" dirty="0" err="1"/>
              <a:t>các</a:t>
            </a:r>
            <a:r>
              <a:rPr lang="vi-VN" dirty="0"/>
              <a:t> tham </a:t>
            </a:r>
            <a:r>
              <a:rPr lang="vi-VN" dirty="0" err="1"/>
              <a:t>số</a:t>
            </a:r>
            <a:r>
              <a:rPr lang="vi-VN" dirty="0"/>
              <a:t> </a:t>
            </a:r>
            <a:r>
              <a:rPr lang="vi-VN" dirty="0" err="1"/>
              <a:t>trọng</a:t>
            </a:r>
            <a:r>
              <a:rPr lang="vi-VN" dirty="0"/>
              <a:t> </a:t>
            </a:r>
            <a:r>
              <a:rPr lang="vi-VN" dirty="0" err="1"/>
              <a:t>số</a:t>
            </a:r>
            <a:r>
              <a:rPr lang="vi-VN" dirty="0"/>
              <a:t> </a:t>
            </a:r>
            <a:r>
              <a:rPr lang="vi-VN" dirty="0" err="1"/>
              <a:t>của</a:t>
            </a:r>
            <a:r>
              <a:rPr lang="vi-VN" dirty="0"/>
              <a:t> mạng10more_horiz. </a:t>
            </a:r>
            <a:r>
              <a:rPr lang="vi-VN" dirty="0" err="1"/>
              <a:t>Encoder</a:t>
            </a:r>
            <a:r>
              <a:rPr lang="vi-VN" dirty="0"/>
              <a:t> </a:t>
            </a:r>
            <a:r>
              <a:rPr lang="vi-VN" dirty="0" err="1"/>
              <a:t>nhận</a:t>
            </a:r>
            <a:r>
              <a:rPr lang="vi-VN" dirty="0"/>
              <a:t> </a:t>
            </a:r>
            <a:r>
              <a:rPr lang="vi-VN" dirty="0" err="1"/>
              <a:t>đầu</a:t>
            </a:r>
            <a:r>
              <a:rPr lang="vi-VN" dirty="0"/>
              <a:t> </a:t>
            </a:r>
            <a:r>
              <a:rPr lang="vi-VN" dirty="0" err="1"/>
              <a:t>vào</a:t>
            </a:r>
            <a:r>
              <a:rPr lang="vi-VN" dirty="0"/>
              <a:t> </a:t>
            </a:r>
            <a:r>
              <a:rPr lang="vi-VN" dirty="0" err="1"/>
              <a:t>là</a:t>
            </a:r>
            <a:r>
              <a:rPr lang="vi-VN" dirty="0"/>
              <a:t> </a:t>
            </a:r>
            <a:r>
              <a:rPr lang="vi-VN" dirty="0" err="1"/>
              <a:t>dữ</a:t>
            </a:r>
            <a:r>
              <a:rPr lang="vi-VN" dirty="0"/>
              <a:t> </a:t>
            </a:r>
            <a:r>
              <a:rPr lang="vi-VN" dirty="0" err="1"/>
              <a:t>liệu</a:t>
            </a:r>
            <a:r>
              <a:rPr lang="vi-VN" dirty="0"/>
              <a:t> </a:t>
            </a:r>
            <a:r>
              <a:rPr lang="vi-VN" dirty="0" err="1"/>
              <a:t>phức</a:t>
            </a:r>
            <a:r>
              <a:rPr lang="vi-VN" dirty="0"/>
              <a:t> </a:t>
            </a:r>
            <a:r>
              <a:rPr lang="vi-VN" dirty="0" err="1"/>
              <a:t>tạp</a:t>
            </a:r>
            <a:r>
              <a:rPr lang="vi-VN" dirty="0"/>
              <a:t> $x$ (</a:t>
            </a:r>
            <a:r>
              <a:rPr lang="vi-VN" dirty="0" err="1"/>
              <a:t>ví</a:t>
            </a:r>
            <a:r>
              <a:rPr lang="vi-VN" dirty="0"/>
              <a:t> </a:t>
            </a:r>
            <a:r>
              <a:rPr lang="vi-VN" dirty="0" err="1"/>
              <a:t>dụ</a:t>
            </a:r>
            <a:r>
              <a:rPr lang="vi-VN" dirty="0"/>
              <a:t>: </a:t>
            </a:r>
            <a:r>
              <a:rPr lang="vi-VN" dirty="0" err="1"/>
              <a:t>một</a:t>
            </a:r>
            <a:r>
              <a:rPr lang="vi-VN" dirty="0"/>
              <a:t> </a:t>
            </a:r>
            <a:r>
              <a:rPr lang="vi-VN" dirty="0" err="1"/>
              <a:t>bức</a:t>
            </a:r>
            <a:r>
              <a:rPr lang="vi-VN" dirty="0"/>
              <a:t> </a:t>
            </a:r>
            <a:r>
              <a:rPr lang="vi-VN" dirty="0" err="1"/>
              <a:t>ảnh</a:t>
            </a:r>
            <a:r>
              <a:rPr lang="vi-VN" dirty="0"/>
              <a:t>) </a:t>
            </a:r>
            <a:r>
              <a:rPr lang="vi-VN" dirty="0" err="1"/>
              <a:t>và</a:t>
            </a:r>
            <a:r>
              <a:rPr lang="vi-VN" dirty="0"/>
              <a:t> </a:t>
            </a:r>
            <a:r>
              <a:rPr lang="vi-VN" dirty="0" err="1"/>
              <a:t>dự</a:t>
            </a:r>
            <a:r>
              <a:rPr lang="vi-VN" dirty="0"/>
              <a:t> </a:t>
            </a:r>
            <a:r>
              <a:rPr lang="vi-VN" dirty="0" err="1"/>
              <a:t>đoán</a:t>
            </a:r>
            <a:r>
              <a:rPr lang="vi-VN" dirty="0"/>
              <a:t> </a:t>
            </a:r>
            <a:r>
              <a:rPr lang="vi-VN" dirty="0" err="1"/>
              <a:t>các</a:t>
            </a:r>
            <a:r>
              <a:rPr lang="vi-VN" dirty="0"/>
              <a:t> tham </a:t>
            </a:r>
            <a:r>
              <a:rPr lang="vi-VN" dirty="0" err="1"/>
              <a:t>số</a:t>
            </a:r>
            <a:r>
              <a:rPr lang="vi-VN" dirty="0"/>
              <a:t> </a:t>
            </a:r>
            <a:r>
              <a:rPr lang="vi-VN" dirty="0" err="1"/>
              <a:t>của</a:t>
            </a:r>
            <a:r>
              <a:rPr lang="vi-VN" dirty="0"/>
              <a:t> </a:t>
            </a:r>
            <a:r>
              <a:rPr lang="vi-VN" dirty="0" err="1"/>
              <a:t>một</a:t>
            </a:r>
            <a:r>
              <a:rPr lang="vi-VN" dirty="0"/>
              <a:t> phân </a:t>
            </a:r>
            <a:r>
              <a:rPr lang="vi-VN" dirty="0" err="1"/>
              <a:t>phối</a:t>
            </a:r>
            <a:r>
              <a:rPr lang="vi-VN" dirty="0"/>
              <a:t> </a:t>
            </a:r>
            <a:r>
              <a:rPr lang="vi-VN" dirty="0" err="1"/>
              <a:t>xác</a:t>
            </a:r>
            <a:r>
              <a:rPr lang="vi-VN" dirty="0"/>
              <a:t> </a:t>
            </a:r>
            <a:r>
              <a:rPr lang="vi-VN" dirty="0" err="1"/>
              <a:t>suất</a:t>
            </a:r>
            <a:r>
              <a:rPr lang="vi-VN" dirty="0"/>
              <a:t> (</a:t>
            </a:r>
            <a:r>
              <a:rPr lang="vi-VN" dirty="0" err="1"/>
              <a:t>thường</a:t>
            </a:r>
            <a:r>
              <a:rPr lang="vi-VN" dirty="0"/>
              <a:t> </a:t>
            </a:r>
            <a:r>
              <a:rPr lang="vi-VN" dirty="0" err="1"/>
              <a:t>là</a:t>
            </a:r>
            <a:r>
              <a:rPr lang="vi-VN" dirty="0"/>
              <a:t> phân </a:t>
            </a:r>
            <a:r>
              <a:rPr lang="vi-VN" dirty="0" err="1"/>
              <a:t>phối</a:t>
            </a:r>
            <a:r>
              <a:rPr lang="vi-VN" dirty="0"/>
              <a:t> </a:t>
            </a:r>
            <a:r>
              <a:rPr lang="vi-VN" dirty="0" err="1"/>
              <a:t>chuẩn</a:t>
            </a:r>
            <a:r>
              <a:rPr lang="vi-VN" dirty="0"/>
              <a:t> </a:t>
            </a:r>
            <a:r>
              <a:rPr lang="vi-VN" dirty="0" err="1"/>
              <a:t>Gaussian</a:t>
            </a:r>
            <a:r>
              <a:rPr lang="vi-VN" dirty="0"/>
              <a:t>) mô </a:t>
            </a:r>
            <a:r>
              <a:rPr lang="vi-VN" dirty="0" err="1"/>
              <a:t>tả</a:t>
            </a:r>
            <a:r>
              <a:rPr lang="vi-VN" dirty="0"/>
              <a:t> </a:t>
            </a:r>
            <a:r>
              <a:rPr lang="vi-VN" dirty="0" err="1"/>
              <a:t>biến</a:t>
            </a:r>
            <a:r>
              <a:rPr lang="vi-VN" dirty="0"/>
              <a:t> </a:t>
            </a:r>
            <a:r>
              <a:rPr lang="vi-VN" dirty="0" err="1"/>
              <a:t>ẩn</a:t>
            </a:r>
            <a:r>
              <a:rPr lang="vi-VN" dirty="0"/>
              <a:t> $z$7more_horiz. </a:t>
            </a:r>
            <a:r>
              <a:rPr lang="vi-VN" dirty="0" err="1"/>
              <a:t>Cụ</a:t>
            </a:r>
            <a:r>
              <a:rPr lang="vi-VN" dirty="0"/>
              <a:t> </a:t>
            </a:r>
            <a:r>
              <a:rPr lang="vi-VN" dirty="0" err="1"/>
              <a:t>thể</a:t>
            </a:r>
            <a:r>
              <a:rPr lang="vi-VN" dirty="0"/>
              <a:t>, </a:t>
            </a:r>
            <a:r>
              <a:rPr lang="vi-VN" dirty="0" err="1"/>
              <a:t>Encoder</a:t>
            </a:r>
            <a:r>
              <a:rPr lang="vi-VN" dirty="0"/>
              <a:t> </a:t>
            </a:r>
            <a:r>
              <a:rPr lang="vi-VN" dirty="0" err="1"/>
              <a:t>sẽ</a:t>
            </a:r>
            <a:r>
              <a:rPr lang="vi-VN" dirty="0"/>
              <a:t> </a:t>
            </a:r>
            <a:r>
              <a:rPr lang="vi-VN" dirty="0" err="1"/>
              <a:t>xuất</a:t>
            </a:r>
            <a:r>
              <a:rPr lang="vi-VN" dirty="0"/>
              <a:t> ra hai vector6more_horiz:</a:t>
            </a:r>
          </a:p>
          <a:p>
            <a:pPr lvl="1"/>
            <a:r>
              <a:rPr lang="vi-VN" b="1" dirty="0" err="1"/>
              <a:t>Vector</a:t>
            </a:r>
            <a:r>
              <a:rPr lang="vi-VN" b="1" dirty="0"/>
              <a:t> trung </a:t>
            </a:r>
            <a:r>
              <a:rPr lang="vi-VN" b="1" dirty="0" err="1"/>
              <a:t>bình</a:t>
            </a:r>
            <a:r>
              <a:rPr lang="vi-VN" b="1" dirty="0"/>
              <a:t> (</a:t>
            </a:r>
            <a:r>
              <a:rPr lang="vi-VN" dirty="0"/>
              <a:t>$\mu$</a:t>
            </a:r>
            <a:r>
              <a:rPr lang="vi-VN" b="1" dirty="0"/>
              <a:t>):</a:t>
            </a:r>
            <a:r>
              <a:rPr lang="vi-VN" dirty="0"/>
              <a:t> </a:t>
            </a:r>
            <a:r>
              <a:rPr lang="vi-VN" dirty="0" err="1"/>
              <a:t>Đại</a:t>
            </a:r>
            <a:r>
              <a:rPr lang="vi-VN" dirty="0"/>
              <a:t> </a:t>
            </a:r>
            <a:r>
              <a:rPr lang="vi-VN" dirty="0" err="1"/>
              <a:t>diện</a:t>
            </a:r>
            <a:r>
              <a:rPr lang="vi-VN" dirty="0"/>
              <a:t> cho </a:t>
            </a:r>
            <a:r>
              <a:rPr lang="vi-VN" dirty="0" err="1"/>
              <a:t>giá</a:t>
            </a:r>
            <a:r>
              <a:rPr lang="vi-VN" dirty="0"/>
              <a:t> </a:t>
            </a:r>
            <a:r>
              <a:rPr lang="vi-VN" dirty="0" err="1"/>
              <a:t>trị</a:t>
            </a:r>
            <a:r>
              <a:rPr lang="vi-VN" dirty="0"/>
              <a:t> trung tâm </a:t>
            </a:r>
            <a:r>
              <a:rPr lang="vi-VN" dirty="0" err="1"/>
              <a:t>của</a:t>
            </a:r>
            <a:r>
              <a:rPr lang="vi-VN" dirty="0"/>
              <a:t> </a:t>
            </a:r>
            <a:r>
              <a:rPr lang="vi-VN" dirty="0" err="1"/>
              <a:t>vùng</a:t>
            </a:r>
            <a:r>
              <a:rPr lang="vi-VN" dirty="0"/>
              <a:t> </a:t>
            </a:r>
            <a:r>
              <a:rPr lang="vi-VN" dirty="0" err="1"/>
              <a:t>dữ</a:t>
            </a:r>
            <a:r>
              <a:rPr lang="vi-VN" dirty="0"/>
              <a:t> liệu7.</a:t>
            </a:r>
          </a:p>
          <a:p>
            <a:pPr lvl="1"/>
            <a:r>
              <a:rPr lang="vi-VN" b="1" dirty="0" err="1"/>
              <a:t>Vector</a:t>
            </a:r>
            <a:r>
              <a:rPr lang="vi-VN" b="1" dirty="0"/>
              <a:t> </a:t>
            </a:r>
            <a:r>
              <a:rPr lang="vi-VN" b="1" dirty="0" err="1"/>
              <a:t>độ</a:t>
            </a:r>
            <a:r>
              <a:rPr lang="vi-VN" b="1" dirty="0"/>
              <a:t> </a:t>
            </a:r>
            <a:r>
              <a:rPr lang="vi-VN" b="1" dirty="0" err="1"/>
              <a:t>lệch</a:t>
            </a:r>
            <a:r>
              <a:rPr lang="vi-VN" b="1" dirty="0"/>
              <a:t> </a:t>
            </a:r>
            <a:r>
              <a:rPr lang="vi-VN" b="1" dirty="0" err="1"/>
              <a:t>chuẩn</a:t>
            </a:r>
            <a:r>
              <a:rPr lang="vi-VN" b="1" dirty="0"/>
              <a:t> (</a:t>
            </a:r>
            <a:r>
              <a:rPr lang="vi-VN" dirty="0"/>
              <a:t>$\</a:t>
            </a:r>
            <a:r>
              <a:rPr lang="vi-VN" dirty="0" err="1"/>
              <a:t>sigma</a:t>
            </a:r>
            <a:r>
              <a:rPr lang="vi-VN" dirty="0"/>
              <a:t>$</a:t>
            </a:r>
            <a:r>
              <a:rPr lang="vi-VN" b="1" dirty="0"/>
              <a:t> </a:t>
            </a:r>
            <a:r>
              <a:rPr lang="vi-VN" b="1" dirty="0" err="1"/>
              <a:t>hoặc</a:t>
            </a:r>
            <a:r>
              <a:rPr lang="vi-VN" b="1" dirty="0"/>
              <a:t> phương sai </a:t>
            </a:r>
            <a:r>
              <a:rPr lang="vi-VN" dirty="0"/>
              <a:t>$\sigma^2$</a:t>
            </a:r>
            <a:r>
              <a:rPr lang="vi-VN" b="1" dirty="0"/>
              <a:t>):</a:t>
            </a:r>
            <a:r>
              <a:rPr lang="vi-VN" dirty="0"/>
              <a:t> </a:t>
            </a:r>
            <a:r>
              <a:rPr lang="vi-VN" dirty="0" err="1"/>
              <a:t>Thể</a:t>
            </a:r>
            <a:r>
              <a:rPr lang="vi-VN" dirty="0"/>
              <a:t> </a:t>
            </a:r>
            <a:r>
              <a:rPr lang="vi-VN" dirty="0" err="1"/>
              <a:t>hiện</a:t>
            </a:r>
            <a:r>
              <a:rPr lang="vi-VN" dirty="0"/>
              <a:t> </a:t>
            </a:r>
            <a:r>
              <a:rPr lang="vi-VN" dirty="0" err="1"/>
              <a:t>mức</a:t>
            </a:r>
            <a:r>
              <a:rPr lang="vi-VN" dirty="0"/>
              <a:t> </a:t>
            </a:r>
            <a:r>
              <a:rPr lang="vi-VN" dirty="0" err="1"/>
              <a:t>độ</a:t>
            </a:r>
            <a:r>
              <a:rPr lang="vi-VN" dirty="0"/>
              <a:t> </a:t>
            </a:r>
            <a:r>
              <a:rPr lang="vi-VN" dirty="0" err="1"/>
              <a:t>biến</a:t>
            </a:r>
            <a:r>
              <a:rPr lang="vi-VN" dirty="0"/>
              <a:t> thiên, cho </a:t>
            </a:r>
            <a:r>
              <a:rPr lang="vi-VN" dirty="0" err="1"/>
              <a:t>phép</a:t>
            </a:r>
            <a:r>
              <a:rPr lang="vi-VN" dirty="0"/>
              <a:t> </a:t>
            </a:r>
            <a:r>
              <a:rPr lang="vi-VN" dirty="0" err="1"/>
              <a:t>kiểm</a:t>
            </a:r>
            <a:r>
              <a:rPr lang="vi-VN" dirty="0"/>
              <a:t> </a:t>
            </a:r>
            <a:r>
              <a:rPr lang="vi-VN" dirty="0" err="1"/>
              <a:t>soát</a:t>
            </a:r>
            <a:r>
              <a:rPr lang="vi-VN" dirty="0"/>
              <a:t> </a:t>
            </a:r>
            <a:r>
              <a:rPr lang="vi-VN" dirty="0" err="1"/>
              <a:t>tính</a:t>
            </a:r>
            <a:r>
              <a:rPr lang="vi-VN" dirty="0"/>
              <a:t> </a:t>
            </a:r>
            <a:r>
              <a:rPr lang="vi-VN" dirty="0" err="1"/>
              <a:t>ngẫu</a:t>
            </a:r>
            <a:r>
              <a:rPr lang="vi-VN" dirty="0"/>
              <a:t> nhiên7.</a:t>
            </a:r>
          </a:p>
          <a:p>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r>
              <a:rPr lang="vi-VN" b="1" dirty="0" err="1"/>
              <a:t>Bộ</a:t>
            </a:r>
            <a:r>
              <a:rPr lang="vi-VN" b="1" dirty="0"/>
              <a:t> </a:t>
            </a:r>
            <a:r>
              <a:rPr lang="vi-VN" b="1" dirty="0" err="1"/>
              <a:t>giải</a:t>
            </a:r>
            <a:r>
              <a:rPr lang="vi-VN" b="1" dirty="0"/>
              <a:t> </a:t>
            </a:r>
            <a:r>
              <a:rPr lang="vi-VN" b="1" dirty="0" err="1"/>
              <a:t>mã</a:t>
            </a:r>
            <a:r>
              <a:rPr lang="vi-VN" b="1" dirty="0"/>
              <a:t> (</a:t>
            </a:r>
            <a:r>
              <a:rPr lang="vi-VN" b="1" dirty="0" err="1"/>
              <a:t>Decoder</a:t>
            </a:r>
            <a:r>
              <a:rPr lang="vi-VN" b="1" dirty="0"/>
              <a:t> / </a:t>
            </a:r>
            <a:r>
              <a:rPr lang="vi-VN" b="1" dirty="0" err="1"/>
              <a:t>Generative</a:t>
            </a:r>
            <a:r>
              <a:rPr lang="vi-VN" b="1" dirty="0"/>
              <a:t> </a:t>
            </a:r>
            <a:r>
              <a:rPr lang="vi-VN" b="1" dirty="0" err="1"/>
              <a:t>Model</a:t>
            </a:r>
            <a:r>
              <a:rPr lang="vi-VN" b="1" dirty="0"/>
              <a:t>):</a:t>
            </a:r>
            <a:r>
              <a:rPr lang="vi-VN" dirty="0"/>
              <a:t> </a:t>
            </a:r>
            <a:r>
              <a:rPr lang="vi-VN" dirty="0" err="1"/>
              <a:t>Ký</a:t>
            </a:r>
            <a:r>
              <a:rPr lang="vi-VN" dirty="0"/>
              <a:t> </a:t>
            </a:r>
            <a:r>
              <a:rPr lang="vi-VN" dirty="0" err="1"/>
              <a:t>hiệu</a:t>
            </a:r>
            <a:r>
              <a:rPr lang="vi-VN" dirty="0"/>
              <a:t> </a:t>
            </a:r>
            <a:r>
              <a:rPr lang="vi-VN" dirty="0" err="1"/>
              <a:t>là</a:t>
            </a:r>
            <a:r>
              <a:rPr lang="vi-VN" dirty="0"/>
              <a:t> $p_\</a:t>
            </a:r>
            <a:r>
              <a:rPr lang="vi-VN" dirty="0" err="1"/>
              <a:t>theta</a:t>
            </a:r>
            <a:r>
              <a:rPr lang="vi-VN" dirty="0"/>
              <a:t>(</a:t>
            </a:r>
            <a:r>
              <a:rPr lang="vi-VN" dirty="0" err="1"/>
              <a:t>x|z</a:t>
            </a:r>
            <a:r>
              <a:rPr lang="vi-VN" dirty="0"/>
              <a:t>)$ </a:t>
            </a:r>
            <a:r>
              <a:rPr lang="vi-VN" dirty="0" err="1"/>
              <a:t>với</a:t>
            </a:r>
            <a:r>
              <a:rPr lang="vi-VN" dirty="0"/>
              <a:t> tham </a:t>
            </a:r>
            <a:r>
              <a:rPr lang="vi-VN" dirty="0" err="1"/>
              <a:t>số</a:t>
            </a:r>
            <a:r>
              <a:rPr lang="vi-VN" dirty="0"/>
              <a:t> $\theta$1116. </a:t>
            </a:r>
            <a:r>
              <a:rPr lang="vi-VN" dirty="0" err="1"/>
              <a:t>Decoder</a:t>
            </a:r>
            <a:r>
              <a:rPr lang="vi-VN" dirty="0"/>
              <a:t> </a:t>
            </a:r>
            <a:r>
              <a:rPr lang="vi-VN" dirty="0" err="1"/>
              <a:t>nhận</a:t>
            </a:r>
            <a:r>
              <a:rPr lang="vi-VN" dirty="0"/>
              <a:t> </a:t>
            </a:r>
            <a:r>
              <a:rPr lang="vi-VN" dirty="0" err="1"/>
              <a:t>một</a:t>
            </a:r>
            <a:r>
              <a:rPr lang="vi-VN" dirty="0"/>
              <a:t> </a:t>
            </a:r>
            <a:r>
              <a:rPr lang="vi-VN" dirty="0" err="1"/>
              <a:t>mẫu</a:t>
            </a:r>
            <a:r>
              <a:rPr lang="vi-VN" dirty="0"/>
              <a:t> $z$ </a:t>
            </a:r>
            <a:r>
              <a:rPr lang="vi-VN" dirty="0" err="1"/>
              <a:t>ngẫu</a:t>
            </a:r>
            <a:r>
              <a:rPr lang="vi-VN" dirty="0"/>
              <a:t> nhiên </a:t>
            </a:r>
            <a:r>
              <a:rPr lang="vi-VN" dirty="0" err="1"/>
              <a:t>từ</a:t>
            </a:r>
            <a:r>
              <a:rPr lang="vi-VN" dirty="0"/>
              <a:t> không gian </a:t>
            </a:r>
            <a:r>
              <a:rPr lang="vi-VN" dirty="0" err="1"/>
              <a:t>ẩn</a:t>
            </a:r>
            <a:r>
              <a:rPr lang="vi-VN" dirty="0"/>
              <a:t> </a:t>
            </a:r>
            <a:r>
              <a:rPr lang="vi-VN" dirty="0" err="1"/>
              <a:t>và</a:t>
            </a:r>
            <a:r>
              <a:rPr lang="vi-VN" dirty="0"/>
              <a:t> </a:t>
            </a:r>
            <a:r>
              <a:rPr lang="vi-VN" dirty="0" err="1"/>
              <a:t>cố</a:t>
            </a:r>
            <a:r>
              <a:rPr lang="vi-VN" dirty="0"/>
              <a:t> </a:t>
            </a:r>
            <a:r>
              <a:rPr lang="vi-VN" dirty="0" err="1"/>
              <a:t>gắng</a:t>
            </a:r>
            <a:r>
              <a:rPr lang="vi-VN" dirty="0"/>
              <a:t> </a:t>
            </a:r>
            <a:r>
              <a:rPr lang="vi-VN" dirty="0" err="1"/>
              <a:t>tái</a:t>
            </a:r>
            <a:r>
              <a:rPr lang="vi-VN" dirty="0"/>
              <a:t> </a:t>
            </a:r>
            <a:r>
              <a:rPr lang="vi-VN" dirty="0" err="1"/>
              <a:t>tạo</a:t>
            </a:r>
            <a:r>
              <a:rPr lang="vi-VN" dirty="0"/>
              <a:t> </a:t>
            </a:r>
            <a:r>
              <a:rPr lang="vi-VN" dirty="0" err="1"/>
              <a:t>lại</a:t>
            </a:r>
            <a:r>
              <a:rPr lang="vi-VN" dirty="0"/>
              <a:t> </a:t>
            </a:r>
            <a:r>
              <a:rPr lang="vi-VN" dirty="0" err="1"/>
              <a:t>mẫu</a:t>
            </a:r>
            <a:r>
              <a:rPr lang="vi-VN" dirty="0"/>
              <a:t> </a:t>
            </a:r>
            <a:r>
              <a:rPr lang="vi-VN" dirty="0" err="1"/>
              <a:t>dữ</a:t>
            </a:r>
            <a:r>
              <a:rPr lang="vi-VN" dirty="0"/>
              <a:t> </a:t>
            </a:r>
            <a:r>
              <a:rPr lang="vi-VN" dirty="0" err="1"/>
              <a:t>liệu</a:t>
            </a:r>
            <a:r>
              <a:rPr lang="vi-VN" dirty="0"/>
              <a:t> </a:t>
            </a:r>
            <a:r>
              <a:rPr lang="vi-VN" dirty="0" err="1"/>
              <a:t>gốc</a:t>
            </a:r>
            <a:r>
              <a:rPr lang="vi-VN" dirty="0"/>
              <a:t> $\</a:t>
            </a:r>
            <a:r>
              <a:rPr lang="vi-VN" dirty="0" err="1"/>
              <a:t>hat</a:t>
            </a:r>
            <a:r>
              <a:rPr lang="vi-VN" dirty="0"/>
              <a:t>{x}$ sao cho </a:t>
            </a:r>
            <a:r>
              <a:rPr lang="vi-VN" dirty="0" err="1"/>
              <a:t>giống</a:t>
            </a:r>
            <a:r>
              <a:rPr lang="vi-VN" dirty="0"/>
              <a:t> </a:t>
            </a:r>
            <a:r>
              <a:rPr lang="vi-VN" dirty="0" err="1"/>
              <a:t>nhất</a:t>
            </a:r>
            <a:r>
              <a:rPr lang="vi-VN" dirty="0"/>
              <a:t> </a:t>
            </a:r>
            <a:r>
              <a:rPr lang="vi-VN" dirty="0" err="1"/>
              <a:t>có</a:t>
            </a:r>
            <a:r>
              <a:rPr lang="vi-VN" dirty="0"/>
              <a:t> thể717.</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Không gian </a:t>
            </a:r>
            <a:r>
              <a:rPr lang="vi-VN" b="1" dirty="0" err="1"/>
              <a:t>ẩn</a:t>
            </a:r>
            <a:r>
              <a:rPr lang="vi-VN" b="1" dirty="0"/>
              <a:t> (</a:t>
            </a:r>
            <a:r>
              <a:rPr lang="vi-VN" b="1" dirty="0" err="1"/>
              <a:t>Latent</a:t>
            </a:r>
            <a:r>
              <a:rPr lang="vi-VN" b="1" dirty="0"/>
              <a:t> </a:t>
            </a:r>
            <a:r>
              <a:rPr lang="vi-VN" b="1" dirty="0" err="1"/>
              <a:t>Space</a:t>
            </a:r>
            <a:r>
              <a:rPr lang="vi-VN" b="1" dirty="0"/>
              <a:t>):</a:t>
            </a:r>
            <a:r>
              <a:rPr lang="vi-VN" dirty="0"/>
              <a:t> Thay </a:t>
            </a:r>
            <a:r>
              <a:rPr lang="vi-VN" dirty="0" err="1"/>
              <a:t>vì</a:t>
            </a:r>
            <a:r>
              <a:rPr lang="vi-VN" dirty="0"/>
              <a:t> </a:t>
            </a:r>
            <a:r>
              <a:rPr lang="vi-VN" dirty="0" err="1"/>
              <a:t>mã</a:t>
            </a:r>
            <a:r>
              <a:rPr lang="vi-VN" dirty="0"/>
              <a:t> </a:t>
            </a:r>
            <a:r>
              <a:rPr lang="vi-VN" dirty="0" err="1"/>
              <a:t>hóa</a:t>
            </a:r>
            <a:r>
              <a:rPr lang="vi-VN" dirty="0"/>
              <a:t> </a:t>
            </a:r>
            <a:r>
              <a:rPr lang="vi-VN" dirty="0" err="1"/>
              <a:t>dữ</a:t>
            </a:r>
            <a:r>
              <a:rPr lang="vi-VN" dirty="0"/>
              <a:t> </a:t>
            </a:r>
            <a:r>
              <a:rPr lang="vi-VN" dirty="0" err="1"/>
              <a:t>liệu</a:t>
            </a:r>
            <a:r>
              <a:rPr lang="vi-VN" dirty="0"/>
              <a:t> </a:t>
            </a:r>
            <a:r>
              <a:rPr lang="vi-VN" dirty="0" err="1"/>
              <a:t>thành</a:t>
            </a:r>
            <a:r>
              <a:rPr lang="vi-VN" dirty="0"/>
              <a:t> </a:t>
            </a:r>
            <a:r>
              <a:rPr lang="vi-VN" dirty="0" err="1"/>
              <a:t>một</a:t>
            </a:r>
            <a:r>
              <a:rPr lang="vi-VN" dirty="0"/>
              <a:t> </a:t>
            </a:r>
            <a:r>
              <a:rPr lang="vi-VN" dirty="0" err="1"/>
              <a:t>điểm</a:t>
            </a:r>
            <a:r>
              <a:rPr lang="vi-VN" dirty="0"/>
              <a:t> </a:t>
            </a:r>
            <a:r>
              <a:rPr lang="vi-VN" dirty="0" err="1"/>
              <a:t>tĩnh</a:t>
            </a:r>
            <a:r>
              <a:rPr lang="vi-VN" dirty="0"/>
              <a:t>, VAE </a:t>
            </a:r>
            <a:r>
              <a:rPr lang="vi-VN" dirty="0" err="1"/>
              <a:t>lấy</a:t>
            </a:r>
            <a:r>
              <a:rPr lang="vi-VN" dirty="0"/>
              <a:t> </a:t>
            </a:r>
            <a:r>
              <a:rPr lang="vi-VN" dirty="0" err="1"/>
              <a:t>mẫu</a:t>
            </a:r>
            <a:r>
              <a:rPr lang="vi-VN" dirty="0"/>
              <a:t> </a:t>
            </a:r>
            <a:r>
              <a:rPr lang="vi-VN" dirty="0" err="1"/>
              <a:t>ngẫu</a:t>
            </a:r>
            <a:r>
              <a:rPr lang="vi-VN" dirty="0"/>
              <a:t> nhiên </a:t>
            </a:r>
            <a:r>
              <a:rPr lang="vi-VN" dirty="0" err="1"/>
              <a:t>biến</a:t>
            </a:r>
            <a:r>
              <a:rPr lang="vi-VN" dirty="0"/>
              <a:t> </a:t>
            </a:r>
            <a:r>
              <a:rPr lang="vi-VN" dirty="0" err="1"/>
              <a:t>ẩn</a:t>
            </a:r>
            <a:r>
              <a:rPr lang="vi-VN" dirty="0"/>
              <a:t> $z$ </a:t>
            </a:r>
            <a:r>
              <a:rPr lang="vi-VN" dirty="0" err="1"/>
              <a:t>từ</a:t>
            </a:r>
            <a:r>
              <a:rPr lang="vi-VN" dirty="0"/>
              <a:t> phân </a:t>
            </a:r>
            <a:r>
              <a:rPr lang="vi-VN" dirty="0" err="1"/>
              <a:t>phối</a:t>
            </a:r>
            <a:r>
              <a:rPr lang="vi-VN" dirty="0"/>
              <a:t> </a:t>
            </a:r>
            <a:r>
              <a:rPr lang="vi-VN" dirty="0" err="1"/>
              <a:t>được</a:t>
            </a:r>
            <a:r>
              <a:rPr lang="vi-VN" dirty="0"/>
              <a:t> </a:t>
            </a:r>
            <a:r>
              <a:rPr lang="vi-VN" dirty="0" err="1"/>
              <a:t>xác</a:t>
            </a:r>
            <a:r>
              <a:rPr lang="vi-VN" dirty="0"/>
              <a:t> </a:t>
            </a:r>
            <a:r>
              <a:rPr lang="vi-VN" dirty="0" err="1"/>
              <a:t>định</a:t>
            </a:r>
            <a:r>
              <a:rPr lang="vi-VN" dirty="0"/>
              <a:t> </a:t>
            </a:r>
            <a:r>
              <a:rPr lang="vi-VN" dirty="0" err="1"/>
              <a:t>bởi</a:t>
            </a:r>
            <a:r>
              <a:rPr lang="vi-VN" dirty="0"/>
              <a:t> $\mu$ </a:t>
            </a:r>
            <a:r>
              <a:rPr lang="vi-VN" dirty="0" err="1"/>
              <a:t>và</a:t>
            </a:r>
            <a:r>
              <a:rPr lang="vi-VN" dirty="0"/>
              <a:t> $\</a:t>
            </a:r>
            <a:r>
              <a:rPr lang="vi-VN" dirty="0" err="1"/>
              <a:t>sigma</a:t>
            </a:r>
            <a:r>
              <a:rPr lang="vi-VN" dirty="0"/>
              <a:t>$ </a:t>
            </a:r>
            <a:r>
              <a:rPr lang="vi-VN" dirty="0" err="1"/>
              <a:t>mà</a:t>
            </a:r>
            <a:r>
              <a:rPr lang="vi-VN" dirty="0"/>
              <a:t> </a:t>
            </a:r>
            <a:r>
              <a:rPr lang="vi-VN" dirty="0" err="1"/>
              <a:t>Encoder</a:t>
            </a:r>
            <a:r>
              <a:rPr lang="vi-VN" dirty="0"/>
              <a:t> </a:t>
            </a:r>
            <a:r>
              <a:rPr lang="vi-VN" dirty="0" err="1"/>
              <a:t>vừa</a:t>
            </a:r>
            <a:r>
              <a:rPr lang="vi-VN" dirty="0"/>
              <a:t> </a:t>
            </a:r>
            <a:r>
              <a:rPr lang="vi-VN" dirty="0" err="1"/>
              <a:t>tìm</a:t>
            </a:r>
            <a:r>
              <a:rPr lang="vi-VN" dirty="0"/>
              <a:t> </a:t>
            </a:r>
            <a:r>
              <a:rPr lang="vi-VN" dirty="0" err="1"/>
              <a:t>được</a:t>
            </a:r>
            <a:r>
              <a:rPr lang="vi-VN" dirty="0"/>
              <a:t> ($z \sim \</a:t>
            </a:r>
            <a:r>
              <a:rPr lang="vi-VN" dirty="0" err="1"/>
              <a:t>mathcal</a:t>
            </a:r>
            <a:r>
              <a:rPr lang="vi-VN" dirty="0"/>
              <a:t>{N}(\mu, \sigma^2\</a:t>
            </a:r>
            <a:r>
              <a:rPr lang="vi-VN" dirty="0" err="1"/>
              <a:t>mathbf</a:t>
            </a:r>
            <a:r>
              <a:rPr lang="vi-VN" dirty="0"/>
              <a:t>{I})$)714. </a:t>
            </a:r>
            <a:r>
              <a:rPr lang="vi-VN" dirty="0" err="1"/>
              <a:t>Tính</a:t>
            </a:r>
            <a:r>
              <a:rPr lang="vi-VN" dirty="0"/>
              <a:t> liên </a:t>
            </a:r>
            <a:r>
              <a:rPr lang="vi-VN" dirty="0" err="1"/>
              <a:t>tục</a:t>
            </a:r>
            <a:r>
              <a:rPr lang="vi-VN" dirty="0"/>
              <a:t> </a:t>
            </a:r>
            <a:r>
              <a:rPr lang="vi-VN" dirty="0" err="1"/>
              <a:t>và</a:t>
            </a:r>
            <a:r>
              <a:rPr lang="vi-VN" dirty="0"/>
              <a:t> </a:t>
            </a:r>
            <a:r>
              <a:rPr lang="vi-VN" dirty="0" err="1"/>
              <a:t>ngẫu</a:t>
            </a:r>
            <a:r>
              <a:rPr lang="vi-VN" dirty="0"/>
              <a:t> nhiên </a:t>
            </a:r>
            <a:r>
              <a:rPr lang="vi-VN" dirty="0" err="1"/>
              <a:t>này</a:t>
            </a:r>
            <a:r>
              <a:rPr lang="vi-VN" dirty="0"/>
              <a:t> </a:t>
            </a:r>
            <a:r>
              <a:rPr lang="vi-VN" dirty="0" err="1"/>
              <a:t>bắt</a:t>
            </a:r>
            <a:r>
              <a:rPr lang="vi-VN" dirty="0"/>
              <a:t> </a:t>
            </a:r>
            <a:r>
              <a:rPr lang="vi-VN" dirty="0" err="1"/>
              <a:t>buộc</a:t>
            </a:r>
            <a:r>
              <a:rPr lang="vi-VN" dirty="0"/>
              <a:t> không gian </a:t>
            </a:r>
            <a:r>
              <a:rPr lang="vi-VN" dirty="0" err="1"/>
              <a:t>ẩn</a:t>
            </a:r>
            <a:r>
              <a:rPr lang="vi-VN" dirty="0"/>
              <a:t> </a:t>
            </a:r>
            <a:r>
              <a:rPr lang="vi-VN" dirty="0" err="1"/>
              <a:t>phải</a:t>
            </a:r>
            <a:r>
              <a:rPr lang="vi-VN" dirty="0"/>
              <a:t> </a:t>
            </a:r>
            <a:r>
              <a:rPr lang="vi-VN" dirty="0" err="1"/>
              <a:t>có</a:t>
            </a:r>
            <a:r>
              <a:rPr lang="vi-VN" dirty="0"/>
              <a:t> </a:t>
            </a:r>
            <a:r>
              <a:rPr lang="vi-VN" dirty="0" err="1"/>
              <a:t>cấu</a:t>
            </a:r>
            <a:r>
              <a:rPr lang="vi-VN" dirty="0"/>
              <a:t> </a:t>
            </a:r>
            <a:r>
              <a:rPr lang="vi-VN" dirty="0" err="1"/>
              <a:t>trúc</a:t>
            </a:r>
            <a:r>
              <a:rPr lang="vi-VN" dirty="0"/>
              <a:t> </a:t>
            </a:r>
            <a:r>
              <a:rPr lang="vi-VN" dirty="0" err="1"/>
              <a:t>mượt</a:t>
            </a:r>
            <a:r>
              <a:rPr lang="vi-VN" dirty="0"/>
              <a:t> </a:t>
            </a:r>
            <a:r>
              <a:rPr lang="vi-VN" dirty="0" err="1"/>
              <a:t>mà</a:t>
            </a:r>
            <a:r>
              <a:rPr lang="vi-VN" dirty="0"/>
              <a:t>, </a:t>
            </a:r>
            <a:r>
              <a:rPr lang="vi-VN" dirty="0" err="1"/>
              <a:t>giúp</a:t>
            </a:r>
            <a:r>
              <a:rPr lang="vi-VN" dirty="0"/>
              <a:t> </a:t>
            </a:r>
            <a:r>
              <a:rPr lang="vi-VN" dirty="0" err="1"/>
              <a:t>các</a:t>
            </a:r>
            <a:r>
              <a:rPr lang="vi-VN" dirty="0"/>
              <a:t> </a:t>
            </a:r>
            <a:r>
              <a:rPr lang="vi-VN" dirty="0" err="1"/>
              <a:t>điểm</a:t>
            </a:r>
            <a:r>
              <a:rPr lang="vi-VN" dirty="0"/>
              <a:t> </a:t>
            </a:r>
            <a:r>
              <a:rPr lang="vi-VN" dirty="0" err="1"/>
              <a:t>nằm</a:t>
            </a:r>
            <a:r>
              <a:rPr lang="vi-VN" dirty="0"/>
              <a:t> </a:t>
            </a:r>
            <a:r>
              <a:rPr lang="vi-VN" dirty="0" err="1"/>
              <a:t>gần</a:t>
            </a:r>
            <a:r>
              <a:rPr lang="vi-VN" dirty="0"/>
              <a:t> nhau </a:t>
            </a:r>
            <a:r>
              <a:rPr lang="vi-VN" dirty="0" err="1"/>
              <a:t>biểu</a:t>
            </a:r>
            <a:r>
              <a:rPr lang="vi-VN" dirty="0"/>
              <a:t> </a:t>
            </a:r>
            <a:r>
              <a:rPr lang="vi-VN" dirty="0" err="1"/>
              <a:t>thị</a:t>
            </a:r>
            <a:r>
              <a:rPr lang="vi-VN" dirty="0"/>
              <a:t> </a:t>
            </a:r>
            <a:r>
              <a:rPr lang="vi-VN" dirty="0" err="1"/>
              <a:t>các</a:t>
            </a:r>
            <a:r>
              <a:rPr lang="vi-VN" dirty="0"/>
              <a:t> </a:t>
            </a:r>
            <a:r>
              <a:rPr lang="vi-VN" dirty="0" err="1"/>
              <a:t>mẫu</a:t>
            </a:r>
            <a:r>
              <a:rPr lang="vi-VN" dirty="0"/>
              <a:t> tương đồng1415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kern="1200" dirty="0" err="1">
                <a:solidFill>
                  <a:schemeClr val="tx1"/>
                </a:solidFill>
                <a:effectLst/>
                <a:latin typeface="+mn-lt"/>
                <a:ea typeface="+mn-ea"/>
                <a:cs typeface="+mn-cs"/>
              </a:rPr>
              <a:t>Quá</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trình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tối</a:t>
            </a:r>
            <a:r>
              <a:rPr lang="vi-VN" sz="1200" b="0" i="0" kern="1200" dirty="0">
                <a:solidFill>
                  <a:schemeClr val="tx1"/>
                </a:solidFill>
                <a:effectLst/>
                <a:latin typeface="+mn-lt"/>
                <a:ea typeface="+mn-ea"/>
                <a:cs typeface="+mn-cs"/>
              </a:rPr>
              <a:t> ưu </a:t>
            </a:r>
            <a:r>
              <a:rPr lang="vi-VN" sz="1200" b="0" i="0" kern="1200" dirty="0" err="1">
                <a:solidFill>
                  <a:schemeClr val="tx1"/>
                </a:solidFill>
                <a:effectLst/>
                <a:latin typeface="+mn-lt"/>
                <a:ea typeface="+mn-ea"/>
                <a:cs typeface="+mn-cs"/>
              </a:rPr>
              <a:t>hóa</a:t>
            </a:r>
            <a:r>
              <a:rPr lang="vi-VN" sz="1200" b="0" i="0" kern="1200" dirty="0">
                <a:solidFill>
                  <a:schemeClr val="tx1"/>
                </a:solidFill>
                <a:effectLst/>
                <a:latin typeface="+mn-lt"/>
                <a:ea typeface="+mn-ea"/>
                <a:cs typeface="+mn-cs"/>
              </a:rPr>
              <a:t> VAE </a:t>
            </a:r>
            <a:r>
              <a:rPr lang="vi-VN" sz="1200" b="0" i="0" kern="1200" dirty="0" err="1">
                <a:solidFill>
                  <a:schemeClr val="tx1"/>
                </a:solidFill>
                <a:effectLst/>
                <a:latin typeface="+mn-lt"/>
                <a:ea typeface="+mn-ea"/>
                <a:cs typeface="+mn-cs"/>
              </a:rPr>
              <a:t>dựa</a:t>
            </a:r>
            <a:r>
              <a:rPr lang="vi-VN" sz="1200" b="0" i="0" kern="1200" dirty="0">
                <a:solidFill>
                  <a:schemeClr val="tx1"/>
                </a:solidFill>
                <a:effectLst/>
                <a:latin typeface="+mn-lt"/>
                <a:ea typeface="+mn-ea"/>
                <a:cs typeface="+mn-cs"/>
              </a:rPr>
              <a:t> trên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khái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niệm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toán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học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gọi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là</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ELBO (</a:t>
            </a:r>
            <a:r>
              <a:rPr lang="vi-VN" sz="1200" b="1" i="0" kern="1200" dirty="0" err="1">
                <a:solidFill>
                  <a:schemeClr val="tx1"/>
                </a:solidFill>
                <a:effectLst/>
                <a:latin typeface="+mn-lt"/>
                <a:ea typeface="+mn-ea"/>
                <a:cs typeface="+mn-cs"/>
              </a:rPr>
              <a:t>Evidence</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Lower</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Bound</a:t>
            </a:r>
            <a:r>
              <a:rPr lang="vi-VN" sz="1200" b="1" i="0" kern="1200" dirty="0">
                <a:solidFill>
                  <a:schemeClr val="tx1"/>
                </a:solidFill>
                <a:effectLst/>
                <a:latin typeface="+mn-lt"/>
                <a:ea typeface="+mn-ea"/>
                <a:cs typeface="+mn-cs"/>
              </a:rPr>
              <a:t> - </a:t>
            </a:r>
            <a:r>
              <a:rPr lang="vi-VN" sz="1200" b="1" i="0" kern="1200" dirty="0" err="1">
                <a:solidFill>
                  <a:schemeClr val="tx1"/>
                </a:solidFill>
                <a:effectLst/>
                <a:latin typeface="+mn-lt"/>
                <a:ea typeface="+mn-ea"/>
                <a:cs typeface="+mn-cs"/>
              </a:rPr>
              <a:t>Giới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hạn</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dưới</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của</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bằng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chứng</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kết</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hợp</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giữa</a:t>
            </a:r>
            <a:r>
              <a:rPr lang="vi-VN" sz="1200" b="1" i="0" kern="1200" dirty="0">
                <a:solidFill>
                  <a:schemeClr val="tx1"/>
                </a:solidFill>
                <a:effectLst/>
                <a:latin typeface="+mn-lt"/>
                <a:ea typeface="+mn-ea"/>
                <a:cs typeface="+mn-cs"/>
              </a:rPr>
              <a:t> 2 </a:t>
            </a:r>
            <a:r>
              <a:rPr lang="vi-VN" sz="1200" b="1" i="0" kern="1200" dirty="0" err="1">
                <a:solidFill>
                  <a:schemeClr val="tx1"/>
                </a:solidFill>
                <a:effectLst/>
                <a:latin typeface="+mn-lt"/>
                <a:ea typeface="+mn-ea"/>
                <a:cs typeface="+mn-cs"/>
              </a:rPr>
              <a:t>thành</a:t>
            </a:r>
            <a:r>
              <a:rPr lang="vi-VN" sz="1200" b="1" i="0" kern="1200" dirty="0">
                <a:solidFill>
                  <a:schemeClr val="tx1"/>
                </a:solidFill>
                <a:effectLst/>
                <a:latin typeface="+mn-lt"/>
                <a:ea typeface="+mn-ea"/>
                <a:cs typeface="+mn-cs"/>
              </a:rPr>
              <a:t> </a:t>
            </a:r>
            <a:r>
              <a:rPr lang="vi-VN" sz="1200" b="1" i="0" kern="1200" dirty="0" err="1">
                <a:solidFill>
                  <a:schemeClr val="tx1"/>
                </a:solidFill>
                <a:effectLst/>
                <a:latin typeface="+mn-lt"/>
                <a:ea typeface="+mn-ea"/>
                <a:cs typeface="+mn-cs"/>
              </a:rPr>
              <a:t>phần</a:t>
            </a: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err="1"/>
              <a:t>Reconstruction</a:t>
            </a:r>
            <a:r>
              <a:rPr lang="vi-VN" b="1" dirty="0"/>
              <a:t> </a:t>
            </a:r>
            <a:r>
              <a:rPr lang="vi-VN" b="1" dirty="0" err="1"/>
              <a:t>Loss</a:t>
            </a:r>
            <a:r>
              <a:rPr lang="vi-VN" b="1" dirty="0"/>
              <a:t> (Sai </a:t>
            </a:r>
            <a:r>
              <a:rPr lang="vi-VN" b="1" dirty="0" err="1"/>
              <a:t>số</a:t>
            </a:r>
            <a:r>
              <a:rPr lang="vi-VN" b="1" dirty="0"/>
              <a:t> </a:t>
            </a:r>
            <a:r>
              <a:rPr lang="vi-VN" b="1" dirty="0" err="1"/>
              <a:t>tái</a:t>
            </a:r>
            <a:r>
              <a:rPr lang="vi-VN" b="1" dirty="0"/>
              <a:t> </a:t>
            </a:r>
            <a:r>
              <a:rPr lang="vi-VN" b="1" dirty="0" err="1"/>
              <a:t>tạo</a:t>
            </a:r>
            <a:r>
              <a:rPr lang="vi-VN" b="1" dirty="0"/>
              <a:t>):</a:t>
            </a:r>
            <a:r>
              <a:rPr lang="vi-VN" dirty="0"/>
              <a:t> Đo </a:t>
            </a:r>
            <a:r>
              <a:rPr lang="vi-VN" dirty="0" err="1"/>
              <a:t>lường</a:t>
            </a:r>
            <a:r>
              <a:rPr lang="vi-VN" dirty="0"/>
              <a:t> </a:t>
            </a:r>
            <a:r>
              <a:rPr lang="vi-VN" dirty="0" err="1"/>
              <a:t>mức</a:t>
            </a:r>
            <a:r>
              <a:rPr lang="vi-VN" dirty="0"/>
              <a:t> </a:t>
            </a:r>
            <a:r>
              <a:rPr lang="vi-VN" dirty="0" err="1"/>
              <a:t>độ</a:t>
            </a:r>
            <a:r>
              <a:rPr lang="vi-VN" dirty="0"/>
              <a:t> sai </a:t>
            </a:r>
            <a:r>
              <a:rPr lang="vi-VN" dirty="0" err="1"/>
              <a:t>lệch</a:t>
            </a:r>
            <a:r>
              <a:rPr lang="vi-VN" dirty="0"/>
              <a:t> </a:t>
            </a:r>
            <a:r>
              <a:rPr lang="vi-VN" dirty="0" err="1"/>
              <a:t>giữa</a:t>
            </a:r>
            <a:r>
              <a:rPr lang="vi-VN" dirty="0"/>
              <a:t> </a:t>
            </a:r>
            <a:r>
              <a:rPr lang="vi-VN" dirty="0" err="1"/>
              <a:t>dữ</a:t>
            </a:r>
            <a:r>
              <a:rPr lang="vi-VN" dirty="0"/>
              <a:t> </a:t>
            </a:r>
            <a:r>
              <a:rPr lang="vi-VN" dirty="0" err="1"/>
              <a:t>liệu</a:t>
            </a:r>
            <a:r>
              <a:rPr lang="vi-VN" dirty="0"/>
              <a:t> </a:t>
            </a:r>
            <a:r>
              <a:rPr lang="vi-VN" dirty="0" err="1"/>
              <a:t>gốc</a:t>
            </a:r>
            <a:r>
              <a:rPr lang="vi-VN" dirty="0"/>
              <a:t> $x$ </a:t>
            </a:r>
            <a:r>
              <a:rPr lang="vi-VN" dirty="0" err="1"/>
              <a:t>và</a:t>
            </a:r>
            <a:r>
              <a:rPr lang="vi-VN" dirty="0"/>
              <a:t> </a:t>
            </a:r>
            <a:r>
              <a:rPr lang="vi-VN" dirty="0" err="1"/>
              <a:t>dữ</a:t>
            </a:r>
            <a:r>
              <a:rPr lang="vi-VN" dirty="0"/>
              <a:t> </a:t>
            </a:r>
            <a:r>
              <a:rPr lang="vi-VN" dirty="0" err="1"/>
              <a:t>liệu</a:t>
            </a:r>
            <a:r>
              <a:rPr lang="vi-VN" dirty="0"/>
              <a:t> </a:t>
            </a:r>
            <a:r>
              <a:rPr lang="vi-VN" dirty="0" err="1"/>
              <a:t>tái</a:t>
            </a:r>
            <a:r>
              <a:rPr lang="vi-VN" dirty="0"/>
              <a:t> </a:t>
            </a:r>
            <a:r>
              <a:rPr lang="vi-VN" dirty="0" err="1"/>
              <a:t>tạo</a:t>
            </a:r>
            <a:r>
              <a:rPr lang="vi-VN" dirty="0"/>
              <a:t> $\</a:t>
            </a:r>
            <a:r>
              <a:rPr lang="vi-VN" dirty="0" err="1"/>
              <a:t>hat</a:t>
            </a:r>
            <a:r>
              <a:rPr lang="vi-VN" dirty="0"/>
              <a:t>{x}$ </a:t>
            </a:r>
            <a:r>
              <a:rPr lang="vi-VN" dirty="0" err="1"/>
              <a:t>từ</a:t>
            </a:r>
            <a:r>
              <a:rPr lang="vi-VN" dirty="0"/>
              <a:t> </a:t>
            </a:r>
            <a:r>
              <a:rPr lang="vi-VN" dirty="0" err="1"/>
              <a:t>Decoder</a:t>
            </a:r>
            <a:r>
              <a:rPr lang="vi-VN" dirty="0"/>
              <a:t> - </a:t>
            </a:r>
            <a:r>
              <a:rPr lang="en-US" sz="1200" b="0" i="0" kern="1200" dirty="0" err="1">
                <a:solidFill>
                  <a:schemeClr val="tx1"/>
                </a:solidFill>
                <a:effectLst/>
                <a:latin typeface="+mn-lt"/>
                <a:ea typeface="+mn-ea"/>
                <a:cs typeface="+mn-cs"/>
              </a:rPr>
              <a:t>Thành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thúc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đẩy</a:t>
            </a:r>
            <a:r>
              <a:rPr lang="en-US" sz="1200" b="0" i="0" kern="1200" dirty="0">
                <a:solidFill>
                  <a:schemeClr val="tx1"/>
                </a:solidFill>
                <a:effectLst/>
                <a:latin typeface="+mn-lt"/>
                <a:ea typeface="+mn-ea"/>
                <a:cs typeface="+mn-cs"/>
              </a:rPr>
              <a:t> Encoder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hữu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Decoder </a:t>
            </a:r>
            <a:r>
              <a:rPr lang="en-US" sz="1200" b="0" i="0" kern="1200" dirty="0" err="1">
                <a:solidFill>
                  <a:schemeClr val="tx1"/>
                </a:solidFill>
                <a:effectLst/>
                <a:latin typeface="+mn-lt"/>
                <a:ea typeface="+mn-ea"/>
                <a:cs typeface="+mn-cs"/>
              </a:rPr>
              <a:t>học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tái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đó</a:t>
            </a:r>
            <a:endParaRPr lang="vi-VN"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KL Divergence Loss (</a:t>
            </a:r>
            <a:r>
              <a:rPr lang="en-US" sz="1200" b="1" i="0" kern="1200" dirty="0" err="1">
                <a:solidFill>
                  <a:schemeClr val="tx1"/>
                </a:solidFill>
                <a:effectLst/>
                <a:latin typeface="+mn-lt"/>
                <a:ea typeface="+mn-ea"/>
                <a:cs typeface="+mn-cs"/>
              </a:rPr>
              <a:t>Hàm</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chuẩn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hóa</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Kullback-Leibler</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KL </a:t>
            </a:r>
            <a:r>
              <a:rPr lang="vi-VN" sz="1200" b="0" i="0" kern="1200" dirty="0" err="1">
                <a:solidFill>
                  <a:schemeClr val="tx1"/>
                </a:solidFill>
                <a:effectLst/>
                <a:latin typeface="+mn-lt"/>
                <a:ea typeface="+mn-ea"/>
                <a:cs typeface="+mn-cs"/>
              </a:rPr>
              <a:t>Divergence</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đóng</a:t>
            </a:r>
            <a:r>
              <a:rPr lang="vi-VN" sz="1200" b="0" i="0" kern="1200" dirty="0">
                <a:solidFill>
                  <a:schemeClr val="tx1"/>
                </a:solidFill>
                <a:effectLst/>
                <a:latin typeface="+mn-lt"/>
                <a:ea typeface="+mn-ea"/>
                <a:cs typeface="+mn-cs"/>
              </a:rPr>
              <a:t> vai </a:t>
            </a:r>
            <a:r>
              <a:rPr lang="vi-VN" sz="1200" b="0" i="0" kern="1200" dirty="0" err="1">
                <a:solidFill>
                  <a:schemeClr val="tx1"/>
                </a:solidFill>
                <a:effectLst/>
                <a:latin typeface="+mn-lt"/>
                <a:ea typeface="+mn-ea"/>
                <a:cs typeface="+mn-cs"/>
              </a:rPr>
              <a:t>trò</a:t>
            </a:r>
            <a:r>
              <a:rPr lang="vi-VN" sz="1200" b="0" i="0" kern="1200" dirty="0">
                <a:solidFill>
                  <a:schemeClr val="tx1"/>
                </a:solidFill>
                <a:effectLst/>
                <a:latin typeface="+mn-lt"/>
                <a:ea typeface="+mn-ea"/>
                <a:cs typeface="+mn-cs"/>
              </a:rPr>
              <a:t> như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bộ</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điều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regularizer</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Nó</a:t>
            </a:r>
            <a:r>
              <a:rPr lang="vi-VN" sz="1200" b="0" i="0" kern="1200" dirty="0">
                <a:solidFill>
                  <a:schemeClr val="tx1"/>
                </a:solidFill>
                <a:effectLst/>
                <a:latin typeface="+mn-lt"/>
                <a:ea typeface="+mn-ea"/>
                <a:cs typeface="+mn-cs"/>
              </a:rPr>
              <a:t> ngăn </a:t>
            </a:r>
            <a:r>
              <a:rPr lang="vi-VN" sz="1200" b="0" i="0" kern="1200" dirty="0" err="1">
                <a:solidFill>
                  <a:schemeClr val="tx1"/>
                </a:solidFill>
                <a:effectLst/>
                <a:latin typeface="+mn-lt"/>
                <a:ea typeface="+mn-ea"/>
                <a:cs typeface="+mn-cs"/>
              </a:rPr>
              <a:t>chặn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Encoder</a:t>
            </a:r>
            <a:r>
              <a:rPr lang="vi-VN" sz="1200" b="0" i="0" kern="1200" dirty="0">
                <a:solidFill>
                  <a:schemeClr val="tx1"/>
                </a:solidFill>
                <a:effectLst/>
                <a:latin typeface="+mn-lt"/>
                <a:ea typeface="+mn-ea"/>
                <a:cs typeface="+mn-cs"/>
              </a:rPr>
              <a:t> "gian </a:t>
            </a:r>
            <a:r>
              <a:rPr lang="vi-VN" sz="1200" b="0" i="0" kern="1200" dirty="0" err="1">
                <a:solidFill>
                  <a:schemeClr val="tx1"/>
                </a:solidFill>
                <a:effectLst/>
                <a:latin typeface="+mn-lt"/>
                <a:ea typeface="+mn-ea"/>
                <a:cs typeface="+mn-cs"/>
              </a:rPr>
              <a:t>lận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bằng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ghi </a:t>
            </a:r>
            <a:r>
              <a:rPr lang="vi-VN" sz="1200" b="0" i="0" kern="1200" dirty="0" err="1">
                <a:solidFill>
                  <a:schemeClr val="tx1"/>
                </a:solidFill>
                <a:effectLst/>
                <a:latin typeface="+mn-lt"/>
                <a:ea typeface="+mn-ea"/>
                <a:cs typeface="+mn-cs"/>
              </a:rPr>
              <a:t>nhớ</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từng</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điểm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riêng </a:t>
            </a:r>
            <a:r>
              <a:rPr lang="vi-VN" sz="1200" b="0" i="0" kern="1200" dirty="0" err="1">
                <a:solidFill>
                  <a:schemeClr val="tx1"/>
                </a:solidFill>
                <a:effectLst/>
                <a:latin typeface="+mn-lt"/>
                <a:ea typeface="+mn-ea"/>
                <a:cs typeface="+mn-cs"/>
              </a:rPr>
              <a:t>biệt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một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rời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rạc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overfitting</a:t>
            </a:r>
            <a:r>
              <a:rPr lang="vi-VN" sz="1200" b="0" i="0" kern="1200" dirty="0">
                <a:solidFill>
                  <a:schemeClr val="tx1"/>
                </a:solidFill>
                <a:effectLst/>
                <a:latin typeface="+mn-lt"/>
                <a:ea typeface="+mn-ea"/>
                <a:cs typeface="+mn-cs"/>
              </a:rPr>
              <a:t>).</a:t>
            </a:r>
          </a:p>
          <a:p>
            <a:r>
              <a:rPr lang="vi-VN" sz="1200" b="0" i="0" kern="1200" dirty="0" err="1">
                <a:solidFill>
                  <a:schemeClr val="tx1"/>
                </a:solidFill>
                <a:effectLst/>
                <a:latin typeface="+mn-lt"/>
                <a:ea typeface="+mn-ea"/>
                <a:cs typeface="+mn-cs"/>
              </a:rPr>
              <a:t>Việc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giảm</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thiểu</a:t>
            </a:r>
            <a:r>
              <a:rPr lang="vi-VN" sz="1200" b="0" i="0" kern="1200" dirty="0">
                <a:solidFill>
                  <a:schemeClr val="tx1"/>
                </a:solidFill>
                <a:effectLst/>
                <a:latin typeface="+mn-lt"/>
                <a:ea typeface="+mn-ea"/>
                <a:cs typeface="+mn-cs"/>
              </a:rPr>
              <a:t> KL </a:t>
            </a:r>
            <a:r>
              <a:rPr lang="vi-VN" sz="1200" b="0" i="0" kern="1200" dirty="0" err="1">
                <a:solidFill>
                  <a:schemeClr val="tx1"/>
                </a:solidFill>
                <a:effectLst/>
                <a:latin typeface="+mn-lt"/>
                <a:ea typeface="+mn-ea"/>
                <a:cs typeface="+mn-cs"/>
              </a:rPr>
              <a:t>loss</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của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tất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cả</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mẫu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tụ</a:t>
            </a:r>
            <a:r>
              <a:rPr lang="vi-VN" sz="1200" b="0" i="0" kern="1200" dirty="0">
                <a:solidFill>
                  <a:schemeClr val="tx1"/>
                </a:solidFill>
                <a:effectLst/>
                <a:latin typeface="+mn-lt"/>
                <a:ea typeface="+mn-ea"/>
                <a:cs typeface="+mn-cs"/>
              </a:rPr>
              <a:t> chung </a:t>
            </a:r>
            <a:r>
              <a:rPr lang="vi-VN" sz="1200" b="0" i="0" kern="1200" dirty="0" err="1">
                <a:solidFill>
                  <a:schemeClr val="tx1"/>
                </a:solidFill>
                <a:effectLst/>
                <a:latin typeface="+mn-lt"/>
                <a:ea typeface="+mn-ea"/>
                <a:cs typeface="+mn-cs"/>
              </a:rPr>
              <a:t>về</a:t>
            </a:r>
            <a:r>
              <a:rPr lang="vi-VN" sz="1200" b="0" i="0" kern="1200" dirty="0">
                <a:solidFill>
                  <a:schemeClr val="tx1"/>
                </a:solidFill>
                <a:effectLst/>
                <a:latin typeface="+mn-lt"/>
                <a:ea typeface="+mn-ea"/>
                <a:cs typeface="+mn-cs"/>
              </a:rPr>
              <a:t> tâm phân </a:t>
            </a:r>
            <a:r>
              <a:rPr lang="vi-VN" sz="1200" b="0" i="0" kern="1200" dirty="0" err="1">
                <a:solidFill>
                  <a:schemeClr val="tx1"/>
                </a:solidFill>
                <a:effectLst/>
                <a:latin typeface="+mn-lt"/>
                <a:ea typeface="+mn-ea"/>
                <a:cs typeface="+mn-cs"/>
              </a:rPr>
              <a:t>phối</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chuẩn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tắc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giúp</a:t>
            </a:r>
            <a:r>
              <a:rPr lang="vi-VN" sz="1200" b="0" i="0" kern="1200" dirty="0">
                <a:solidFill>
                  <a:schemeClr val="tx1"/>
                </a:solidFill>
                <a:effectLst/>
                <a:latin typeface="+mn-lt"/>
                <a:ea typeface="+mn-ea"/>
                <a:cs typeface="+mn-cs"/>
              </a:rPr>
              <a:t> không gian </a:t>
            </a:r>
            <a:r>
              <a:rPr lang="vi-VN" sz="1200" b="0" i="0" kern="1200" dirty="0" err="1">
                <a:solidFill>
                  <a:schemeClr val="tx1"/>
                </a:solidFill>
                <a:effectLst/>
                <a:latin typeface="+mn-lt"/>
                <a:ea typeface="+mn-ea"/>
                <a:cs typeface="+mn-cs"/>
              </a:rPr>
              <a:t>ẩn</a:t>
            </a:r>
            <a:r>
              <a:rPr lang="vi-VN" sz="1200" b="0" i="0" kern="1200" dirty="0">
                <a:solidFill>
                  <a:schemeClr val="tx1"/>
                </a:solidFill>
                <a:effectLst/>
                <a:latin typeface="+mn-lt"/>
                <a:ea typeface="+mn-ea"/>
                <a:cs typeface="+mn-cs"/>
              </a:rPr>
              <a:t> liên </a:t>
            </a:r>
            <a:r>
              <a:rPr lang="vi-VN" sz="1200" b="0" i="0" kern="1200" dirty="0" err="1">
                <a:solidFill>
                  <a:schemeClr val="tx1"/>
                </a:solidFill>
                <a:effectLst/>
                <a:latin typeface="+mn-lt"/>
                <a:ea typeface="+mn-ea"/>
                <a:cs typeface="+mn-cs"/>
              </a:rPr>
              <a:t>tục</a:t>
            </a:r>
            <a:r>
              <a:rPr lang="vi-VN" sz="1200" b="0" i="0" kern="1200" dirty="0">
                <a:solidFill>
                  <a:schemeClr val="tx1"/>
                </a:solidFill>
                <a:effectLst/>
                <a:latin typeface="+mn-lt"/>
                <a:ea typeface="+mn-ea"/>
                <a:cs typeface="+mn-cs"/>
              </a:rPr>
              <a:t>, không </a:t>
            </a:r>
            <a:r>
              <a:rPr lang="vi-VN" sz="1200" b="0" i="0" kern="1200" dirty="0" err="1">
                <a:solidFill>
                  <a:schemeClr val="tx1"/>
                </a:solidFill>
                <a:effectLst/>
                <a:latin typeface="+mn-lt"/>
                <a:ea typeface="+mn-ea"/>
                <a:cs typeface="+mn-cs"/>
              </a:rPr>
              <a:t>bị</a:t>
            </a:r>
            <a:r>
              <a:rPr lang="vi-VN" sz="1200" b="0" i="0" kern="1200" dirty="0">
                <a:solidFill>
                  <a:schemeClr val="tx1"/>
                </a:solidFill>
                <a:effectLst/>
                <a:latin typeface="+mn-lt"/>
                <a:ea typeface="+mn-ea"/>
                <a:cs typeface="+mn-cs"/>
              </a:rPr>
              <a:t> phân </a:t>
            </a:r>
            <a:r>
              <a:rPr lang="vi-VN" sz="1200" b="0" i="0" kern="1200" dirty="0" err="1">
                <a:solidFill>
                  <a:schemeClr val="tx1"/>
                </a:solidFill>
                <a:effectLst/>
                <a:latin typeface="+mn-lt"/>
                <a:ea typeface="+mn-ea"/>
                <a:cs typeface="+mn-cs"/>
              </a:rPr>
              <a:t>mảnh</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và</a:t>
            </a:r>
            <a:r>
              <a:rPr lang="vi-VN" sz="1200" b="0" i="0" kern="1200" dirty="0">
                <a:solidFill>
                  <a:schemeClr val="tx1"/>
                </a:solidFill>
                <a:effectLst/>
                <a:latin typeface="+mn-lt"/>
                <a:ea typeface="+mn-ea"/>
                <a:cs typeface="+mn-cs"/>
              </a:rPr>
              <a:t> cho </a:t>
            </a:r>
            <a:r>
              <a:rPr lang="vi-VN" sz="1200" b="0" i="0" kern="1200" dirty="0" err="1">
                <a:solidFill>
                  <a:schemeClr val="tx1"/>
                </a:solidFill>
                <a:effectLst/>
                <a:latin typeface="+mn-lt"/>
                <a:ea typeface="+mn-ea"/>
                <a:cs typeface="+mn-cs"/>
              </a:rPr>
              <a:t>phép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nội</a:t>
            </a:r>
            <a:r>
              <a:rPr lang="vi-VN" sz="1200" b="0" i="0" kern="1200" dirty="0">
                <a:solidFill>
                  <a:schemeClr val="tx1"/>
                </a:solidFill>
                <a:effectLst/>
                <a:latin typeface="+mn-lt"/>
                <a:ea typeface="+mn-ea"/>
                <a:cs typeface="+mn-cs"/>
              </a:rPr>
              <a:t> suy (</a:t>
            </a:r>
            <a:r>
              <a:rPr lang="vi-VN" sz="1200" b="0" i="0" kern="1200" dirty="0" err="1">
                <a:solidFill>
                  <a:schemeClr val="tx1"/>
                </a:solidFill>
                <a:effectLst/>
                <a:latin typeface="+mn-lt"/>
                <a:ea typeface="+mn-ea"/>
                <a:cs typeface="+mn-cs"/>
              </a:rPr>
              <a:t>interpolation</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mượt</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mà</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giữa</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các</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lớp</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dữ</a:t>
            </a:r>
            <a:r>
              <a:rPr lang="vi-VN" sz="1200" b="0" i="0" kern="1200" dirty="0">
                <a:solidFill>
                  <a:schemeClr val="tx1"/>
                </a:solidFill>
                <a:effectLst/>
                <a:latin typeface="+mn-lt"/>
                <a:ea typeface="+mn-ea"/>
                <a:cs typeface="+mn-cs"/>
              </a:rPr>
              <a:t> </a:t>
            </a:r>
            <a:r>
              <a:rPr lang="vi-VN" sz="1200" b="0" i="0" kern="1200" dirty="0" err="1">
                <a:solidFill>
                  <a:schemeClr val="tx1"/>
                </a:solidFill>
                <a:effectLst/>
                <a:latin typeface="+mn-lt"/>
                <a:ea typeface="+mn-ea"/>
                <a:cs typeface="+mn-cs"/>
              </a:rPr>
              <a:t>liệu</a:t>
            </a:r>
            <a:r>
              <a:rPr lang="vi-VN" sz="1200" b="0" i="0" kern="1200" dirty="0">
                <a:solidFill>
                  <a:schemeClr val="tx1"/>
                </a:solidFill>
                <a:effectLst/>
                <a:latin typeface="+mn-lt"/>
                <a:ea typeface="+mn-ea"/>
                <a:cs typeface="+mn-cs"/>
              </a:rPr>
              <a:t>.</a:t>
            </a:r>
          </a:p>
          <a:p>
            <a:endParaRPr lang="vi-VN" sz="1200" b="0" i="0" kern="1200" dirty="0">
              <a:solidFill>
                <a:schemeClr val="tx1"/>
              </a:solidFill>
              <a:effectLst/>
              <a:latin typeface="+mn-lt"/>
              <a:ea typeface="+mn-ea"/>
              <a:cs typeface="+mn-cs"/>
            </a:endParaRPr>
          </a:p>
          <a:p>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r>
              <a:rPr lang="vi-VN" dirty="0" err="1"/>
              <a:t>Thủ</a:t>
            </a:r>
            <a:r>
              <a:rPr lang="vi-VN" dirty="0"/>
              <a:t> </a:t>
            </a:r>
            <a:r>
              <a:rPr lang="vi-VN" dirty="0" err="1"/>
              <a:t>thuật</a:t>
            </a:r>
            <a:r>
              <a:rPr lang="vi-VN" dirty="0"/>
              <a:t> </a:t>
            </a:r>
            <a:r>
              <a:rPr lang="vi-VN" dirty="0" err="1"/>
              <a:t>tái</a:t>
            </a:r>
            <a:r>
              <a:rPr lang="vi-VN" dirty="0"/>
              <a:t> tham </a:t>
            </a:r>
            <a:r>
              <a:rPr lang="vi-VN" dirty="0" err="1"/>
              <a:t>số</a:t>
            </a:r>
            <a:r>
              <a:rPr lang="vi-VN" dirty="0"/>
              <a:t> </a:t>
            </a:r>
            <a:r>
              <a:rPr lang="vi-VN" dirty="0" err="1"/>
              <a:t>hóa</a:t>
            </a:r>
            <a:r>
              <a:rPr lang="vi-VN" dirty="0"/>
              <a:t> (</a:t>
            </a:r>
            <a:r>
              <a:rPr lang="vi-VN" dirty="0" err="1"/>
              <a:t>Reparameterization</a:t>
            </a:r>
            <a:r>
              <a:rPr lang="vi-VN" dirty="0"/>
              <a:t> </a:t>
            </a:r>
            <a:r>
              <a:rPr lang="vi-VN" dirty="0" err="1"/>
              <a:t>Trick</a:t>
            </a:r>
            <a:r>
              <a:rPr lang="vi-VN" dirty="0"/>
              <a:t>)</a:t>
            </a:r>
          </a:p>
          <a:p>
            <a:r>
              <a:rPr lang="vi-VN" dirty="0" err="1"/>
              <a:t>Một</a:t>
            </a:r>
            <a:r>
              <a:rPr lang="vi-VN" dirty="0"/>
              <a:t> trong </a:t>
            </a:r>
            <a:r>
              <a:rPr lang="vi-VN" dirty="0" err="1"/>
              <a:t>những</a:t>
            </a:r>
            <a:r>
              <a:rPr lang="vi-VN" dirty="0"/>
              <a:t> </a:t>
            </a:r>
            <a:r>
              <a:rPr lang="vi-VN" dirty="0" err="1"/>
              <a:t>đóng</a:t>
            </a:r>
            <a:r>
              <a:rPr lang="vi-VN" dirty="0"/>
              <a:t> </a:t>
            </a:r>
            <a:r>
              <a:rPr lang="vi-VN" dirty="0" err="1"/>
              <a:t>góp</a:t>
            </a:r>
            <a:r>
              <a:rPr lang="vi-VN" dirty="0"/>
              <a:t> </a:t>
            </a:r>
            <a:r>
              <a:rPr lang="vi-VN" dirty="0" err="1"/>
              <a:t>kỹ</a:t>
            </a:r>
            <a:r>
              <a:rPr lang="vi-VN" dirty="0"/>
              <a:t> </a:t>
            </a:r>
            <a:r>
              <a:rPr lang="vi-VN" dirty="0" err="1"/>
              <a:t>thuật</a:t>
            </a:r>
            <a:r>
              <a:rPr lang="vi-VN" dirty="0"/>
              <a:t> quan </a:t>
            </a:r>
            <a:r>
              <a:rPr lang="vi-VN" dirty="0" err="1"/>
              <a:t>trọng</a:t>
            </a:r>
            <a:r>
              <a:rPr lang="vi-VN" dirty="0"/>
              <a:t> </a:t>
            </a:r>
            <a:r>
              <a:rPr lang="vi-VN" dirty="0" err="1"/>
              <a:t>nhất</a:t>
            </a:r>
            <a:r>
              <a:rPr lang="vi-VN" dirty="0"/>
              <a:t> </a:t>
            </a:r>
            <a:r>
              <a:rPr lang="vi-VN" dirty="0" err="1"/>
              <a:t>giúp</a:t>
            </a:r>
            <a:r>
              <a:rPr lang="vi-VN" dirty="0"/>
              <a:t> VAE </a:t>
            </a:r>
            <a:r>
              <a:rPr lang="vi-VN" dirty="0" err="1"/>
              <a:t>khả</a:t>
            </a:r>
            <a:r>
              <a:rPr lang="vi-VN" dirty="0"/>
              <a:t> thi </a:t>
            </a:r>
            <a:r>
              <a:rPr lang="vi-VN" dirty="0" err="1"/>
              <a:t>là</a:t>
            </a:r>
            <a:r>
              <a:rPr lang="vi-VN" dirty="0"/>
              <a:t> </a:t>
            </a:r>
            <a:r>
              <a:rPr lang="vi-VN" b="1" dirty="0" err="1"/>
              <a:t>Reparameterization</a:t>
            </a:r>
            <a:r>
              <a:rPr lang="vi-VN" b="1" dirty="0"/>
              <a:t> Trick</a:t>
            </a:r>
            <a:r>
              <a:rPr lang="vi-VN" dirty="0"/>
              <a:t>3233.</a:t>
            </a:r>
          </a:p>
          <a:p>
            <a:r>
              <a:rPr lang="vi-VN" b="1" dirty="0" err="1"/>
              <a:t>Thách</a:t>
            </a:r>
            <a:r>
              <a:rPr lang="vi-VN" b="1" dirty="0"/>
              <a:t> </a:t>
            </a:r>
            <a:r>
              <a:rPr lang="vi-VN" b="1" dirty="0" err="1"/>
              <a:t>thức</a:t>
            </a:r>
            <a:r>
              <a:rPr lang="vi-VN" b="1" dirty="0"/>
              <a:t>:</a:t>
            </a:r>
            <a:r>
              <a:rPr lang="vi-VN" dirty="0"/>
              <a:t> </a:t>
            </a:r>
            <a:r>
              <a:rPr lang="vi-VN" dirty="0" err="1"/>
              <a:t>Bước</a:t>
            </a:r>
            <a:r>
              <a:rPr lang="vi-VN" dirty="0"/>
              <a:t> </a:t>
            </a:r>
            <a:r>
              <a:rPr lang="vi-VN" dirty="0" err="1"/>
              <a:t>lấy</a:t>
            </a:r>
            <a:r>
              <a:rPr lang="vi-VN" dirty="0"/>
              <a:t> </a:t>
            </a:r>
            <a:r>
              <a:rPr lang="vi-VN" dirty="0" err="1"/>
              <a:t>mẫu</a:t>
            </a:r>
            <a:r>
              <a:rPr lang="vi-VN" dirty="0"/>
              <a:t> </a:t>
            </a:r>
            <a:r>
              <a:rPr lang="vi-VN" dirty="0" err="1"/>
              <a:t>biến</a:t>
            </a:r>
            <a:r>
              <a:rPr lang="vi-VN" dirty="0"/>
              <a:t> </a:t>
            </a:r>
            <a:r>
              <a:rPr lang="vi-VN" dirty="0" err="1"/>
              <a:t>ẩn</a:t>
            </a:r>
            <a:r>
              <a:rPr lang="vi-VN" dirty="0"/>
              <a:t> $z$ </a:t>
            </a:r>
            <a:r>
              <a:rPr lang="vi-VN" dirty="0" err="1"/>
              <a:t>trực</a:t>
            </a:r>
            <a:r>
              <a:rPr lang="vi-VN" dirty="0"/>
              <a:t> </a:t>
            </a:r>
            <a:r>
              <a:rPr lang="vi-VN" dirty="0" err="1"/>
              <a:t>tiếp</a:t>
            </a:r>
            <a:r>
              <a:rPr lang="vi-VN" dirty="0"/>
              <a:t> </a:t>
            </a:r>
            <a:r>
              <a:rPr lang="vi-VN" dirty="0" err="1"/>
              <a:t>từ</a:t>
            </a:r>
            <a:r>
              <a:rPr lang="vi-VN" dirty="0"/>
              <a:t> phân </a:t>
            </a:r>
            <a:r>
              <a:rPr lang="vi-VN" dirty="0" err="1"/>
              <a:t>phối</a:t>
            </a:r>
            <a:r>
              <a:rPr lang="vi-VN" dirty="0"/>
              <a:t> $\</a:t>
            </a:r>
            <a:r>
              <a:rPr lang="vi-VN" dirty="0" err="1"/>
              <a:t>mathcal</a:t>
            </a:r>
            <a:r>
              <a:rPr lang="vi-VN" dirty="0"/>
              <a:t>{N}(\mu, \sigma^2)$ </a:t>
            </a:r>
            <a:r>
              <a:rPr lang="vi-VN" dirty="0" err="1"/>
              <a:t>là</a:t>
            </a:r>
            <a:r>
              <a:rPr lang="vi-VN" dirty="0"/>
              <a:t> </a:t>
            </a:r>
            <a:r>
              <a:rPr lang="vi-VN" dirty="0" err="1"/>
              <a:t>một</a:t>
            </a:r>
            <a:r>
              <a:rPr lang="vi-VN" dirty="0"/>
              <a:t> </a:t>
            </a:r>
            <a:r>
              <a:rPr lang="vi-VN" dirty="0" err="1"/>
              <a:t>hoạt</a:t>
            </a:r>
            <a:r>
              <a:rPr lang="vi-VN" dirty="0"/>
              <a:t> </a:t>
            </a:r>
            <a:r>
              <a:rPr lang="vi-VN" dirty="0" err="1"/>
              <a:t>động</a:t>
            </a:r>
            <a:r>
              <a:rPr lang="vi-VN" dirty="0"/>
              <a:t> </a:t>
            </a:r>
            <a:r>
              <a:rPr lang="vi-VN" dirty="0" err="1"/>
              <a:t>ngẫu</a:t>
            </a:r>
            <a:r>
              <a:rPr lang="vi-VN" dirty="0"/>
              <a:t> nhiên (</a:t>
            </a:r>
            <a:r>
              <a:rPr lang="vi-VN" dirty="0" err="1"/>
              <a:t>stochastic</a:t>
            </a:r>
            <a:r>
              <a:rPr lang="vi-VN" dirty="0"/>
              <a:t>)34more_horiz. Do </a:t>
            </a:r>
            <a:r>
              <a:rPr lang="vi-VN" dirty="0" err="1"/>
              <a:t>tính</a:t>
            </a:r>
            <a:r>
              <a:rPr lang="vi-VN" dirty="0"/>
              <a:t> </a:t>
            </a:r>
            <a:r>
              <a:rPr lang="vi-VN" dirty="0" err="1"/>
              <a:t>ngẫu</a:t>
            </a:r>
            <a:r>
              <a:rPr lang="vi-VN" dirty="0"/>
              <a:t> nhiên </a:t>
            </a:r>
            <a:r>
              <a:rPr lang="vi-VN" dirty="0" err="1"/>
              <a:t>này</a:t>
            </a:r>
            <a:r>
              <a:rPr lang="vi-VN" dirty="0"/>
              <a:t>, </a:t>
            </a:r>
            <a:r>
              <a:rPr lang="vi-VN" dirty="0" err="1"/>
              <a:t>chúng</a:t>
            </a:r>
            <a:r>
              <a:rPr lang="vi-VN" dirty="0"/>
              <a:t> ta không </a:t>
            </a:r>
            <a:r>
              <a:rPr lang="vi-VN" dirty="0" err="1"/>
              <a:t>thể</a:t>
            </a:r>
            <a:r>
              <a:rPr lang="vi-VN" dirty="0"/>
              <a:t> </a:t>
            </a:r>
            <a:r>
              <a:rPr lang="vi-VN" dirty="0" err="1"/>
              <a:t>tính</a:t>
            </a:r>
            <a:r>
              <a:rPr lang="vi-VN" dirty="0"/>
              <a:t> </a:t>
            </a:r>
            <a:r>
              <a:rPr lang="vi-VN" dirty="0" err="1"/>
              <a:t>toán</a:t>
            </a:r>
            <a:r>
              <a:rPr lang="vi-VN" dirty="0"/>
              <a:t> </a:t>
            </a:r>
            <a:r>
              <a:rPr lang="vi-VN" dirty="0" err="1"/>
              <a:t>đạo</a:t>
            </a:r>
            <a:r>
              <a:rPr lang="vi-VN" dirty="0"/>
              <a:t> </a:t>
            </a:r>
            <a:r>
              <a:rPr lang="vi-VN" dirty="0" err="1"/>
              <a:t>hàm</a:t>
            </a:r>
            <a:r>
              <a:rPr lang="vi-VN" dirty="0"/>
              <a:t> </a:t>
            </a:r>
            <a:r>
              <a:rPr lang="vi-VN" dirty="0" err="1"/>
              <a:t>trực</a:t>
            </a:r>
            <a:r>
              <a:rPr lang="vi-VN" dirty="0"/>
              <a:t> </a:t>
            </a:r>
            <a:r>
              <a:rPr lang="vi-VN" dirty="0" err="1"/>
              <a:t>tiếp</a:t>
            </a:r>
            <a:r>
              <a:rPr lang="vi-VN" dirty="0"/>
              <a:t> qua </a:t>
            </a:r>
            <a:r>
              <a:rPr lang="vi-VN" dirty="0" err="1"/>
              <a:t>nút</a:t>
            </a:r>
            <a:r>
              <a:rPr lang="vi-VN" dirty="0"/>
              <a:t> </a:t>
            </a:r>
            <a:r>
              <a:rPr lang="vi-VN" dirty="0" err="1"/>
              <a:t>lấy</a:t>
            </a:r>
            <a:r>
              <a:rPr lang="vi-VN" dirty="0"/>
              <a:t> </a:t>
            </a:r>
            <a:r>
              <a:rPr lang="vi-VN" dirty="0" err="1"/>
              <a:t>mẫu</a:t>
            </a:r>
            <a:r>
              <a:rPr lang="vi-VN" dirty="0"/>
              <a:t>, </a:t>
            </a:r>
            <a:r>
              <a:rPr lang="vi-VN" dirty="0" err="1"/>
              <a:t>làm</a:t>
            </a:r>
            <a:r>
              <a:rPr lang="vi-VN" dirty="0"/>
              <a:t> </a:t>
            </a:r>
            <a:r>
              <a:rPr lang="vi-VN" dirty="0" err="1"/>
              <a:t>đứt</a:t>
            </a:r>
            <a:r>
              <a:rPr lang="vi-VN" dirty="0"/>
              <a:t> </a:t>
            </a:r>
            <a:r>
              <a:rPr lang="vi-VN" dirty="0" err="1"/>
              <a:t>gãy</a:t>
            </a:r>
            <a:r>
              <a:rPr lang="vi-VN" dirty="0"/>
              <a:t> lan </a:t>
            </a:r>
            <a:r>
              <a:rPr lang="vi-VN" dirty="0" err="1"/>
              <a:t>truyền</a:t>
            </a:r>
            <a:r>
              <a:rPr lang="vi-VN" dirty="0"/>
              <a:t> </a:t>
            </a:r>
            <a:r>
              <a:rPr lang="vi-VN" dirty="0" err="1"/>
              <a:t>ngược</a:t>
            </a:r>
            <a:r>
              <a:rPr lang="vi-VN" dirty="0"/>
              <a:t> (</a:t>
            </a:r>
            <a:r>
              <a:rPr lang="vi-VN" dirty="0" err="1"/>
              <a:t>backpropagation</a:t>
            </a:r>
            <a:r>
              <a:rPr lang="vi-VN" dirty="0"/>
              <a:t>) </a:t>
            </a:r>
            <a:r>
              <a:rPr lang="vi-VN" dirty="0" err="1"/>
              <a:t>để</a:t>
            </a:r>
            <a:r>
              <a:rPr lang="vi-VN" dirty="0"/>
              <a:t> </a:t>
            </a:r>
            <a:r>
              <a:rPr lang="vi-VN" dirty="0" err="1"/>
              <a:t>cập</a:t>
            </a:r>
            <a:r>
              <a:rPr lang="vi-VN" dirty="0"/>
              <a:t> </a:t>
            </a:r>
            <a:r>
              <a:rPr lang="vi-VN" dirty="0" err="1"/>
              <a:t>nhật</a:t>
            </a:r>
            <a:r>
              <a:rPr lang="vi-VN" dirty="0"/>
              <a:t> </a:t>
            </a:r>
            <a:r>
              <a:rPr lang="vi-VN" dirty="0" err="1"/>
              <a:t>trọng</a:t>
            </a:r>
            <a:r>
              <a:rPr lang="vi-VN" dirty="0"/>
              <a:t> </a:t>
            </a:r>
            <a:r>
              <a:rPr lang="vi-VN" dirty="0" err="1"/>
              <a:t>số</a:t>
            </a:r>
            <a:r>
              <a:rPr lang="vi-VN" dirty="0"/>
              <a:t> cho Encoder34more_horiz.</a:t>
            </a:r>
          </a:p>
          <a:p>
            <a:r>
              <a:rPr lang="vi-VN" b="1" dirty="0" err="1"/>
              <a:t>Giải</a:t>
            </a:r>
            <a:r>
              <a:rPr lang="vi-VN" b="1" dirty="0"/>
              <a:t> </a:t>
            </a:r>
            <a:r>
              <a:rPr lang="vi-VN" b="1" dirty="0" err="1"/>
              <a:t>pháp</a:t>
            </a:r>
            <a:r>
              <a:rPr lang="vi-VN" b="1" dirty="0"/>
              <a:t>:</a:t>
            </a:r>
            <a:r>
              <a:rPr lang="vi-VN" dirty="0"/>
              <a:t> Mô </a:t>
            </a:r>
            <a:r>
              <a:rPr lang="vi-VN" dirty="0" err="1"/>
              <a:t>hình</a:t>
            </a:r>
            <a:r>
              <a:rPr lang="vi-VN" dirty="0"/>
              <a:t> </a:t>
            </a:r>
            <a:r>
              <a:rPr lang="vi-VN" dirty="0" err="1"/>
              <a:t>tách</a:t>
            </a:r>
            <a:r>
              <a:rPr lang="vi-VN" dirty="0"/>
              <a:t> </a:t>
            </a:r>
            <a:r>
              <a:rPr lang="vi-VN" dirty="0" err="1"/>
              <a:t>phần</a:t>
            </a:r>
            <a:r>
              <a:rPr lang="vi-VN" dirty="0"/>
              <a:t> </a:t>
            </a:r>
            <a:r>
              <a:rPr lang="vi-VN" dirty="0" err="1"/>
              <a:t>ngẫu</a:t>
            </a:r>
            <a:r>
              <a:rPr lang="vi-VN" dirty="0"/>
              <a:t> nhiên ra </a:t>
            </a:r>
            <a:r>
              <a:rPr lang="vi-VN" dirty="0" err="1"/>
              <a:t>khỏi</a:t>
            </a:r>
            <a:r>
              <a:rPr lang="vi-VN" dirty="0"/>
              <a:t> </a:t>
            </a:r>
            <a:r>
              <a:rPr lang="vi-VN" dirty="0" err="1"/>
              <a:t>các</a:t>
            </a:r>
            <a:r>
              <a:rPr lang="vi-VN" dirty="0"/>
              <a:t> tham </a:t>
            </a:r>
            <a:r>
              <a:rPr lang="vi-VN" dirty="0" err="1"/>
              <a:t>số</a:t>
            </a:r>
            <a:r>
              <a:rPr lang="vi-VN" dirty="0"/>
              <a:t> </a:t>
            </a:r>
            <a:r>
              <a:rPr lang="vi-VN" dirty="0" err="1"/>
              <a:t>xác</a:t>
            </a:r>
            <a:r>
              <a:rPr lang="vi-VN" dirty="0"/>
              <a:t> </a:t>
            </a:r>
            <a:r>
              <a:rPr lang="vi-VN" dirty="0" err="1"/>
              <a:t>định</a:t>
            </a:r>
            <a:r>
              <a:rPr lang="vi-VN" dirty="0"/>
              <a:t> </a:t>
            </a:r>
            <a:r>
              <a:rPr lang="vi-VN" dirty="0" err="1"/>
              <a:t>bằng</a:t>
            </a:r>
            <a:r>
              <a:rPr lang="vi-VN" dirty="0"/>
              <a:t> </a:t>
            </a:r>
            <a:r>
              <a:rPr lang="vi-VN" dirty="0" err="1"/>
              <a:t>cách</a:t>
            </a:r>
            <a:r>
              <a:rPr lang="vi-VN" dirty="0"/>
              <a:t> </a:t>
            </a:r>
            <a:r>
              <a:rPr lang="vi-VN" dirty="0" err="1"/>
              <a:t>lấy</a:t>
            </a:r>
            <a:r>
              <a:rPr lang="vi-VN" dirty="0"/>
              <a:t> </a:t>
            </a:r>
            <a:r>
              <a:rPr lang="vi-VN" dirty="0" err="1"/>
              <a:t>mẫu</a:t>
            </a:r>
            <a:r>
              <a:rPr lang="vi-VN" dirty="0"/>
              <a:t> </a:t>
            </a:r>
            <a:r>
              <a:rPr lang="vi-VN" dirty="0" err="1"/>
              <a:t>một</a:t>
            </a:r>
            <a:r>
              <a:rPr lang="vi-VN" dirty="0"/>
              <a:t> </a:t>
            </a:r>
            <a:r>
              <a:rPr lang="vi-VN" dirty="0" err="1"/>
              <a:t>biến</a:t>
            </a:r>
            <a:r>
              <a:rPr lang="vi-VN" dirty="0"/>
              <a:t> </a:t>
            </a:r>
            <a:r>
              <a:rPr lang="vi-VN" dirty="0" err="1"/>
              <a:t>nhiễu</a:t>
            </a:r>
            <a:r>
              <a:rPr lang="vi-VN" dirty="0"/>
              <a:t> $\</a:t>
            </a:r>
            <a:r>
              <a:rPr lang="vi-VN" dirty="0" err="1"/>
              <a:t>epsilon</a:t>
            </a:r>
            <a:r>
              <a:rPr lang="vi-VN" dirty="0"/>
              <a:t>$ </a:t>
            </a:r>
            <a:r>
              <a:rPr lang="vi-VN" dirty="0" err="1"/>
              <a:t>từ</a:t>
            </a:r>
            <a:r>
              <a:rPr lang="vi-VN" dirty="0"/>
              <a:t> phân </a:t>
            </a:r>
            <a:r>
              <a:rPr lang="vi-VN" dirty="0" err="1"/>
              <a:t>phối</a:t>
            </a:r>
            <a:r>
              <a:rPr lang="vi-VN" dirty="0"/>
              <a:t> </a:t>
            </a:r>
            <a:r>
              <a:rPr lang="vi-VN" dirty="0" err="1"/>
              <a:t>chuẩn</a:t>
            </a:r>
            <a:r>
              <a:rPr lang="vi-VN" dirty="0"/>
              <a:t> </a:t>
            </a:r>
            <a:r>
              <a:rPr lang="vi-VN" dirty="0" err="1"/>
              <a:t>tắc</a:t>
            </a:r>
            <a:r>
              <a:rPr lang="vi-VN" dirty="0"/>
              <a:t> </a:t>
            </a:r>
            <a:r>
              <a:rPr lang="vi-VN" dirty="0" err="1"/>
              <a:t>độc</a:t>
            </a:r>
            <a:r>
              <a:rPr lang="vi-VN" dirty="0"/>
              <a:t> </a:t>
            </a:r>
            <a:r>
              <a:rPr lang="vi-VN" dirty="0" err="1"/>
              <a:t>lập</a:t>
            </a:r>
            <a:r>
              <a:rPr lang="vi-VN" dirty="0"/>
              <a:t> $\</a:t>
            </a:r>
            <a:r>
              <a:rPr lang="vi-VN" dirty="0" err="1"/>
              <a:t>mathcal</a:t>
            </a:r>
            <a:r>
              <a:rPr lang="vi-VN" dirty="0"/>
              <a:t>{N}(0, \</a:t>
            </a:r>
            <a:r>
              <a:rPr lang="vi-VN" dirty="0" err="1"/>
              <a:t>mathbf</a:t>
            </a:r>
            <a:r>
              <a:rPr lang="vi-VN" dirty="0"/>
              <a:t>{I})$3538. Sau </a:t>
            </a:r>
            <a:r>
              <a:rPr lang="vi-VN" dirty="0" err="1"/>
              <a:t>đó</a:t>
            </a:r>
            <a:r>
              <a:rPr lang="vi-VN" dirty="0"/>
              <a:t>, </a:t>
            </a:r>
            <a:r>
              <a:rPr lang="vi-VN" dirty="0" err="1"/>
              <a:t>biến</a:t>
            </a:r>
            <a:r>
              <a:rPr lang="vi-VN" dirty="0"/>
              <a:t> </a:t>
            </a:r>
            <a:r>
              <a:rPr lang="vi-VN" dirty="0" err="1"/>
              <a:t>ẩn</a:t>
            </a:r>
            <a:r>
              <a:rPr lang="vi-VN" dirty="0"/>
              <a:t> $z$ </a:t>
            </a:r>
            <a:r>
              <a:rPr lang="vi-VN" dirty="0" err="1"/>
              <a:t>được</a:t>
            </a:r>
            <a:r>
              <a:rPr lang="vi-VN" dirty="0"/>
              <a:t> </a:t>
            </a:r>
            <a:r>
              <a:rPr lang="vi-VN" dirty="0" err="1"/>
              <a:t>tính</a:t>
            </a:r>
            <a:r>
              <a:rPr lang="vi-VN" dirty="0"/>
              <a:t> </a:t>
            </a:r>
            <a:r>
              <a:rPr lang="vi-VN" dirty="0" err="1"/>
              <a:t>toán</a:t>
            </a:r>
            <a:r>
              <a:rPr lang="vi-VN" dirty="0"/>
              <a:t> </a:t>
            </a:r>
            <a:r>
              <a:rPr lang="vi-VN" dirty="0" err="1"/>
              <a:t>dưới</a:t>
            </a:r>
            <a:r>
              <a:rPr lang="vi-VN" dirty="0"/>
              <a:t> </a:t>
            </a:r>
            <a:r>
              <a:rPr lang="vi-VN" dirty="0" err="1"/>
              <a:t>dạng</a:t>
            </a:r>
            <a:r>
              <a:rPr lang="vi-VN" dirty="0"/>
              <a:t> </a:t>
            </a:r>
            <a:r>
              <a:rPr lang="vi-VN" dirty="0" err="1"/>
              <a:t>một</a:t>
            </a:r>
            <a:r>
              <a:rPr lang="vi-VN" dirty="0"/>
              <a:t> </a:t>
            </a:r>
            <a:r>
              <a:rPr lang="vi-VN" dirty="0" err="1"/>
              <a:t>hàm</a:t>
            </a:r>
            <a:r>
              <a:rPr lang="vi-VN" dirty="0"/>
              <a:t> </a:t>
            </a:r>
            <a:r>
              <a:rPr lang="vi-VN" dirty="0" err="1"/>
              <a:t>tất</a:t>
            </a:r>
            <a:r>
              <a:rPr lang="vi-VN" dirty="0"/>
              <a:t> </a:t>
            </a:r>
            <a:r>
              <a:rPr lang="vi-VN" dirty="0" err="1"/>
              <a:t>định</a:t>
            </a:r>
            <a:r>
              <a:rPr lang="vi-VN" dirty="0"/>
              <a:t>: $$z = \mu + \</a:t>
            </a:r>
            <a:r>
              <a:rPr lang="vi-VN" dirty="0" err="1"/>
              <a:t>sigma</a:t>
            </a:r>
            <a:r>
              <a:rPr lang="vi-VN" dirty="0"/>
              <a:t> \</a:t>
            </a:r>
            <a:r>
              <a:rPr lang="vi-VN" dirty="0" err="1"/>
              <a:t>odot</a:t>
            </a:r>
            <a:r>
              <a:rPr lang="vi-VN" dirty="0"/>
              <a:t> \</a:t>
            </a:r>
            <a:r>
              <a:rPr lang="vi-VN" dirty="0" err="1"/>
              <a:t>epsilon</a:t>
            </a:r>
            <a:r>
              <a:rPr lang="vi-VN" dirty="0"/>
              <a:t>$$</a:t>
            </a:r>
          </a:p>
          <a:p>
            <a:r>
              <a:rPr lang="vi-VN" dirty="0" err="1"/>
              <a:t>Bằng</a:t>
            </a:r>
            <a:r>
              <a:rPr lang="vi-VN" dirty="0"/>
              <a:t> </a:t>
            </a:r>
            <a:r>
              <a:rPr lang="vi-VN" dirty="0" err="1"/>
              <a:t>cách</a:t>
            </a:r>
            <a:r>
              <a:rPr lang="vi-VN" dirty="0"/>
              <a:t> </a:t>
            </a:r>
            <a:r>
              <a:rPr lang="vi-VN" dirty="0" err="1"/>
              <a:t>chuyển</a:t>
            </a:r>
            <a:r>
              <a:rPr lang="vi-VN" dirty="0"/>
              <a:t> </a:t>
            </a:r>
            <a:r>
              <a:rPr lang="vi-VN" dirty="0" err="1"/>
              <a:t>tính</a:t>
            </a:r>
            <a:r>
              <a:rPr lang="vi-VN" dirty="0"/>
              <a:t> </a:t>
            </a:r>
            <a:r>
              <a:rPr lang="vi-VN" dirty="0" err="1"/>
              <a:t>ngẫu</a:t>
            </a:r>
            <a:r>
              <a:rPr lang="vi-VN" dirty="0"/>
              <a:t> nhiên ra "bên </a:t>
            </a:r>
            <a:r>
              <a:rPr lang="vi-VN" dirty="0" err="1"/>
              <a:t>ngoài</a:t>
            </a:r>
            <a:r>
              <a:rPr lang="vi-VN" dirty="0"/>
              <a:t>" </a:t>
            </a:r>
            <a:r>
              <a:rPr lang="vi-VN" dirty="0" err="1"/>
              <a:t>đồ</a:t>
            </a:r>
            <a:r>
              <a:rPr lang="vi-VN" dirty="0"/>
              <a:t> </a:t>
            </a:r>
            <a:r>
              <a:rPr lang="vi-VN" dirty="0" err="1"/>
              <a:t>thị</a:t>
            </a:r>
            <a:r>
              <a:rPr lang="vi-VN" dirty="0"/>
              <a:t> </a:t>
            </a:r>
            <a:r>
              <a:rPr lang="vi-VN" dirty="0" err="1"/>
              <a:t>tính</a:t>
            </a:r>
            <a:r>
              <a:rPr lang="vi-VN" dirty="0"/>
              <a:t> </a:t>
            </a:r>
            <a:r>
              <a:rPr lang="vi-VN" dirty="0" err="1"/>
              <a:t>toán</a:t>
            </a:r>
            <a:r>
              <a:rPr lang="vi-VN" dirty="0"/>
              <a:t>, </a:t>
            </a:r>
            <a:r>
              <a:rPr lang="vi-VN" dirty="0" err="1"/>
              <a:t>các</a:t>
            </a:r>
            <a:r>
              <a:rPr lang="vi-VN" dirty="0"/>
              <a:t> </a:t>
            </a:r>
            <a:r>
              <a:rPr lang="vi-VN" dirty="0" err="1"/>
              <a:t>nút</a:t>
            </a:r>
            <a:r>
              <a:rPr lang="vi-VN" dirty="0"/>
              <a:t> $\mu$ </a:t>
            </a:r>
            <a:r>
              <a:rPr lang="vi-VN" dirty="0" err="1"/>
              <a:t>và</a:t>
            </a:r>
            <a:r>
              <a:rPr lang="vi-VN" dirty="0"/>
              <a:t> $\</a:t>
            </a:r>
            <a:r>
              <a:rPr lang="vi-VN" dirty="0" err="1"/>
              <a:t>sigma</a:t>
            </a:r>
            <a:r>
              <a:rPr lang="vi-VN" dirty="0"/>
              <a:t>$ </a:t>
            </a:r>
            <a:r>
              <a:rPr lang="vi-VN" dirty="0" err="1"/>
              <a:t>trở</a:t>
            </a:r>
            <a:r>
              <a:rPr lang="vi-VN" dirty="0"/>
              <a:t> </a:t>
            </a:r>
            <a:r>
              <a:rPr lang="vi-VN" dirty="0" err="1"/>
              <a:t>thành</a:t>
            </a:r>
            <a:r>
              <a:rPr lang="vi-VN" dirty="0"/>
              <a:t> </a:t>
            </a:r>
            <a:r>
              <a:rPr lang="vi-VN" dirty="0" err="1"/>
              <a:t>các</a:t>
            </a:r>
            <a:r>
              <a:rPr lang="vi-VN" dirty="0"/>
              <a:t> </a:t>
            </a:r>
            <a:r>
              <a:rPr lang="vi-VN" dirty="0" err="1"/>
              <a:t>nút</a:t>
            </a:r>
            <a:r>
              <a:rPr lang="vi-VN" dirty="0"/>
              <a:t> </a:t>
            </a:r>
            <a:r>
              <a:rPr lang="vi-VN" dirty="0" err="1"/>
              <a:t>tất</a:t>
            </a:r>
            <a:r>
              <a:rPr lang="vi-VN" dirty="0"/>
              <a:t> </a:t>
            </a:r>
            <a:r>
              <a:rPr lang="vi-VN" dirty="0" err="1"/>
              <a:t>định</a:t>
            </a:r>
            <a:r>
              <a:rPr lang="vi-VN" dirty="0"/>
              <a:t> thông thường3940. </a:t>
            </a:r>
            <a:r>
              <a:rPr lang="vi-VN" dirty="0" err="1"/>
              <a:t>Điều</a:t>
            </a:r>
            <a:r>
              <a:rPr lang="vi-VN" dirty="0"/>
              <a:t> </a:t>
            </a:r>
            <a:r>
              <a:rPr lang="vi-VN" dirty="0" err="1"/>
              <a:t>này</a:t>
            </a:r>
            <a:r>
              <a:rPr lang="vi-VN" dirty="0"/>
              <a:t> cho </a:t>
            </a:r>
            <a:r>
              <a:rPr lang="vi-VN" dirty="0" err="1"/>
              <a:t>phép</a:t>
            </a:r>
            <a:r>
              <a:rPr lang="vi-VN" dirty="0"/>
              <a:t> </a:t>
            </a:r>
            <a:r>
              <a:rPr lang="vi-VN" dirty="0" err="1"/>
              <a:t>dòng</a:t>
            </a:r>
            <a:r>
              <a:rPr lang="vi-VN" dirty="0"/>
              <a:t> </a:t>
            </a:r>
            <a:r>
              <a:rPr lang="vi-VN" dirty="0" err="1"/>
              <a:t>đạo</a:t>
            </a:r>
            <a:r>
              <a:rPr lang="vi-VN" dirty="0"/>
              <a:t> </a:t>
            </a:r>
            <a:r>
              <a:rPr lang="vi-VN" dirty="0" err="1"/>
              <a:t>hàm</a:t>
            </a:r>
            <a:r>
              <a:rPr lang="vi-VN" dirty="0"/>
              <a:t> </a:t>
            </a:r>
            <a:r>
              <a:rPr lang="vi-VN" dirty="0" err="1"/>
              <a:t>truyền</a:t>
            </a:r>
            <a:r>
              <a:rPr lang="vi-VN" dirty="0"/>
              <a:t> </a:t>
            </a:r>
            <a:r>
              <a:rPr lang="vi-VN" dirty="0" err="1"/>
              <a:t>ngược</a:t>
            </a:r>
            <a:r>
              <a:rPr lang="vi-VN" dirty="0"/>
              <a:t> </a:t>
            </a:r>
            <a:r>
              <a:rPr lang="vi-VN" dirty="0" err="1"/>
              <a:t>mượt</a:t>
            </a:r>
            <a:r>
              <a:rPr lang="vi-VN" dirty="0"/>
              <a:t> </a:t>
            </a:r>
            <a:r>
              <a:rPr lang="vi-VN" dirty="0" err="1"/>
              <a:t>mà</a:t>
            </a:r>
            <a:r>
              <a:rPr lang="vi-VN" dirty="0"/>
              <a:t> </a:t>
            </a:r>
            <a:r>
              <a:rPr lang="vi-VN" dirty="0" err="1"/>
              <a:t>từ</a:t>
            </a:r>
            <a:r>
              <a:rPr lang="vi-VN" dirty="0"/>
              <a:t> </a:t>
            </a:r>
            <a:r>
              <a:rPr lang="vi-VN" dirty="0" err="1"/>
              <a:t>Decoder</a:t>
            </a:r>
            <a:r>
              <a:rPr lang="vi-VN" dirty="0"/>
              <a:t> </a:t>
            </a:r>
            <a:r>
              <a:rPr lang="vi-VN" dirty="0" err="1"/>
              <a:t>về</a:t>
            </a:r>
            <a:r>
              <a:rPr lang="vi-VN" dirty="0"/>
              <a:t> </a:t>
            </a:r>
            <a:r>
              <a:rPr lang="vi-VN" dirty="0" err="1"/>
              <a:t>Encoder</a:t>
            </a:r>
            <a:r>
              <a:rPr lang="vi-VN" dirty="0"/>
              <a:t> </a:t>
            </a:r>
            <a:r>
              <a:rPr lang="vi-VN" dirty="0" err="1"/>
              <a:t>để</a:t>
            </a:r>
            <a:r>
              <a:rPr lang="vi-VN" dirty="0"/>
              <a:t> </a:t>
            </a:r>
            <a:r>
              <a:rPr lang="vi-VN" dirty="0" err="1"/>
              <a:t>huấn</a:t>
            </a:r>
            <a:r>
              <a:rPr lang="vi-VN" dirty="0"/>
              <a:t> </a:t>
            </a:r>
            <a:r>
              <a:rPr lang="vi-VN" dirty="0" err="1"/>
              <a:t>luyện</a:t>
            </a:r>
            <a:r>
              <a:rPr lang="vi-VN" dirty="0"/>
              <a:t> mô </a:t>
            </a:r>
            <a:r>
              <a:rPr lang="vi-VN" dirty="0" err="1"/>
              <a:t>hình</a:t>
            </a:r>
            <a:r>
              <a:rPr lang="vi-VN" dirty="0"/>
              <a:t> theo cơ </a:t>
            </a:r>
            <a:r>
              <a:rPr lang="vi-VN" dirty="0" err="1"/>
              <a:t>chế</a:t>
            </a:r>
            <a:r>
              <a:rPr lang="vi-VN" dirty="0"/>
              <a:t> end-to-end38more_horiz.</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04BBFE63-5C62-4DEA-9880-33834C471B25}" type="slidenum">
              <a:rPr lang="en-US" smtClean="0"/>
              <a:t>10</a:t>
            </a:fld>
            <a:endParaRPr lang="en-US"/>
          </a:p>
        </p:txBody>
      </p:sp>
    </p:spTree>
    <p:extLst>
      <p:ext uri="{BB962C8B-B14F-4D97-AF65-F5344CB8AC3E}">
        <p14:creationId xmlns:p14="http://schemas.microsoft.com/office/powerpoint/2010/main" val="1960549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Cùng</a:t>
            </a:r>
            <a:r>
              <a:rPr dirty="0"/>
              <a:t> </a:t>
            </a:r>
            <a:r>
              <a:rPr dirty="0" err="1"/>
              <a:t>định</a:t>
            </a:r>
            <a:r>
              <a:rPr dirty="0"/>
              <a:t> </a:t>
            </a:r>
            <a:r>
              <a:rPr dirty="0" err="1"/>
              <a:t>dạng</a:t>
            </a:r>
            <a:r>
              <a:rPr dirty="0"/>
              <a:t> </a:t>
            </a:r>
            <a:r>
              <a:rPr dirty="0" err="1"/>
              <a:t>với</a:t>
            </a:r>
            <a:r>
              <a:rPr dirty="0"/>
              <a:t> slide </a:t>
            </a:r>
            <a:r>
              <a:rPr dirty="0" err="1"/>
              <a:t>kết</a:t>
            </a:r>
            <a:r>
              <a:rPr dirty="0"/>
              <a:t> </a:t>
            </a:r>
            <a:r>
              <a:rPr dirty="0" err="1"/>
              <a:t>quả</a:t>
            </a:r>
            <a:r>
              <a:rPr dirty="0"/>
              <a:t> </a:t>
            </a:r>
            <a:r>
              <a:rPr dirty="0" err="1"/>
              <a:t>của</a:t>
            </a:r>
            <a:r>
              <a:rPr dirty="0"/>
              <a:t> AE </a:t>
            </a:r>
            <a:r>
              <a:rPr dirty="0" err="1"/>
              <a:t>để</a:t>
            </a:r>
            <a:r>
              <a:rPr dirty="0"/>
              <a:t> </a:t>
            </a:r>
            <a:r>
              <a:rPr dirty="0" err="1"/>
              <a:t>đối</a:t>
            </a:r>
            <a:r>
              <a:rPr dirty="0"/>
              <a:t> </a:t>
            </a:r>
            <a:r>
              <a:rPr dirty="0" err="1"/>
              <a:t>chiếu</a:t>
            </a:r>
            <a:r>
              <a:rPr dirty="0"/>
              <a:t> </a:t>
            </a:r>
            <a:r>
              <a:rPr dirty="0" err="1"/>
              <a:t>trực</a:t>
            </a:r>
            <a:r>
              <a:rPr dirty="0"/>
              <a:t> </a:t>
            </a:r>
            <a:r>
              <a:rPr dirty="0" err="1"/>
              <a:t>tiếp</a:t>
            </a:r>
            <a:r>
              <a:rPr dirty="0"/>
              <a:t>. </a:t>
            </a:r>
            <a:r>
              <a:rPr dirty="0" err="1"/>
              <a:t>Khác</a:t>
            </a:r>
            <a:r>
              <a:rPr dirty="0"/>
              <a:t> </a:t>
            </a:r>
            <a:r>
              <a:rPr dirty="0" err="1"/>
              <a:t>biệt</a:t>
            </a:r>
            <a:r>
              <a:rPr dirty="0"/>
              <a:t> </a:t>
            </a:r>
            <a:r>
              <a:rPr dirty="0" err="1"/>
              <a:t>nằm</a:t>
            </a:r>
            <a:r>
              <a:rPr dirty="0"/>
              <a:t> ở </a:t>
            </a:r>
            <a:r>
              <a:rPr dirty="0" err="1"/>
              <a:t>cột</a:t>
            </a:r>
            <a:r>
              <a:rPr dirty="0"/>
              <a:t> KL: ở AE </a:t>
            </a:r>
            <a:r>
              <a:rPr dirty="0" err="1"/>
              <a:t>không</a:t>
            </a:r>
            <a:r>
              <a:rPr dirty="0"/>
              <a:t> </a:t>
            </a:r>
            <a:r>
              <a:rPr dirty="0" err="1"/>
              <a:t>có</a:t>
            </a:r>
            <a:r>
              <a:rPr dirty="0"/>
              <a:t> </a:t>
            </a:r>
            <a:r>
              <a:rPr dirty="0" err="1"/>
              <a:t>cột</a:t>
            </a:r>
            <a:r>
              <a:rPr dirty="0"/>
              <a:t> </a:t>
            </a:r>
            <a:r>
              <a:rPr dirty="0" err="1"/>
              <a:t>này</a:t>
            </a:r>
            <a:r>
              <a:rPr dirty="0"/>
              <a:t>, </a:t>
            </a:r>
            <a:r>
              <a:rPr dirty="0" err="1"/>
              <a:t>và</a:t>
            </a:r>
            <a:r>
              <a:rPr dirty="0"/>
              <a:t> loss AE </a:t>
            </a:r>
            <a:r>
              <a:rPr dirty="0" err="1"/>
              <a:t>giảm</a:t>
            </a:r>
            <a:r>
              <a:rPr dirty="0"/>
              <a:t> </a:t>
            </a:r>
            <a:r>
              <a:rPr dirty="0" err="1"/>
              <a:t>liên</a:t>
            </a:r>
            <a:r>
              <a:rPr dirty="0"/>
              <a:t> </a:t>
            </a:r>
            <a:r>
              <a:rPr dirty="0" err="1"/>
              <a:t>tục</a:t>
            </a:r>
            <a:r>
              <a:rPr dirty="0"/>
              <a:t> </a:t>
            </a:r>
            <a:r>
              <a:rPr dirty="0" err="1"/>
              <a:t>đến</a:t>
            </a:r>
            <a:r>
              <a:rPr dirty="0"/>
              <a:t> d = 128, </a:t>
            </a:r>
            <a:r>
              <a:rPr dirty="0" err="1"/>
              <a:t>còn</a:t>
            </a:r>
            <a:r>
              <a:rPr dirty="0"/>
              <a:t> ở VAE </a:t>
            </a:r>
            <a:r>
              <a:rPr dirty="0" err="1"/>
              <a:t>cả</a:t>
            </a:r>
            <a:r>
              <a:rPr dirty="0"/>
              <a:t> recon </a:t>
            </a:r>
            <a:r>
              <a:rPr dirty="0" err="1"/>
              <a:t>lẫn</a:t>
            </a:r>
            <a:r>
              <a:rPr dirty="0"/>
              <a:t> KL </a:t>
            </a:r>
            <a:r>
              <a:rPr dirty="0" err="1"/>
              <a:t>đều</a:t>
            </a:r>
            <a:r>
              <a:rPr dirty="0"/>
              <a:t> </a:t>
            </a:r>
            <a:r>
              <a:rPr dirty="0" err="1"/>
              <a:t>bão</a:t>
            </a:r>
            <a:r>
              <a:rPr dirty="0"/>
              <a:t> </a:t>
            </a:r>
            <a:r>
              <a:rPr dirty="0" err="1"/>
              <a:t>hoà</a:t>
            </a:r>
            <a:r>
              <a:rPr dirty="0"/>
              <a:t> </a:t>
            </a:r>
            <a:r>
              <a:rPr dirty="0" err="1"/>
              <a:t>từ</a:t>
            </a:r>
            <a:r>
              <a:rPr dirty="0"/>
              <a:t> d = 32. KL </a:t>
            </a:r>
            <a:r>
              <a:rPr dirty="0" err="1"/>
              <a:t>đóng</a:t>
            </a:r>
            <a:r>
              <a:rPr dirty="0"/>
              <a:t> </a:t>
            </a:r>
            <a:r>
              <a:rPr dirty="0" err="1"/>
              <a:t>vai</a:t>
            </a:r>
            <a:r>
              <a:rPr dirty="0"/>
              <a:t> </a:t>
            </a:r>
            <a:r>
              <a:rPr dirty="0" err="1"/>
              <a:t>trò</a:t>
            </a:r>
            <a:r>
              <a:rPr dirty="0"/>
              <a:t> </a:t>
            </a:r>
            <a:r>
              <a:rPr dirty="0" err="1"/>
              <a:t>ngân</a:t>
            </a:r>
            <a:r>
              <a:rPr dirty="0"/>
              <a:t> </a:t>
            </a:r>
            <a:r>
              <a:rPr dirty="0" err="1"/>
              <a:t>sách</a:t>
            </a:r>
            <a:r>
              <a:rPr dirty="0"/>
              <a:t> </a:t>
            </a:r>
            <a:r>
              <a:rPr dirty="0" err="1"/>
              <a:t>thông</a:t>
            </a:r>
            <a:r>
              <a:rPr dirty="0"/>
              <a:t> tin: </a:t>
            </a:r>
            <a:r>
              <a:rPr dirty="0" err="1"/>
              <a:t>mô</a:t>
            </a:r>
            <a:r>
              <a:rPr dirty="0"/>
              <a:t> </a:t>
            </a:r>
            <a:r>
              <a:rPr dirty="0" err="1"/>
              <a:t>hình</a:t>
            </a:r>
            <a:r>
              <a:rPr dirty="0"/>
              <a:t> </a:t>
            </a:r>
            <a:r>
              <a:rPr dirty="0" err="1"/>
              <a:t>chỉ</a:t>
            </a:r>
            <a:r>
              <a:rPr dirty="0"/>
              <a:t> </a:t>
            </a:r>
            <a:r>
              <a:rPr dirty="0" err="1"/>
              <a:t>mở</a:t>
            </a:r>
            <a:r>
              <a:rPr dirty="0"/>
              <a:t> </a:t>
            </a:r>
            <a:r>
              <a:rPr dirty="0" err="1"/>
              <a:t>thêm</a:t>
            </a:r>
            <a:r>
              <a:rPr dirty="0"/>
              <a:t> </a:t>
            </a:r>
            <a:r>
              <a:rPr dirty="0" err="1"/>
              <a:t>chiều</a:t>
            </a:r>
            <a:r>
              <a:rPr dirty="0"/>
              <a:t> </a:t>
            </a:r>
            <a:r>
              <a:rPr dirty="0" err="1"/>
              <a:t>khi</a:t>
            </a:r>
            <a:r>
              <a:rPr dirty="0"/>
              <a:t> </a:t>
            </a:r>
            <a:r>
              <a:rPr dirty="0" err="1"/>
              <a:t>lợi</a:t>
            </a:r>
            <a:r>
              <a:rPr dirty="0"/>
              <a:t> </a:t>
            </a:r>
            <a:r>
              <a:rPr dirty="0" err="1"/>
              <a:t>ích</a:t>
            </a:r>
            <a:r>
              <a:rPr dirty="0"/>
              <a:t> </a:t>
            </a:r>
            <a:r>
              <a:rPr dirty="0" err="1"/>
              <a:t>tái</a:t>
            </a:r>
            <a:r>
              <a:rPr dirty="0"/>
              <a:t> </a:t>
            </a:r>
            <a:r>
              <a:rPr dirty="0" err="1"/>
              <a:t>tạo</a:t>
            </a:r>
            <a:r>
              <a:rPr dirty="0"/>
              <a:t> </a:t>
            </a:r>
            <a:r>
              <a:rPr dirty="0" err="1"/>
              <a:t>lớn</a:t>
            </a:r>
            <a:r>
              <a:rPr dirty="0"/>
              <a:t> </a:t>
            </a:r>
            <a:r>
              <a:rPr dirty="0" err="1"/>
              <a:t>hơn</a:t>
            </a:r>
            <a:r>
              <a:rPr dirty="0"/>
              <a:t> chi </a:t>
            </a:r>
            <a:r>
              <a:rPr dirty="0" err="1"/>
              <a:t>phí</a:t>
            </a:r>
            <a:r>
              <a:rPr dirty="0"/>
              <a:t> KL.</a:t>
            </a:r>
            <a:endParaRPr lang="en-US" dirty="0"/>
          </a:p>
          <a:p>
            <a:endParaRPr lang="en-US" dirty="0"/>
          </a:p>
          <a:p>
            <a:r>
              <a:rPr lang="en-US" dirty="0"/>
              <a:t>KL Loss</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Đo </a:t>
            </a:r>
            <a:r>
              <a:rPr lang="vi-VN" dirty="0" err="1"/>
              <a:t>lường</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phân </a:t>
            </a:r>
            <a:r>
              <a:rPr lang="vi-VN" dirty="0" err="1"/>
              <a:t>phối</a:t>
            </a:r>
            <a:r>
              <a:rPr lang="vi-VN" dirty="0"/>
              <a:t> </a:t>
            </a:r>
            <a:r>
              <a:rPr lang="vi-VN" dirty="0" err="1"/>
              <a:t>ẩn</a:t>
            </a:r>
            <a:r>
              <a:rPr lang="vi-VN" dirty="0"/>
              <a:t> $q_\phi(</a:t>
            </a:r>
            <a:r>
              <a:rPr lang="vi-VN" dirty="0" err="1"/>
              <a:t>z|x</a:t>
            </a:r>
            <a:r>
              <a:rPr lang="vi-VN" dirty="0"/>
              <a:t>)$ do </a:t>
            </a:r>
            <a:r>
              <a:rPr lang="vi-VN" dirty="0" err="1"/>
              <a:t>Encoder</a:t>
            </a:r>
            <a:r>
              <a:rPr lang="vi-VN" dirty="0"/>
              <a:t> </a:t>
            </a:r>
            <a:r>
              <a:rPr lang="vi-VN" dirty="0" err="1"/>
              <a:t>dự</a:t>
            </a:r>
            <a:r>
              <a:rPr lang="vi-VN" dirty="0"/>
              <a:t> </a:t>
            </a:r>
            <a:r>
              <a:rPr lang="vi-VN" dirty="0" err="1"/>
              <a:t>đoán</a:t>
            </a:r>
            <a:r>
              <a:rPr lang="vi-VN" dirty="0"/>
              <a:t> </a:t>
            </a:r>
            <a:r>
              <a:rPr lang="vi-VN" dirty="0" err="1"/>
              <a:t>và</a:t>
            </a:r>
            <a:r>
              <a:rPr lang="vi-VN" dirty="0"/>
              <a:t> </a:t>
            </a:r>
            <a:r>
              <a:rPr lang="vi-VN" dirty="0" err="1"/>
              <a:t>một</a:t>
            </a:r>
            <a:r>
              <a:rPr lang="vi-VN" dirty="0"/>
              <a:t> phân </a:t>
            </a:r>
            <a:r>
              <a:rPr lang="vi-VN" dirty="0" err="1"/>
              <a:t>phối</a:t>
            </a:r>
            <a:r>
              <a:rPr lang="vi-VN" dirty="0"/>
              <a:t> tiên </a:t>
            </a:r>
            <a:r>
              <a:rPr lang="vi-VN" dirty="0" err="1"/>
              <a:t>nghiệm</a:t>
            </a:r>
            <a:r>
              <a:rPr lang="vi-VN" dirty="0"/>
              <a:t> (</a:t>
            </a:r>
            <a:r>
              <a:rPr lang="vi-VN" dirty="0" err="1"/>
              <a:t>Prior</a:t>
            </a:r>
            <a:r>
              <a:rPr lang="vi-VN" dirty="0"/>
              <a:t>) cho </a:t>
            </a:r>
            <a:r>
              <a:rPr lang="vi-VN" dirty="0" err="1"/>
              <a:t>trước</a:t>
            </a:r>
            <a:r>
              <a:rPr lang="vi-VN" dirty="0"/>
              <a:t> $p(z)$ </a:t>
            </a:r>
            <a:br>
              <a:rPr lang="vi-VN" dirty="0"/>
            </a:br>
            <a:r>
              <a:rPr lang="vi-VN" dirty="0" err="1"/>
              <a:t>Tổng</a:t>
            </a:r>
            <a:r>
              <a:rPr lang="vi-VN" dirty="0"/>
              <a:t> </a:t>
            </a:r>
            <a:r>
              <a:rPr lang="vi-VN" dirty="0" err="1"/>
              <a:t>của</a:t>
            </a:r>
            <a:r>
              <a:rPr lang="vi-VN" dirty="0"/>
              <a:t> </a:t>
            </a:r>
            <a:r>
              <a:rPr lang="vi-VN" dirty="0" err="1"/>
              <a:t>sự</a:t>
            </a:r>
            <a:r>
              <a:rPr lang="vi-VN" dirty="0"/>
              <a:t> </a:t>
            </a:r>
            <a:r>
              <a:rPr lang="vi-VN" dirty="0" err="1"/>
              <a:t>khác</a:t>
            </a:r>
            <a:r>
              <a:rPr lang="vi-VN" dirty="0"/>
              <a:t> </a:t>
            </a:r>
            <a:r>
              <a:rPr lang="vi-VN" dirty="0" err="1"/>
              <a:t>biệt</a:t>
            </a:r>
            <a:r>
              <a:rPr lang="vi-VN" dirty="0"/>
              <a:t> </a:t>
            </a:r>
            <a:r>
              <a:rPr lang="vi-VN" dirty="0" err="1"/>
              <a:t>giữa</a:t>
            </a:r>
            <a:r>
              <a:rPr lang="vi-VN" dirty="0"/>
              <a:t> </a:t>
            </a:r>
            <a:r>
              <a:rPr lang="vi-VN" dirty="0" err="1"/>
              <a:t>từng</a:t>
            </a:r>
            <a:r>
              <a:rPr lang="vi-VN" dirty="0"/>
              <a:t> </a:t>
            </a:r>
            <a:r>
              <a:rPr lang="vi-VN" dirty="0" err="1"/>
              <a:t>chiều</a:t>
            </a:r>
            <a:r>
              <a:rPr lang="vi-VN" dirty="0"/>
              <a:t>, do </a:t>
            </a:r>
            <a:r>
              <a:rPr lang="vi-VN" dirty="0" err="1"/>
              <a:t>vậy</a:t>
            </a:r>
            <a:r>
              <a:rPr lang="vi-VN" dirty="0"/>
              <a:t> khi tăng </a:t>
            </a:r>
            <a:r>
              <a:rPr lang="vi-VN" dirty="0" err="1"/>
              <a:t>chiều</a:t>
            </a:r>
            <a:r>
              <a:rPr lang="vi-VN" dirty="0"/>
              <a:t> lên </a:t>
            </a:r>
            <a:r>
              <a:rPr lang="vi-VN" dirty="0" err="1"/>
              <a:t>có</a:t>
            </a:r>
            <a:r>
              <a:rPr lang="vi-VN" dirty="0"/>
              <a:t> </a:t>
            </a:r>
            <a:r>
              <a:rPr lang="vi-VN" dirty="0" err="1"/>
              <a:t>thể</a:t>
            </a:r>
            <a:r>
              <a:rPr lang="vi-VN" dirty="0"/>
              <a:t> </a:t>
            </a:r>
            <a:r>
              <a:rPr lang="vi-VN" dirty="0" err="1"/>
              <a:t>dẫn</a:t>
            </a:r>
            <a:r>
              <a:rPr lang="vi-VN" dirty="0"/>
              <a:t> </a:t>
            </a:r>
            <a:r>
              <a:rPr lang="vi-VN" dirty="0" err="1"/>
              <a:t>tới</a:t>
            </a:r>
            <a:r>
              <a:rPr lang="vi-VN" dirty="0"/>
              <a:t> KL </a:t>
            </a:r>
            <a:r>
              <a:rPr lang="vi-VN" dirty="0" err="1"/>
              <a:t>Loss</a:t>
            </a:r>
            <a:r>
              <a:rPr lang="vi-VN" dirty="0"/>
              <a:t> tăng, </a:t>
            </a:r>
            <a:r>
              <a:rPr lang="vi-VN" dirty="0" err="1"/>
              <a:t>chỉ</a:t>
            </a:r>
            <a:r>
              <a:rPr lang="vi-VN" dirty="0"/>
              <a:t> nên tăng </a:t>
            </a:r>
            <a:r>
              <a:rPr lang="vi-VN" dirty="0" err="1"/>
              <a:t>chiều</a:t>
            </a:r>
            <a:r>
              <a:rPr lang="vi-VN" dirty="0"/>
              <a:t> khi </a:t>
            </a:r>
            <a:r>
              <a:rPr lang="vi-VN" dirty="0" err="1"/>
              <a:t>mà</a:t>
            </a:r>
            <a:r>
              <a:rPr lang="vi-VN" dirty="0"/>
              <a:t> </a:t>
            </a:r>
            <a:r>
              <a:rPr lang="vi-VN" dirty="0" err="1"/>
              <a:t>Recon</a:t>
            </a:r>
            <a:r>
              <a:rPr lang="vi-VN" dirty="0"/>
              <a:t> </a:t>
            </a:r>
            <a:r>
              <a:rPr lang="vi-VN" dirty="0" err="1"/>
              <a:t>Loss</a:t>
            </a:r>
            <a:r>
              <a:rPr lang="vi-VN" dirty="0"/>
              <a:t> </a:t>
            </a:r>
            <a:r>
              <a:rPr lang="vi-VN" dirty="0" err="1"/>
              <a:t>có</a:t>
            </a:r>
            <a:r>
              <a:rPr lang="vi-VN" dirty="0"/>
              <a:t> </a:t>
            </a:r>
            <a:r>
              <a:rPr lang="vi-VN" dirty="0" err="1"/>
              <a:t>thể</a:t>
            </a:r>
            <a:r>
              <a:rPr lang="vi-VN" dirty="0"/>
              <a:t> </a:t>
            </a:r>
            <a:r>
              <a:rPr lang="vi-VN" dirty="0" err="1"/>
              <a:t>bù</a:t>
            </a:r>
            <a:r>
              <a:rPr lang="vi-VN" dirty="0"/>
              <a:t> </a:t>
            </a:r>
            <a:r>
              <a:rPr lang="vi-VN" dirty="0" err="1"/>
              <a:t>vào</a:t>
            </a:r>
            <a:r>
              <a:rPr lang="vi-VN" dirty="0"/>
              <a:t> </a:t>
            </a:r>
            <a:r>
              <a:rPr lang="vi-VN" dirty="0" err="1"/>
              <a:t>mức</a:t>
            </a:r>
            <a:r>
              <a:rPr lang="vi-VN" dirty="0"/>
              <a:t> tăng </a:t>
            </a:r>
            <a:r>
              <a:rPr lang="vi-VN" dirty="0" err="1"/>
              <a:t>của</a:t>
            </a:r>
            <a:r>
              <a:rPr lang="vi-VN" dirty="0"/>
              <a:t> KL </a:t>
            </a:r>
            <a:r>
              <a:rPr lang="en-US" dirty="0"/>
              <a:t>Loss</a:t>
            </a:r>
            <a:endParaRPr lang="vi-VN"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cần nhấn: sự khác biệt thị giác giữa AE và VAE nhỏ hơn nhiều so với sự khác biệt giữa các mức d. Nói cách khác, KL không phá hỏng khả năng tái tạo, nó chỉ đánh đổi một phần độ sắc nét để lấy cấu trúc không gian ẩn.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khác biệt đáng chú ý so với phần AE: ở AE, đổi BCE hay MSE gần như không ảnh hưởng, còn ở VAE thì có, vì hàm tái tạo và KL phải cạnh tranh nhau trong cùng một hàm mục tiêu. β = 1 không có nghĩa là 'trung lập' — nó chỉ trung lập tương đối với thang của số hạng tái tạo đang dùng. Đây cũng là lý do các bài báo β-VAE luôn ghi rõ hàm likelihood đi kèm.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bằng chứng trực tiếp cho hạn chế của AE nêu ở slide kết luận: latent của AE không có ràng buộc nào nên phân tán tuỳ ý và có vùng trống, còn latent của VAE bị ép về hình dạng của tiên nghiệm. Lưu ý bản đồ dùng μ, chưa tính độ rộng σ của từng hậu nghiệm.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Điểm số ở đây là negative ELBO của từng ảnh: BCE tái tạo cộng β lần KL. Kỳ vọng ban đầu là số hạng KL sẽ giúp phát hiện mẫu lạ vì hậu nghiệm của chúng lệch khỏi tiên nghiệm, nhưng với chữ số 1 thì cả hai số hạng đều nhỏ — ảnh quá đơn giản, nằm sâu trong vùng mà mô hình mô tả tốt.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Thông điệp chính: KL không phải là thứ làm VAE 'kém hơn', mà là cái giá mua lấy một không gian ẩn có cấu trúc. Nếu chỉ cần nén và khôi phục thì AE là lựa chọn đúng; nếu cần sinh ảnh mới hoặc nội suy mượt thì phải là VAE. Riêng bài toán phát hiện bất thường, cả hai đều bị giới hạn bởi chính tiêu chí chấm điểm.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a:t>
            </a:r>
            <a:r>
              <a:rPr dirty="0" err="1"/>
              <a:t>để</a:t>
            </a:r>
            <a:r>
              <a:rPr dirty="0"/>
              <a:t> </a:t>
            </a:r>
            <a:r>
              <a:rPr dirty="0" err="1"/>
              <a:t>trả</a:t>
            </a:r>
            <a:r>
              <a:rPr dirty="0"/>
              <a:t> </a:t>
            </a:r>
            <a:r>
              <a:rPr dirty="0" err="1"/>
              <a:t>lời</a:t>
            </a:r>
            <a:r>
              <a:rPr dirty="0"/>
              <a:t> </a:t>
            </a:r>
            <a:r>
              <a:rPr dirty="0" err="1"/>
              <a:t>trước</a:t>
            </a:r>
            <a:r>
              <a:rPr dirty="0"/>
              <a:t> </a:t>
            </a:r>
            <a:r>
              <a:rPr dirty="0" err="1"/>
              <a:t>câu</a:t>
            </a:r>
            <a:r>
              <a:rPr dirty="0"/>
              <a:t> </a:t>
            </a:r>
            <a:r>
              <a:rPr dirty="0" err="1"/>
              <a:t>hỏi</a:t>
            </a:r>
            <a:r>
              <a:rPr dirty="0"/>
              <a:t> </a:t>
            </a:r>
            <a:r>
              <a:rPr dirty="0" err="1"/>
              <a:t>chắc</a:t>
            </a:r>
            <a:r>
              <a:rPr dirty="0"/>
              <a:t> </a:t>
            </a:r>
            <a:r>
              <a:rPr dirty="0" err="1"/>
              <a:t>chắn</a:t>
            </a:r>
            <a:r>
              <a:rPr dirty="0"/>
              <a:t> </a:t>
            </a:r>
            <a:r>
              <a:rPr dirty="0" err="1"/>
              <a:t>sẽ</a:t>
            </a:r>
            <a:r>
              <a:rPr dirty="0"/>
              <a:t> </a:t>
            </a:r>
            <a:r>
              <a:rPr dirty="0" err="1"/>
              <a:t>có</a:t>
            </a:r>
            <a:r>
              <a:rPr dirty="0"/>
              <a:t> </a:t>
            </a:r>
            <a:r>
              <a:rPr dirty="0" err="1"/>
              <a:t>khi</a:t>
            </a:r>
            <a:r>
              <a:rPr dirty="0"/>
              <a:t> </a:t>
            </a:r>
            <a:r>
              <a:rPr dirty="0" err="1"/>
              <a:t>thầy</a:t>
            </a:r>
            <a:r>
              <a:rPr dirty="0"/>
              <a:t> </a:t>
            </a:r>
            <a:r>
              <a:rPr dirty="0" err="1"/>
              <a:t>cô</a:t>
            </a:r>
            <a:r>
              <a:rPr dirty="0"/>
              <a:t> </a:t>
            </a:r>
            <a:r>
              <a:rPr dirty="0" err="1"/>
              <a:t>nhìn</a:t>
            </a:r>
            <a:r>
              <a:rPr dirty="0"/>
              <a:t> </a:t>
            </a:r>
            <a:r>
              <a:rPr dirty="0" err="1"/>
              <a:t>bảng</a:t>
            </a:r>
            <a:r>
              <a:rPr dirty="0"/>
              <a:t> so </a:t>
            </a:r>
            <a:r>
              <a:rPr dirty="0" err="1"/>
              <a:t>sánh</a:t>
            </a:r>
            <a:r>
              <a:rPr dirty="0"/>
              <a:t>: '</a:t>
            </a:r>
            <a:r>
              <a:rPr dirty="0" err="1"/>
              <a:t>sao</a:t>
            </a:r>
            <a:r>
              <a:rPr dirty="0"/>
              <a:t> VAE </a:t>
            </a:r>
            <a:r>
              <a:rPr dirty="0" err="1"/>
              <a:t>lại</a:t>
            </a:r>
            <a:r>
              <a:rPr dirty="0"/>
              <a:t> </a:t>
            </a:r>
            <a:r>
              <a:rPr dirty="0" err="1"/>
              <a:t>tệ</a:t>
            </a:r>
            <a:r>
              <a:rPr dirty="0"/>
              <a:t> </a:t>
            </a:r>
            <a:r>
              <a:rPr dirty="0" err="1"/>
              <a:t>hơn</a:t>
            </a:r>
            <a:r>
              <a:rPr dirty="0"/>
              <a:t>?'. Ba </a:t>
            </a:r>
            <a:r>
              <a:rPr dirty="0" err="1"/>
              <a:t>lý</a:t>
            </a:r>
            <a:r>
              <a:rPr dirty="0"/>
              <a:t> do </a:t>
            </a:r>
            <a:r>
              <a:rPr dirty="0" err="1"/>
              <a:t>đầu</a:t>
            </a:r>
            <a:r>
              <a:rPr dirty="0"/>
              <a:t> </a:t>
            </a:r>
            <a:r>
              <a:rPr dirty="0" err="1"/>
              <a:t>là</a:t>
            </a:r>
            <a:r>
              <a:rPr dirty="0"/>
              <a:t> </a:t>
            </a:r>
            <a:r>
              <a:rPr dirty="0" err="1"/>
              <a:t>bản</a:t>
            </a:r>
            <a:r>
              <a:rPr dirty="0"/>
              <a:t> </a:t>
            </a:r>
            <a:r>
              <a:rPr dirty="0" err="1"/>
              <a:t>chất</a:t>
            </a:r>
            <a:r>
              <a:rPr dirty="0"/>
              <a:t> </a:t>
            </a:r>
            <a:r>
              <a:rPr dirty="0" err="1"/>
              <a:t>của</a:t>
            </a:r>
            <a:r>
              <a:rPr dirty="0"/>
              <a:t> </a:t>
            </a:r>
            <a:r>
              <a:rPr dirty="0" err="1"/>
              <a:t>mô</a:t>
            </a:r>
            <a:r>
              <a:rPr dirty="0"/>
              <a:t> </a:t>
            </a:r>
            <a:r>
              <a:rPr dirty="0" err="1"/>
              <a:t>hình</a:t>
            </a:r>
            <a:r>
              <a:rPr dirty="0"/>
              <a:t>, </a:t>
            </a:r>
            <a:r>
              <a:rPr dirty="0" err="1"/>
              <a:t>lý</a:t>
            </a:r>
            <a:r>
              <a:rPr dirty="0"/>
              <a:t> do </a:t>
            </a:r>
            <a:r>
              <a:rPr dirty="0" err="1"/>
              <a:t>thứ</a:t>
            </a:r>
            <a:r>
              <a:rPr dirty="0"/>
              <a:t> </a:t>
            </a:r>
            <a:r>
              <a:rPr dirty="0" err="1"/>
              <a:t>tư</a:t>
            </a:r>
            <a:r>
              <a:rPr dirty="0"/>
              <a:t> </a:t>
            </a:r>
            <a:r>
              <a:rPr dirty="0" err="1"/>
              <a:t>là</a:t>
            </a:r>
            <a:r>
              <a:rPr dirty="0"/>
              <a:t> </a:t>
            </a:r>
            <a:r>
              <a:rPr dirty="0" err="1"/>
              <a:t>sự</a:t>
            </a:r>
            <a:r>
              <a:rPr dirty="0"/>
              <a:t> </a:t>
            </a:r>
            <a:r>
              <a:rPr dirty="0" err="1"/>
              <a:t>trung</a:t>
            </a:r>
            <a:r>
              <a:rPr dirty="0"/>
              <a:t> </a:t>
            </a:r>
            <a:r>
              <a:rPr dirty="0" err="1"/>
              <a:t>thực</a:t>
            </a:r>
            <a:r>
              <a:rPr dirty="0"/>
              <a:t> </a:t>
            </a:r>
            <a:r>
              <a:rPr dirty="0" err="1"/>
              <a:t>về</a:t>
            </a:r>
            <a:r>
              <a:rPr dirty="0"/>
              <a:t> </a:t>
            </a:r>
            <a:r>
              <a:rPr dirty="0" err="1"/>
              <a:t>mặt</a:t>
            </a:r>
            <a:r>
              <a:rPr dirty="0"/>
              <a:t> </a:t>
            </a:r>
            <a:r>
              <a:rPr dirty="0" err="1"/>
              <a:t>số</a:t>
            </a:r>
            <a:r>
              <a:rPr dirty="0"/>
              <a:t> </a:t>
            </a:r>
            <a:r>
              <a:rPr dirty="0" err="1"/>
              <a:t>liệu</a:t>
            </a:r>
            <a:r>
              <a:rPr dirty="0"/>
              <a:t>. </a:t>
            </a:r>
            <a:r>
              <a:rPr dirty="0" err="1"/>
              <a:t>Nếu</a:t>
            </a:r>
            <a:r>
              <a:rPr dirty="0"/>
              <a:t> </a:t>
            </a:r>
            <a:r>
              <a:rPr dirty="0" err="1"/>
              <a:t>muốn</a:t>
            </a:r>
            <a:r>
              <a:rPr dirty="0"/>
              <a:t> VAE </a:t>
            </a:r>
            <a:r>
              <a:rPr dirty="0" err="1"/>
              <a:t>có</a:t>
            </a:r>
            <a:r>
              <a:rPr dirty="0"/>
              <a:t> recon </a:t>
            </a:r>
            <a:r>
              <a:rPr dirty="0" err="1"/>
              <a:t>thấp</a:t>
            </a:r>
            <a:r>
              <a:rPr dirty="0"/>
              <a:t> </a:t>
            </a:r>
            <a:r>
              <a:rPr dirty="0" err="1"/>
              <a:t>hơn</a:t>
            </a:r>
            <a:r>
              <a:rPr dirty="0"/>
              <a:t>, </a:t>
            </a:r>
            <a:r>
              <a:rPr dirty="0" err="1"/>
              <a:t>cách</a:t>
            </a:r>
            <a:r>
              <a:rPr dirty="0"/>
              <a:t> </a:t>
            </a:r>
            <a:r>
              <a:rPr dirty="0" err="1"/>
              <a:t>trực</a:t>
            </a:r>
            <a:r>
              <a:rPr dirty="0"/>
              <a:t> </a:t>
            </a:r>
            <a:r>
              <a:rPr dirty="0" err="1"/>
              <a:t>tiếp</a:t>
            </a:r>
            <a:r>
              <a:rPr dirty="0"/>
              <a:t> </a:t>
            </a:r>
            <a:r>
              <a:rPr dirty="0" err="1"/>
              <a:t>nhất</a:t>
            </a:r>
            <a:r>
              <a:rPr dirty="0"/>
              <a:t> </a:t>
            </a:r>
            <a:r>
              <a:rPr dirty="0" err="1"/>
              <a:t>là</a:t>
            </a:r>
            <a:r>
              <a:rPr dirty="0"/>
              <a:t> </a:t>
            </a:r>
            <a:r>
              <a:rPr dirty="0" err="1"/>
              <a:t>giảm</a:t>
            </a:r>
            <a:r>
              <a:rPr dirty="0"/>
              <a:t> β — </a:t>
            </a:r>
            <a:r>
              <a:rPr dirty="0" err="1"/>
              <a:t>nhưng</a:t>
            </a:r>
            <a:r>
              <a:rPr dirty="0"/>
              <a:t> β </a:t>
            </a:r>
            <a:r>
              <a:rPr dirty="0" err="1"/>
              <a:t>nhỏ</a:t>
            </a:r>
            <a:r>
              <a:rPr dirty="0"/>
              <a:t> </a:t>
            </a:r>
            <a:r>
              <a:rPr dirty="0" err="1"/>
              <a:t>dần</a:t>
            </a:r>
            <a:r>
              <a:rPr dirty="0"/>
              <a:t> </a:t>
            </a:r>
            <a:r>
              <a:rPr dirty="0" err="1"/>
              <a:t>thì</a:t>
            </a:r>
            <a:r>
              <a:rPr dirty="0"/>
              <a:t> VAE </a:t>
            </a:r>
            <a:r>
              <a:rPr dirty="0" err="1"/>
              <a:t>cũng</a:t>
            </a:r>
            <a:r>
              <a:rPr dirty="0"/>
              <a:t> </a:t>
            </a:r>
            <a:r>
              <a:rPr dirty="0" err="1"/>
              <a:t>thoái</a:t>
            </a:r>
            <a:r>
              <a:rPr dirty="0"/>
              <a:t> </a:t>
            </a:r>
            <a:r>
              <a:rPr dirty="0" err="1"/>
              <a:t>hoá</a:t>
            </a:r>
            <a:r>
              <a:rPr dirty="0"/>
              <a:t> </a:t>
            </a:r>
            <a:r>
              <a:rPr dirty="0" err="1"/>
              <a:t>dần</a:t>
            </a:r>
            <a:r>
              <a:rPr dirty="0"/>
              <a:t> </a:t>
            </a:r>
            <a:r>
              <a:rPr dirty="0" err="1"/>
              <a:t>về</a:t>
            </a:r>
            <a:r>
              <a:rPr dirty="0"/>
              <a:t> </a:t>
            </a:r>
            <a:r>
              <a:rPr dirty="0" err="1"/>
              <a:t>đúng</a:t>
            </a:r>
            <a:r>
              <a:rPr dirty="0"/>
              <a:t> </a:t>
            </a:r>
            <a:r>
              <a:rPr dirty="0" err="1"/>
              <a:t>một</a:t>
            </a:r>
            <a:r>
              <a:rPr dirty="0"/>
              <a:t> AE </a:t>
            </a:r>
            <a:r>
              <a:rPr dirty="0" err="1"/>
              <a:t>thường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Kiến</a:t>
            </a:r>
            <a:r>
              <a:rPr dirty="0"/>
              <a:t> </a:t>
            </a:r>
            <a:r>
              <a:rPr dirty="0" err="1"/>
              <a:t>trúc</a:t>
            </a:r>
            <a:r>
              <a:rPr dirty="0"/>
              <a:t> conv </a:t>
            </a:r>
            <a:r>
              <a:rPr dirty="0" err="1"/>
              <a:t>giữ</a:t>
            </a:r>
            <a:r>
              <a:rPr dirty="0"/>
              <a:t> </a:t>
            </a:r>
            <a:r>
              <a:rPr dirty="0" err="1"/>
              <a:t>nguyên</a:t>
            </a:r>
            <a:r>
              <a:rPr dirty="0"/>
              <a:t> </a:t>
            </a:r>
            <a:r>
              <a:rPr dirty="0" err="1"/>
              <a:t>hoàn</a:t>
            </a:r>
            <a:r>
              <a:rPr dirty="0"/>
              <a:t> </a:t>
            </a:r>
            <a:r>
              <a:rPr dirty="0" err="1"/>
              <a:t>toàn</a:t>
            </a:r>
            <a:r>
              <a:rPr dirty="0"/>
              <a:t> so </a:t>
            </a:r>
            <a:r>
              <a:rPr dirty="0" err="1"/>
              <a:t>với</a:t>
            </a:r>
            <a:r>
              <a:rPr dirty="0"/>
              <a:t> AE; </a:t>
            </a:r>
            <a:r>
              <a:rPr dirty="0" err="1"/>
              <a:t>chỉ</a:t>
            </a:r>
            <a:r>
              <a:rPr dirty="0"/>
              <a:t> </a:t>
            </a:r>
            <a:r>
              <a:rPr dirty="0" err="1"/>
              <a:t>có</a:t>
            </a:r>
            <a:r>
              <a:rPr dirty="0"/>
              <a:t> </a:t>
            </a:r>
            <a:r>
              <a:rPr dirty="0" err="1"/>
              <a:t>ba</a:t>
            </a:r>
            <a:r>
              <a:rPr dirty="0"/>
              <a:t> </a:t>
            </a:r>
            <a:r>
              <a:rPr dirty="0" err="1"/>
              <a:t>thay</a:t>
            </a:r>
            <a:r>
              <a:rPr dirty="0"/>
              <a:t> </a:t>
            </a:r>
            <a:r>
              <a:rPr dirty="0" err="1"/>
              <a:t>đổi</a:t>
            </a:r>
            <a:r>
              <a:rPr dirty="0"/>
              <a:t>: </a:t>
            </a:r>
            <a:r>
              <a:rPr dirty="0" err="1"/>
              <a:t>lớp</a:t>
            </a:r>
            <a:r>
              <a:rPr dirty="0"/>
              <a:t> FC </a:t>
            </a:r>
            <a:r>
              <a:rPr dirty="0" err="1"/>
              <a:t>cuối</a:t>
            </a:r>
            <a:r>
              <a:rPr dirty="0"/>
              <a:t> encoder </a:t>
            </a:r>
            <a:r>
              <a:rPr dirty="0" err="1"/>
              <a:t>tách</a:t>
            </a:r>
            <a:r>
              <a:rPr dirty="0"/>
              <a:t> </a:t>
            </a:r>
            <a:r>
              <a:rPr dirty="0" err="1"/>
              <a:t>thành</a:t>
            </a:r>
            <a:r>
              <a:rPr dirty="0"/>
              <a:t> </a:t>
            </a:r>
            <a:r>
              <a:rPr dirty="0" err="1"/>
              <a:t>hai</a:t>
            </a:r>
            <a:r>
              <a:rPr dirty="0"/>
              <a:t> </a:t>
            </a:r>
            <a:r>
              <a:rPr dirty="0" err="1"/>
              <a:t>đầu</a:t>
            </a:r>
            <a:r>
              <a:rPr dirty="0"/>
              <a:t> ra μ </a:t>
            </a:r>
            <a:r>
              <a:rPr dirty="0" err="1"/>
              <a:t>và</a:t>
            </a:r>
            <a:r>
              <a:rPr dirty="0"/>
              <a:t> log σ², </a:t>
            </a:r>
            <a:r>
              <a:rPr dirty="0" err="1"/>
              <a:t>thêm</a:t>
            </a:r>
            <a:r>
              <a:rPr dirty="0"/>
              <a:t> </a:t>
            </a:r>
            <a:r>
              <a:rPr dirty="0" err="1"/>
              <a:t>bước</a:t>
            </a:r>
            <a:r>
              <a:rPr dirty="0"/>
              <a:t> </a:t>
            </a:r>
            <a:r>
              <a:rPr dirty="0" err="1"/>
              <a:t>lấy</a:t>
            </a:r>
            <a:r>
              <a:rPr dirty="0"/>
              <a:t> </a:t>
            </a:r>
            <a:r>
              <a:rPr dirty="0" err="1"/>
              <a:t>mẫu</a:t>
            </a:r>
            <a:r>
              <a:rPr dirty="0"/>
              <a:t> </a:t>
            </a:r>
            <a:r>
              <a:rPr dirty="0" err="1"/>
              <a:t>bằng</a:t>
            </a:r>
            <a:r>
              <a:rPr dirty="0"/>
              <a:t> reparameterization, </a:t>
            </a:r>
            <a:r>
              <a:rPr dirty="0" err="1"/>
              <a:t>và</a:t>
            </a:r>
            <a:r>
              <a:rPr dirty="0"/>
              <a:t> </a:t>
            </a:r>
            <a:r>
              <a:rPr dirty="0" err="1"/>
              <a:t>thêm</a:t>
            </a:r>
            <a:r>
              <a:rPr dirty="0"/>
              <a:t> </a:t>
            </a:r>
            <a:r>
              <a:rPr dirty="0" err="1"/>
              <a:t>số</a:t>
            </a:r>
            <a:r>
              <a:rPr dirty="0"/>
              <a:t> </a:t>
            </a:r>
            <a:r>
              <a:rPr dirty="0" err="1"/>
              <a:t>hạng</a:t>
            </a:r>
            <a:r>
              <a:rPr dirty="0"/>
              <a:t> KL </a:t>
            </a:r>
            <a:r>
              <a:rPr dirty="0" err="1"/>
              <a:t>vào</a:t>
            </a:r>
            <a:r>
              <a:rPr dirty="0"/>
              <a:t> </a:t>
            </a:r>
            <a:r>
              <a:rPr dirty="0" err="1"/>
              <a:t>hàm</a:t>
            </a:r>
            <a:r>
              <a:rPr dirty="0"/>
              <a:t> </a:t>
            </a:r>
            <a:r>
              <a:rPr dirty="0" err="1"/>
              <a:t>mất</a:t>
            </a:r>
            <a:r>
              <a:rPr dirty="0"/>
              <a:t> </a:t>
            </a:r>
            <a:r>
              <a:rPr dirty="0" err="1"/>
              <a:t>mát</a:t>
            </a:r>
            <a:r>
              <a:rPr dirty="0"/>
              <a:t>. Ở </a:t>
            </a:r>
            <a:r>
              <a:rPr dirty="0" err="1"/>
              <a:t>chế</a:t>
            </a:r>
            <a:r>
              <a:rPr dirty="0"/>
              <a:t> </a:t>
            </a:r>
            <a:r>
              <a:rPr dirty="0" err="1"/>
              <a:t>độ</a:t>
            </a:r>
            <a:r>
              <a:rPr dirty="0"/>
              <a:t> eval ta </a:t>
            </a:r>
            <a:r>
              <a:rPr dirty="0" err="1"/>
              <a:t>dùng</a:t>
            </a:r>
            <a:r>
              <a:rPr dirty="0"/>
              <a:t> </a:t>
            </a:r>
            <a:r>
              <a:rPr dirty="0" err="1"/>
              <a:t>thẳng</a:t>
            </a:r>
            <a:r>
              <a:rPr dirty="0"/>
              <a:t> μ </a:t>
            </a:r>
            <a:r>
              <a:rPr dirty="0" err="1"/>
              <a:t>nên</a:t>
            </a:r>
            <a:r>
              <a:rPr dirty="0"/>
              <a:t> </a:t>
            </a:r>
            <a:r>
              <a:rPr dirty="0" err="1"/>
              <a:t>kết</a:t>
            </a:r>
            <a:r>
              <a:rPr dirty="0"/>
              <a:t> </a:t>
            </a:r>
            <a:r>
              <a:rPr dirty="0" err="1"/>
              <a:t>quả</a:t>
            </a:r>
            <a:r>
              <a:rPr dirty="0"/>
              <a:t> </a:t>
            </a:r>
            <a:r>
              <a:rPr dirty="0" err="1"/>
              <a:t>tái</a:t>
            </a:r>
            <a:r>
              <a:rPr dirty="0"/>
              <a:t> </a:t>
            </a:r>
            <a:r>
              <a:rPr dirty="0" err="1"/>
              <a:t>tạo</a:t>
            </a:r>
            <a:r>
              <a:rPr dirty="0"/>
              <a:t> </a:t>
            </a:r>
            <a:r>
              <a:rPr dirty="0" err="1"/>
              <a:t>là</a:t>
            </a:r>
            <a:r>
              <a:rPr dirty="0"/>
              <a:t> </a:t>
            </a:r>
            <a:r>
              <a:rPr dirty="0" err="1"/>
              <a:t>tất</a:t>
            </a:r>
            <a:r>
              <a:rPr dirty="0"/>
              <a:t> </a:t>
            </a:r>
            <a:r>
              <a:rPr dirty="0" err="1"/>
              <a:t>định</a:t>
            </a:r>
            <a:r>
              <a:rPr dirty="0"/>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990011"/>
          </a:solidFill>
          <a:ln/>
        </p:spPr>
        <p:txBody>
          <a:bodyPr/>
          <a:lstStyle/>
          <a:p>
            <a:endParaRPr/>
          </a:p>
        </p:txBody>
      </p:sp>
      <p:sp>
        <p:nvSpPr>
          <p:cNvPr id="3" name="Shape 1"/>
          <p:cNvSpPr/>
          <p:nvPr/>
        </p:nvSpPr>
        <p:spPr>
          <a:xfrm>
            <a:off x="8778240" y="914400"/>
            <a:ext cx="3291840" cy="3291840"/>
          </a:xfrm>
          <a:prstGeom prst="ellipse">
            <a:avLst/>
          </a:prstGeom>
          <a:solidFill>
            <a:srgbClr val="660000"/>
          </a:solidFill>
          <a:ln/>
        </p:spPr>
        <p:txBody>
          <a:bodyPr/>
          <a:lstStyle/>
          <a:p>
            <a:endParaRPr/>
          </a:p>
        </p:txBody>
      </p:sp>
      <p:sp>
        <p:nvSpPr>
          <p:cNvPr id="4" name="Shape 2"/>
          <p:cNvSpPr/>
          <p:nvPr/>
        </p:nvSpPr>
        <p:spPr>
          <a:xfrm>
            <a:off x="9464040" y="1600200"/>
            <a:ext cx="1920240" cy="1920240"/>
          </a:xfrm>
          <a:prstGeom prst="ellipse">
            <a:avLst/>
          </a:prstGeom>
          <a:solidFill>
            <a:srgbClr val="C23B4B"/>
          </a:solidFill>
          <a:ln/>
        </p:spPr>
        <p:txBody>
          <a:bodyPr/>
          <a:lstStyle/>
          <a:p>
            <a:endParaRPr/>
          </a:p>
        </p:txBody>
      </p:sp>
      <p:sp>
        <p:nvSpPr>
          <p:cNvPr id="5" name="Shape 3"/>
          <p:cNvSpPr/>
          <p:nvPr/>
        </p:nvSpPr>
        <p:spPr>
          <a:xfrm>
            <a:off x="10012680" y="2148840"/>
            <a:ext cx="822960" cy="822960"/>
          </a:xfrm>
          <a:prstGeom prst="ellipse">
            <a:avLst/>
          </a:prstGeom>
          <a:solidFill>
            <a:srgbClr val="FFFFFF"/>
          </a:solidFill>
          <a:ln/>
        </p:spPr>
        <p:txBody>
          <a:bodyPr/>
          <a:lstStyle/>
          <a:p>
            <a:endParaRPr/>
          </a:p>
        </p:txBody>
      </p:sp>
      <p:sp>
        <p:nvSpPr>
          <p:cNvPr id="6" name="Text 4"/>
          <p:cNvSpPr/>
          <p:nvPr/>
        </p:nvSpPr>
        <p:spPr>
          <a:xfrm>
            <a:off x="640080" y="1554480"/>
            <a:ext cx="6949440" cy="365760"/>
          </a:xfrm>
          <a:prstGeom prst="rect">
            <a:avLst/>
          </a:prstGeom>
          <a:noFill/>
          <a:ln/>
        </p:spPr>
        <p:txBody>
          <a:bodyPr wrap="square" rtlCol="0" anchor="ctr"/>
          <a:lstStyle/>
          <a:p>
            <a:pPr marL="0" indent="0">
              <a:buNone/>
            </a:pPr>
            <a:r>
              <a:rPr lang="en-US" sz="1400" b="1" kern="0" spc="200" dirty="0">
                <a:solidFill>
                  <a:srgbClr val="990011"/>
                </a:solidFill>
                <a:latin typeface="Calibri" pitchFamily="34" charset="0"/>
                <a:ea typeface="Calibri" pitchFamily="34" charset="-122"/>
                <a:cs typeface="Calibri" pitchFamily="34" charset="-120"/>
              </a:rPr>
              <a:t>ĐỀ TÀI 9 · MÔ HÌNH SINH</a:t>
            </a:r>
            <a:endParaRPr lang="en-US" sz="1400" dirty="0"/>
          </a:p>
        </p:txBody>
      </p:sp>
      <p:sp>
        <p:nvSpPr>
          <p:cNvPr id="7" name="Text 5"/>
          <p:cNvSpPr/>
          <p:nvPr/>
        </p:nvSpPr>
        <p:spPr>
          <a:xfrm>
            <a:off x="594360" y="1965960"/>
            <a:ext cx="7132320" cy="1188720"/>
          </a:xfrm>
          <a:prstGeom prst="rect">
            <a:avLst/>
          </a:prstGeom>
          <a:noFill/>
          <a:ln/>
        </p:spPr>
        <p:txBody>
          <a:bodyPr wrap="square" rtlCol="0" anchor="ctr"/>
          <a:lstStyle/>
          <a:p>
            <a:pPr marL="0" indent="0">
              <a:buNone/>
            </a:pPr>
            <a:r>
              <a:rPr lang="en-US" sz="5400" b="1" dirty="0">
                <a:solidFill>
                  <a:srgbClr val="660000"/>
                </a:solidFill>
                <a:latin typeface="Cambria" pitchFamily="34" charset="0"/>
                <a:ea typeface="Cambria" pitchFamily="34" charset="-122"/>
                <a:cs typeface="Cambria" pitchFamily="34" charset="-120"/>
              </a:rPr>
              <a:t>AUTOENCODER</a:t>
            </a:r>
            <a:endParaRPr lang="en-US" sz="5400" dirty="0"/>
          </a:p>
        </p:txBody>
      </p:sp>
      <p:sp>
        <p:nvSpPr>
          <p:cNvPr id="8" name="Text 6"/>
          <p:cNvSpPr/>
          <p:nvPr/>
        </p:nvSpPr>
        <p:spPr>
          <a:xfrm>
            <a:off x="640080" y="3063240"/>
            <a:ext cx="6858000" cy="822960"/>
          </a:xfrm>
          <a:prstGeom prst="rect">
            <a:avLst/>
          </a:prstGeom>
          <a:noFill/>
          <a:ln/>
        </p:spPr>
        <p:txBody>
          <a:bodyPr wrap="square" rtlCol="0" anchor="ctr"/>
          <a:lstStyle/>
          <a:p>
            <a:pPr marL="0" indent="0">
              <a:buNone/>
            </a:pPr>
            <a:r>
              <a:rPr lang="en-US" sz="1600" i="1" dirty="0">
                <a:solidFill>
                  <a:srgbClr val="4A4A4A"/>
                </a:solidFill>
                <a:latin typeface="Calibri" pitchFamily="34" charset="0"/>
                <a:ea typeface="Calibri" pitchFamily="34" charset="-122"/>
                <a:cs typeface="Calibri" pitchFamily="34" charset="-120"/>
              </a:rPr>
              <a:t>Nén và tái tạo ảnh MNIST — khảo sát không gian ẩn</a:t>
            </a:r>
            <a:endParaRPr lang="en-US" sz="1600" dirty="0"/>
          </a:p>
          <a:p>
            <a:pPr marL="0" indent="0">
              <a:buNone/>
            </a:pPr>
            <a:r>
              <a:rPr lang="en-US" sz="1600" i="1" dirty="0">
                <a:solidFill>
                  <a:srgbClr val="4A4A4A"/>
                </a:solidFill>
                <a:latin typeface="Calibri" pitchFamily="34" charset="0"/>
                <a:ea typeface="Calibri" pitchFamily="34" charset="-122"/>
                <a:cs typeface="Calibri" pitchFamily="34" charset="-120"/>
              </a:rPr>
              <a:t>và ứng dụng phát hiện bất thường</a:t>
            </a:r>
            <a:endParaRPr lang="en-US" sz="1600" dirty="0"/>
          </a:p>
        </p:txBody>
      </p:sp>
      <p:sp>
        <p:nvSpPr>
          <p:cNvPr id="9" name="Text 7"/>
          <p:cNvSpPr/>
          <p:nvPr/>
        </p:nvSpPr>
        <p:spPr>
          <a:xfrm>
            <a:off x="640080" y="4343400"/>
            <a:ext cx="6766560" cy="914400"/>
          </a:xfrm>
          <a:prstGeom prst="rect">
            <a:avLst/>
          </a:prstGeom>
          <a:noFill/>
          <a:ln/>
        </p:spPr>
        <p:txBody>
          <a:bodyPr wrap="square" rtlCol="0" anchor="t"/>
          <a:lstStyle/>
          <a:p>
            <a:pPr marL="0" indent="0">
              <a:lnSpc>
                <a:spcPct val="125000"/>
              </a:lnSpc>
              <a:buNone/>
            </a:pPr>
            <a:r>
              <a:rPr lang="en-US" sz="1300" b="1" dirty="0">
                <a:solidFill>
                  <a:srgbClr val="660000"/>
                </a:solidFill>
                <a:latin typeface="Calibri" pitchFamily="34" charset="0"/>
                <a:ea typeface="Calibri" pitchFamily="34" charset="-122"/>
                <a:cs typeface="Calibri" pitchFamily="34" charset="-120"/>
              </a:rPr>
              <a:t>Phạm vi báo cáo này: </a:t>
            </a:r>
            <a:r>
              <a:rPr lang="en-US" sz="1300" dirty="0">
                <a:solidFill>
                  <a:srgbClr val="4A4A4A"/>
                </a:solidFill>
                <a:latin typeface="Calibri" pitchFamily="34" charset="0"/>
                <a:ea typeface="Calibri" pitchFamily="34" charset="-122"/>
                <a:cs typeface="Calibri" pitchFamily="34" charset="-120"/>
              </a:rPr>
              <a:t> Autoencoder (AE) và Variational Autoencoder (VAE) — kiến trúc, hàm mất mát, khảo sát latent dim {2, 8, 32, 128}, so sánh AE ↔ VAE và ứng dụng phát hiện bất thường.</a:t>
            </a:r>
            <a:endParaRPr lang="en-US" sz="1300" dirty="0"/>
          </a:p>
        </p:txBody>
      </p:sp>
      <p:sp>
        <p:nvSpPr>
          <p:cNvPr id="10" name="Text 8"/>
          <p:cNvSpPr/>
          <p:nvPr/>
        </p:nvSpPr>
        <p:spPr>
          <a:xfrm>
            <a:off x="640080" y="6126480"/>
            <a:ext cx="6858000" cy="365760"/>
          </a:xfrm>
          <a:prstGeom prst="rect">
            <a:avLst/>
          </a:prstGeom>
          <a:noFill/>
          <a:ln/>
        </p:spPr>
        <p:txBody>
          <a:bodyPr wrap="square" rtlCol="0" anchor="ctr"/>
          <a:lstStyle/>
          <a:p>
            <a:pPr marL="0" indent="0">
              <a:buNone/>
            </a:pPr>
            <a:r>
              <a:rPr lang="en-US" sz="1100" dirty="0">
                <a:solidFill>
                  <a:srgbClr val="8A8A8A"/>
                </a:solidFill>
                <a:latin typeface="Calibri" pitchFamily="34" charset="0"/>
                <a:ea typeface="Calibri" pitchFamily="34" charset="-122"/>
                <a:cs typeface="Calibri" pitchFamily="34" charset="-120"/>
              </a:rPr>
              <a:t>Nhóm học phần Học sâu · Dữ liệu: MNIST · Seed 42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01 · GIỚI THIỆU &amp; KIẾN TRÚC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Bài toán, động cơ và mô hình Autoencoder</a:t>
            </a:r>
            <a:endParaRPr lang="en-US" sz="3000" dirty="0"/>
          </a:p>
        </p:txBody>
      </p:sp>
      <p:sp>
        <p:nvSpPr>
          <p:cNvPr id="4" name="Shape 2"/>
          <p:cNvSpPr/>
          <p:nvPr/>
        </p:nvSpPr>
        <p:spPr>
          <a:xfrm>
            <a:off x="548640" y="1719072"/>
            <a:ext cx="146304" cy="146304"/>
          </a:xfrm>
          <a:prstGeom prst="ellipse">
            <a:avLst/>
          </a:prstGeom>
          <a:solidFill>
            <a:srgbClr val="990011"/>
          </a:solidFill>
          <a:ln/>
        </p:spPr>
        <p:txBody>
          <a:bodyPr/>
          <a:lstStyle/>
          <a:p>
            <a:endParaRPr/>
          </a:p>
        </p:txBody>
      </p:sp>
      <p:sp>
        <p:nvSpPr>
          <p:cNvPr id="5" name="Text 3"/>
          <p:cNvSpPr/>
          <p:nvPr/>
        </p:nvSpPr>
        <p:spPr>
          <a:xfrm>
            <a:off x="822960" y="161848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Bài toán</a:t>
            </a:r>
            <a:endParaRPr lang="en-US" sz="1500" dirty="0"/>
          </a:p>
        </p:txBody>
      </p:sp>
      <p:sp>
        <p:nvSpPr>
          <p:cNvPr id="6" name="Text 4"/>
          <p:cNvSpPr/>
          <p:nvPr/>
        </p:nvSpPr>
        <p:spPr>
          <a:xfrm>
            <a:off x="822960" y="194767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Học một phép biến đổi không giám sát nén ảnh 28×28 về một vector ẩn z chiều thấp, rồi tái tạo lại ảnh gốc từ z với sai số nhỏ nhất.</a:t>
            </a:r>
            <a:endParaRPr lang="en-US" sz="1200" dirty="0"/>
          </a:p>
        </p:txBody>
      </p:sp>
      <p:sp>
        <p:nvSpPr>
          <p:cNvPr id="7" name="Shape 5"/>
          <p:cNvSpPr/>
          <p:nvPr/>
        </p:nvSpPr>
        <p:spPr>
          <a:xfrm>
            <a:off x="548640" y="3136392"/>
            <a:ext cx="146304" cy="146304"/>
          </a:xfrm>
          <a:prstGeom prst="ellipse">
            <a:avLst/>
          </a:prstGeom>
          <a:solidFill>
            <a:srgbClr val="990011"/>
          </a:solidFill>
          <a:ln/>
        </p:spPr>
        <p:txBody>
          <a:bodyPr/>
          <a:lstStyle/>
          <a:p>
            <a:endParaRPr/>
          </a:p>
        </p:txBody>
      </p:sp>
      <p:sp>
        <p:nvSpPr>
          <p:cNvPr id="8" name="Text 6"/>
          <p:cNvSpPr/>
          <p:nvPr/>
        </p:nvSpPr>
        <p:spPr>
          <a:xfrm>
            <a:off x="822960" y="303580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Động cơ</a:t>
            </a:r>
            <a:endParaRPr lang="en-US" sz="1500" dirty="0"/>
          </a:p>
        </p:txBody>
      </p:sp>
      <p:sp>
        <p:nvSpPr>
          <p:cNvPr id="9" name="Text 7"/>
          <p:cNvSpPr/>
          <p:nvPr/>
        </p:nvSpPr>
        <p:spPr>
          <a:xfrm>
            <a:off x="822960" y="336499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AE là nền tảng để hiểu VAE (thêm ràng buộc xác suất + KL) và GAN (thêm bộ phân biệt). Đồng thời AE tự nó hữu ích cho giảm chiều và phát hiện bất thường.</a:t>
            </a:r>
            <a:endParaRPr lang="en-US" sz="1200" dirty="0"/>
          </a:p>
        </p:txBody>
      </p:sp>
      <p:sp>
        <p:nvSpPr>
          <p:cNvPr id="10" name="Shape 8"/>
          <p:cNvSpPr/>
          <p:nvPr/>
        </p:nvSpPr>
        <p:spPr>
          <a:xfrm>
            <a:off x="548640" y="4553712"/>
            <a:ext cx="146304" cy="146304"/>
          </a:xfrm>
          <a:prstGeom prst="ellipse">
            <a:avLst/>
          </a:prstGeom>
          <a:solidFill>
            <a:srgbClr val="990011"/>
          </a:solidFill>
          <a:ln/>
        </p:spPr>
        <p:txBody>
          <a:bodyPr/>
          <a:lstStyle/>
          <a:p>
            <a:endParaRPr/>
          </a:p>
        </p:txBody>
      </p:sp>
      <p:sp>
        <p:nvSpPr>
          <p:cNvPr id="11" name="Text 9"/>
          <p:cNvSpPr/>
          <p:nvPr/>
        </p:nvSpPr>
        <p:spPr>
          <a:xfrm>
            <a:off x="822960" y="4453128"/>
            <a:ext cx="5760720" cy="320040"/>
          </a:xfrm>
          <a:prstGeom prst="rect">
            <a:avLst/>
          </a:prstGeom>
          <a:noFill/>
          <a:ln/>
        </p:spPr>
        <p:txBody>
          <a:bodyPr wrap="square" rtlCol="0" anchor="ctr"/>
          <a:lstStyle/>
          <a:p>
            <a:pPr marL="0" indent="0">
              <a:buNone/>
            </a:pPr>
            <a:r>
              <a:rPr lang="en-US" sz="1500" b="1" dirty="0">
                <a:solidFill>
                  <a:srgbClr val="660000"/>
                </a:solidFill>
                <a:latin typeface="Cambria" pitchFamily="34" charset="0"/>
                <a:ea typeface="Cambria" pitchFamily="34" charset="-122"/>
                <a:cs typeface="Cambria" pitchFamily="34" charset="-120"/>
              </a:rPr>
              <a:t>Đóng góp của nhóm (phần AE)</a:t>
            </a:r>
            <a:endParaRPr lang="en-US" sz="1500" dirty="0"/>
          </a:p>
        </p:txBody>
      </p:sp>
      <p:sp>
        <p:nvSpPr>
          <p:cNvPr id="12" name="Text 10"/>
          <p:cNvSpPr/>
          <p:nvPr/>
        </p:nvSpPr>
        <p:spPr>
          <a:xfrm>
            <a:off x="822960" y="4782312"/>
            <a:ext cx="5806440" cy="868680"/>
          </a:xfrm>
          <a:prstGeom prst="rect">
            <a:avLst/>
          </a:prstGeom>
          <a:noFill/>
          <a:ln/>
        </p:spPr>
        <p:txBody>
          <a:bodyPr wrap="square" rtlCol="0" anchor="t"/>
          <a:lstStyle/>
          <a:p>
            <a:pPr marL="0" indent="0">
              <a:lnSpc>
                <a:spcPct val="120000"/>
              </a:lnSpc>
              <a:buNone/>
            </a:pPr>
            <a:r>
              <a:rPr lang="en-US" sz="1200" dirty="0">
                <a:solidFill>
                  <a:srgbClr val="4A4A4A"/>
                </a:solidFill>
                <a:latin typeface="Calibri" pitchFamily="34" charset="0"/>
                <a:ea typeface="Calibri" pitchFamily="34" charset="-122"/>
                <a:cs typeface="Calibri" pitchFamily="34" charset="-120"/>
              </a:rPr>
              <a:t>Cài đặt Conv-Autoencoder bằng PyTorch, huấn luyện với hai hàm mất mát (MSE, BCE) trên 4 mức latent dim (2, 8, 32, 128), phân tích ảnh hưởng của latent dim tới chất lượng tái tạo, và triển khai ứng dụng phát hiện bất thường bằng sai số tái tạo.</a:t>
            </a:r>
            <a:endParaRPr lang="en-US" sz="1200" dirty="0"/>
          </a:p>
        </p:txBody>
      </p:sp>
      <p:sp>
        <p:nvSpPr>
          <p:cNvPr id="13" name="Shape 11"/>
          <p:cNvSpPr/>
          <p:nvPr/>
        </p:nvSpPr>
        <p:spPr>
          <a:xfrm>
            <a:off x="6903720" y="1600200"/>
            <a:ext cx="4754880" cy="4434840"/>
          </a:xfrm>
          <a:prstGeom prst="roundRect">
            <a:avLst>
              <a:gd name="adj" fmla="val 2474"/>
            </a:avLst>
          </a:prstGeom>
          <a:solidFill>
            <a:srgbClr val="FDEEF0"/>
          </a:solidFill>
          <a:ln w="12700">
            <a:solidFill>
              <a:srgbClr val="F1C6CC"/>
            </a:solidFill>
            <a:prstDash val="solid"/>
          </a:ln>
        </p:spPr>
      </p:sp>
      <p:sp>
        <p:nvSpPr>
          <p:cNvPr id="14" name="Text 12"/>
          <p:cNvSpPr/>
          <p:nvPr/>
        </p:nvSpPr>
        <p:spPr>
          <a:xfrm>
            <a:off x="7178040" y="1783080"/>
            <a:ext cx="4206240" cy="320040"/>
          </a:xfrm>
          <a:prstGeom prst="rect">
            <a:avLst/>
          </a:prstGeom>
          <a:noFill/>
          <a:ln/>
        </p:spPr>
        <p:txBody>
          <a:bodyPr wrap="square" rtlCol="0" anchor="ctr"/>
          <a:lstStyle/>
          <a:p>
            <a:pPr marL="0" indent="0">
              <a:buNone/>
            </a:pPr>
            <a:r>
              <a:rPr lang="en-US" sz="1200" b="1" kern="0" spc="100" dirty="0">
                <a:solidFill>
                  <a:srgbClr val="990011"/>
                </a:solidFill>
                <a:latin typeface="Calibri" pitchFamily="34" charset="0"/>
                <a:ea typeface="Calibri" pitchFamily="34" charset="-122"/>
                <a:cs typeface="Calibri" pitchFamily="34" charset="-120"/>
              </a:rPr>
              <a:t>KIẾN TRÚC CONV-AUTOENCODER</a:t>
            </a:r>
            <a:endParaRPr lang="en-US" sz="1200" dirty="0"/>
          </a:p>
        </p:txBody>
      </p:sp>
      <p:pic>
        <p:nvPicPr>
          <p:cNvPr id="15" name="Image 0" descr="chart_architecture.png"/>
          <p:cNvPicPr>
            <a:picLocks noChangeAspect="1"/>
          </p:cNvPicPr>
          <p:nvPr/>
        </p:nvPicPr>
        <p:blipFill>
          <a:blip r:embed="rId3"/>
          <a:stretch>
            <a:fillRect/>
          </a:stretch>
        </p:blipFill>
        <p:spPr>
          <a:xfrm>
            <a:off x="7132320" y="2194560"/>
            <a:ext cx="4297680" cy="1417320"/>
          </a:xfrm>
          <a:prstGeom prst="rect">
            <a:avLst/>
          </a:prstGeom>
        </p:spPr>
      </p:pic>
      <p:sp>
        <p:nvSpPr>
          <p:cNvPr id="16" name="Text 13"/>
          <p:cNvSpPr/>
          <p:nvPr/>
        </p:nvSpPr>
        <p:spPr>
          <a:xfrm>
            <a:off x="7178040" y="3794760"/>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Encoder: Conv(1→32,k4,s2) → Conv(32→64,k4,s2) → BatchNorm+ReLU → FC(64·7·7 → d)</a:t>
            </a:r>
            <a:endParaRPr lang="en-US" sz="1050" dirty="0"/>
          </a:p>
        </p:txBody>
      </p:sp>
      <p:sp>
        <p:nvSpPr>
          <p:cNvPr id="17" name="Text 14"/>
          <p:cNvSpPr/>
          <p:nvPr/>
        </p:nvSpPr>
        <p:spPr>
          <a:xfrm>
            <a:off x="7178040" y="4453128"/>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Decoder: FC(d → 64·7·7) → ConvTranspose(64→32) → ConvTranspose(32→1) → Sigmoid</a:t>
            </a:r>
            <a:endParaRPr lang="en-US" sz="1050" dirty="0"/>
          </a:p>
        </p:txBody>
      </p:sp>
      <p:sp>
        <p:nvSpPr>
          <p:cNvPr id="18" name="Text 15"/>
          <p:cNvSpPr/>
          <p:nvPr/>
        </p:nvSpPr>
        <p:spPr>
          <a:xfrm>
            <a:off x="7178040" y="5111496"/>
            <a:ext cx="4206240" cy="594360"/>
          </a:xfrm>
          <a:prstGeom prst="rect">
            <a:avLst/>
          </a:prstGeom>
          <a:noFill/>
          <a:ln/>
        </p:spPr>
        <p:txBody>
          <a:bodyPr wrap="square" rtlCol="0" anchor="t"/>
          <a:lstStyle/>
          <a:p>
            <a:pPr marL="0" indent="0">
              <a:lnSpc>
                <a:spcPct val="115000"/>
              </a:lnSpc>
              <a:buNone/>
            </a:pPr>
            <a:r>
              <a:rPr lang="en-US" sz="1050" b="1" dirty="0">
                <a:solidFill>
                  <a:srgbClr val="990011"/>
                </a:solidFill>
                <a:latin typeface="Consolas" pitchFamily="34" charset="0"/>
                <a:ea typeface="Consolas" pitchFamily="34" charset="-122"/>
                <a:cs typeface="Consolas" pitchFamily="34" charset="-120"/>
              </a:rPr>
              <a:t>▸ </a:t>
            </a:r>
            <a:r>
              <a:rPr lang="en-US" sz="1050" dirty="0">
                <a:solidFill>
                  <a:srgbClr val="4A4A4A"/>
                </a:solidFill>
                <a:latin typeface="Consolas" pitchFamily="34" charset="0"/>
                <a:ea typeface="Consolas" pitchFamily="34" charset="-122"/>
                <a:cs typeface="Consolas" pitchFamily="34" charset="-120"/>
              </a:rPr>
              <a:t>z ∈ ℝᵈ với d ∈ {2, 8, 32, 128}</a:t>
            </a:r>
            <a:endParaRPr lang="en-US" sz="1050" dirty="0"/>
          </a:p>
        </p:txBody>
      </p:sp>
      <p:sp>
        <p:nvSpPr>
          <p:cNvPr id="19" name="Text 16"/>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0" name="Text 1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01 · GIỚI THIỆU &amp; KIẾN TRÚC 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Kiến trúc Conv-Autoencoder chi tiết</a:t>
            </a:r>
          </a:p>
        </p:txBody>
      </p:sp>
      <p:pic>
        <p:nvPicPr>
          <p:cNvPr id="4" name="Picture 3" descr="arch_pipeline.png"/>
          <p:cNvPicPr>
            <a:picLocks noChangeAspect="1"/>
          </p:cNvPicPr>
          <p:nvPr/>
        </p:nvPicPr>
        <p:blipFill>
          <a:blip r:embed="rId3"/>
          <a:stretch>
            <a:fillRect/>
          </a:stretch>
        </p:blipFill>
        <p:spPr>
          <a:xfrm>
            <a:off x="457200" y="1554480"/>
            <a:ext cx="11274552" cy="3114166"/>
          </a:xfrm>
          <a:prstGeom prst="rect">
            <a:avLst/>
          </a:prstGeom>
        </p:spPr>
      </p:pic>
      <p:sp>
        <p:nvSpPr>
          <p:cNvPr id="5" name="Rounded Rectangle 4"/>
          <p:cNvSpPr/>
          <p:nvPr/>
        </p:nvSpPr>
        <p:spPr>
          <a:xfrm>
            <a:off x="457200"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4956048"/>
            <a:ext cx="3209544" cy="274320"/>
          </a:xfrm>
          <a:prstGeom prst="rect">
            <a:avLst/>
          </a:prstGeom>
          <a:noFill/>
        </p:spPr>
        <p:txBody>
          <a:bodyPr wrap="square" anchor="ctr">
            <a:spAutoFit/>
          </a:bodyPr>
          <a:lstStyle/>
          <a:p>
            <a:pPr algn="l"/>
            <a:r>
              <a:rPr sz="1100" b="1" i="0" spc="100">
                <a:solidFill>
                  <a:srgbClr val="990011"/>
                </a:solidFill>
                <a:latin typeface="Calibri"/>
              </a:rPr>
              <a:t>ENCODER — GIẢM DẦN KÍCH THƯỚC</a:t>
            </a:r>
          </a:p>
        </p:txBody>
      </p:sp>
      <p:sp>
        <p:nvSpPr>
          <p:cNvPr id="7" name="TextBox 6"/>
          <p:cNvSpPr txBox="1"/>
          <p:nvPr/>
        </p:nvSpPr>
        <p:spPr>
          <a:xfrm>
            <a:off x="640080" y="5303520"/>
            <a:ext cx="3255264" cy="274320"/>
          </a:xfrm>
          <a:prstGeom prst="rect">
            <a:avLst/>
          </a:prstGeom>
          <a:noFill/>
        </p:spPr>
        <p:txBody>
          <a:bodyPr wrap="square" anchor="ctr">
            <a:spAutoFit/>
          </a:bodyPr>
          <a:lstStyle/>
          <a:p>
            <a:pPr algn="l"/>
            <a:r>
              <a:rPr sz="900" b="0" i="0">
                <a:solidFill>
                  <a:srgbClr val="660000"/>
                </a:solidFill>
                <a:latin typeface="Consolas"/>
              </a:rPr>
              <a:t>Conv2d 1→32 · k4 s2 · BN+ReLU → 32×14×14</a:t>
            </a:r>
          </a:p>
        </p:txBody>
      </p:sp>
      <p:sp>
        <p:nvSpPr>
          <p:cNvPr id="8" name="TextBox 7"/>
          <p:cNvSpPr txBox="1"/>
          <p:nvPr/>
        </p:nvSpPr>
        <p:spPr>
          <a:xfrm>
            <a:off x="640080" y="5605272"/>
            <a:ext cx="3255264" cy="274320"/>
          </a:xfrm>
          <a:prstGeom prst="rect">
            <a:avLst/>
          </a:prstGeom>
          <a:noFill/>
        </p:spPr>
        <p:txBody>
          <a:bodyPr wrap="square" anchor="ctr">
            <a:spAutoFit/>
          </a:bodyPr>
          <a:lstStyle/>
          <a:p>
            <a:pPr algn="l"/>
            <a:r>
              <a:rPr sz="900" b="0" i="0">
                <a:solidFill>
                  <a:srgbClr val="660000"/>
                </a:solidFill>
                <a:latin typeface="Consolas"/>
              </a:rPr>
              <a:t>Conv2d 32→64 · k4 s2 · BN+ReLU → 64×7×7</a:t>
            </a:r>
          </a:p>
        </p:txBody>
      </p:sp>
      <p:sp>
        <p:nvSpPr>
          <p:cNvPr id="9" name="TextBox 8"/>
          <p:cNvSpPr txBox="1"/>
          <p:nvPr/>
        </p:nvSpPr>
        <p:spPr>
          <a:xfrm>
            <a:off x="640080" y="5907024"/>
            <a:ext cx="3255264" cy="274320"/>
          </a:xfrm>
          <a:prstGeom prst="rect">
            <a:avLst/>
          </a:prstGeom>
          <a:noFill/>
        </p:spPr>
        <p:txBody>
          <a:bodyPr wrap="square" anchor="ctr">
            <a:spAutoFit/>
          </a:bodyPr>
          <a:lstStyle/>
          <a:p>
            <a:pPr algn="l"/>
            <a:r>
              <a:rPr sz="900" b="0" i="0">
                <a:solidFill>
                  <a:srgbClr val="660000"/>
                </a:solidFill>
                <a:latin typeface="Consolas"/>
              </a:rPr>
              <a:t>Flatten 3136 → Linear(3136 → d)</a:t>
            </a:r>
          </a:p>
        </p:txBody>
      </p:sp>
      <p:sp>
        <p:nvSpPr>
          <p:cNvPr id="10" name="Rounded Rectangle 9"/>
          <p:cNvSpPr/>
          <p:nvPr/>
        </p:nvSpPr>
        <p:spPr>
          <a:xfrm>
            <a:off x="4306824"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489704" y="4956048"/>
            <a:ext cx="3209544" cy="274320"/>
          </a:xfrm>
          <a:prstGeom prst="rect">
            <a:avLst/>
          </a:prstGeom>
          <a:noFill/>
        </p:spPr>
        <p:txBody>
          <a:bodyPr wrap="square" anchor="ctr">
            <a:spAutoFit/>
          </a:bodyPr>
          <a:lstStyle/>
          <a:p>
            <a:pPr algn="l"/>
            <a:r>
              <a:rPr sz="1100" b="1" i="0" spc="100">
                <a:solidFill>
                  <a:srgbClr val="990011"/>
                </a:solidFill>
                <a:latin typeface="Calibri"/>
              </a:rPr>
              <a:t>LATENT SPACE — NÚT CỔ CHAI</a:t>
            </a:r>
          </a:p>
        </p:txBody>
      </p:sp>
      <p:sp>
        <p:nvSpPr>
          <p:cNvPr id="12" name="TextBox 11"/>
          <p:cNvSpPr txBox="1"/>
          <p:nvPr/>
        </p:nvSpPr>
        <p:spPr>
          <a:xfrm>
            <a:off x="4489704" y="5303520"/>
            <a:ext cx="3255264" cy="274320"/>
          </a:xfrm>
          <a:prstGeom prst="rect">
            <a:avLst/>
          </a:prstGeom>
          <a:noFill/>
        </p:spPr>
        <p:txBody>
          <a:bodyPr wrap="square" anchor="ctr">
            <a:spAutoFit/>
          </a:bodyPr>
          <a:lstStyle/>
          <a:p>
            <a:pPr algn="l"/>
            <a:r>
              <a:rPr sz="900" b="0" i="0">
                <a:solidFill>
                  <a:srgbClr val="660000"/>
                </a:solidFill>
                <a:latin typeface="Consolas"/>
              </a:rPr>
              <a:t>z ∈ ℝᵈ,  d ∈ {2, 8, 32, 128}</a:t>
            </a:r>
          </a:p>
        </p:txBody>
      </p:sp>
      <p:sp>
        <p:nvSpPr>
          <p:cNvPr id="13" name="TextBox 12"/>
          <p:cNvSpPr txBox="1"/>
          <p:nvPr/>
        </p:nvSpPr>
        <p:spPr>
          <a:xfrm>
            <a:off x="4489704" y="5605272"/>
            <a:ext cx="3255264" cy="274320"/>
          </a:xfrm>
          <a:prstGeom prst="rect">
            <a:avLst/>
          </a:prstGeom>
          <a:noFill/>
        </p:spPr>
        <p:txBody>
          <a:bodyPr wrap="square" anchor="ctr">
            <a:spAutoFit/>
          </a:bodyPr>
          <a:lstStyle/>
          <a:p>
            <a:pPr algn="l"/>
            <a:r>
              <a:rPr sz="1000" b="0" i="0">
                <a:solidFill>
                  <a:srgbClr val="4A4A4A"/>
                </a:solidFill>
                <a:latin typeface="Calibri"/>
              </a:rPr>
              <a:t>784 pixel phải đi qua d chiều duy nhất;</a:t>
            </a:r>
          </a:p>
        </p:txBody>
      </p:sp>
      <p:sp>
        <p:nvSpPr>
          <p:cNvPr id="14" name="TextBox 13"/>
          <p:cNvSpPr txBox="1"/>
          <p:nvPr/>
        </p:nvSpPr>
        <p:spPr>
          <a:xfrm>
            <a:off x="4489704" y="5907024"/>
            <a:ext cx="3255264" cy="274320"/>
          </a:xfrm>
          <a:prstGeom prst="rect">
            <a:avLst/>
          </a:prstGeom>
          <a:noFill/>
        </p:spPr>
        <p:txBody>
          <a:bodyPr wrap="square" anchor="ctr">
            <a:spAutoFit/>
          </a:bodyPr>
          <a:lstStyle/>
          <a:p>
            <a:pPr algn="l"/>
            <a:r>
              <a:rPr sz="1000" b="0" i="0">
                <a:solidFill>
                  <a:srgbClr val="4A4A4A"/>
                </a:solidFill>
                <a:latin typeface="Calibri"/>
              </a:rPr>
              <a:t>d là biến khảo sát chính của báo cáo.</a:t>
            </a:r>
          </a:p>
        </p:txBody>
      </p:sp>
      <p:sp>
        <p:nvSpPr>
          <p:cNvPr id="15" name="Rounded Rectangle 14"/>
          <p:cNvSpPr/>
          <p:nvPr/>
        </p:nvSpPr>
        <p:spPr>
          <a:xfrm>
            <a:off x="8156448" y="4846320"/>
            <a:ext cx="3575304" cy="14630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39327" y="4956048"/>
            <a:ext cx="3209544" cy="274320"/>
          </a:xfrm>
          <a:prstGeom prst="rect">
            <a:avLst/>
          </a:prstGeom>
          <a:noFill/>
        </p:spPr>
        <p:txBody>
          <a:bodyPr wrap="square" anchor="ctr">
            <a:spAutoFit/>
          </a:bodyPr>
          <a:lstStyle/>
          <a:p>
            <a:pPr algn="l"/>
            <a:r>
              <a:rPr sz="1100" b="1" i="0" spc="100">
                <a:solidFill>
                  <a:srgbClr val="990011"/>
                </a:solidFill>
                <a:latin typeface="Calibri"/>
              </a:rPr>
              <a:t>DECODER — TĂNG DẦN KÍCH THƯỚC</a:t>
            </a:r>
          </a:p>
        </p:txBody>
      </p:sp>
      <p:sp>
        <p:nvSpPr>
          <p:cNvPr id="17" name="TextBox 16"/>
          <p:cNvSpPr txBox="1"/>
          <p:nvPr/>
        </p:nvSpPr>
        <p:spPr>
          <a:xfrm>
            <a:off x="8339327" y="5303520"/>
            <a:ext cx="3255264" cy="274320"/>
          </a:xfrm>
          <a:prstGeom prst="rect">
            <a:avLst/>
          </a:prstGeom>
          <a:noFill/>
        </p:spPr>
        <p:txBody>
          <a:bodyPr wrap="square" anchor="ctr">
            <a:spAutoFit/>
          </a:bodyPr>
          <a:lstStyle/>
          <a:p>
            <a:pPr algn="l"/>
            <a:r>
              <a:rPr sz="900" b="0" i="0">
                <a:solidFill>
                  <a:srgbClr val="660000"/>
                </a:solidFill>
                <a:latin typeface="Consolas"/>
              </a:rPr>
              <a:t>Linear(d → 3136) → reshape 64×7×7</a:t>
            </a:r>
          </a:p>
        </p:txBody>
      </p:sp>
      <p:sp>
        <p:nvSpPr>
          <p:cNvPr id="18" name="TextBox 17"/>
          <p:cNvSpPr txBox="1"/>
          <p:nvPr/>
        </p:nvSpPr>
        <p:spPr>
          <a:xfrm>
            <a:off x="8339327" y="5605272"/>
            <a:ext cx="3255264" cy="274320"/>
          </a:xfrm>
          <a:prstGeom prst="rect">
            <a:avLst/>
          </a:prstGeom>
          <a:noFill/>
        </p:spPr>
        <p:txBody>
          <a:bodyPr wrap="square" anchor="ctr">
            <a:spAutoFit/>
          </a:bodyPr>
          <a:lstStyle/>
          <a:p>
            <a:pPr algn="l"/>
            <a:r>
              <a:rPr sz="900" b="0" i="0">
                <a:solidFill>
                  <a:srgbClr val="660000"/>
                </a:solidFill>
                <a:latin typeface="Consolas"/>
              </a:rPr>
              <a:t>ConvT 64→32 · k4 s2 · BN+ReLU → 32×14×14</a:t>
            </a:r>
          </a:p>
        </p:txBody>
      </p:sp>
      <p:sp>
        <p:nvSpPr>
          <p:cNvPr id="19" name="TextBox 18"/>
          <p:cNvSpPr txBox="1"/>
          <p:nvPr/>
        </p:nvSpPr>
        <p:spPr>
          <a:xfrm>
            <a:off x="8339327" y="5907024"/>
            <a:ext cx="3255264" cy="274320"/>
          </a:xfrm>
          <a:prstGeom prst="rect">
            <a:avLst/>
          </a:prstGeom>
          <a:noFill/>
        </p:spPr>
        <p:txBody>
          <a:bodyPr wrap="square" anchor="ctr">
            <a:spAutoFit/>
          </a:bodyPr>
          <a:lstStyle/>
          <a:p>
            <a:pPr algn="l"/>
            <a:r>
              <a:rPr sz="900" b="0" i="0">
                <a:solidFill>
                  <a:srgbClr val="660000"/>
                </a:solidFill>
                <a:latin typeface="Consolas"/>
              </a:rPr>
              <a:t>ConvT 32→1 · k4 s2 · Sigmoid → 1×28×28</a:t>
            </a:r>
          </a:p>
        </p:txBody>
      </p:sp>
      <p:sp>
        <p:nvSpPr>
          <p:cNvPr id="20" name="TextBox 1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1" name="TextBox 2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02 · PHƯƠNG PHÁP &amp; DỮ LIỆU (AE)</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Hàm mất mát, siêu tham số và dữ liệu</a:t>
            </a:r>
            <a:endParaRPr lang="en-US" sz="3000" dirty="0"/>
          </a:p>
        </p:txBody>
      </p:sp>
      <p:sp>
        <p:nvSpPr>
          <p:cNvPr id="4" name="Shape 2"/>
          <p:cNvSpPr/>
          <p:nvPr/>
        </p:nvSpPr>
        <p:spPr>
          <a:xfrm>
            <a:off x="548640" y="1691640"/>
            <a:ext cx="5349240" cy="4343400"/>
          </a:xfrm>
          <a:prstGeom prst="roundRect">
            <a:avLst>
              <a:gd name="adj" fmla="val 2526"/>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74520"/>
            <a:ext cx="484632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PHƯƠNG PHÁP HUẤN LUYỆN</a:t>
            </a:r>
            <a:endParaRPr lang="en-US" sz="1300" dirty="0"/>
          </a:p>
        </p:txBody>
      </p:sp>
      <p:sp>
        <p:nvSpPr>
          <p:cNvPr id="6" name="Text 4"/>
          <p:cNvSpPr/>
          <p:nvPr/>
        </p:nvSpPr>
        <p:spPr>
          <a:xfrm>
            <a:off x="822960" y="2286000"/>
            <a:ext cx="4846320" cy="640080"/>
          </a:xfrm>
          <a:prstGeom prst="rect">
            <a:avLst/>
          </a:prstGeom>
          <a:noFill/>
          <a:ln/>
        </p:spPr>
        <p:txBody>
          <a:bodyPr wrap="square" rtlCol="0" anchor="t"/>
          <a:lstStyle/>
          <a:p>
            <a:pPr marL="0" indent="0">
              <a:lnSpc>
                <a:spcPct val="120000"/>
              </a:lnSpc>
              <a:buNone/>
            </a:pPr>
            <a:r>
              <a:rPr lang="en-US" sz="1150" b="1" dirty="0">
                <a:solidFill>
                  <a:srgbClr val="660000"/>
                </a:solidFill>
                <a:latin typeface="Calibri" pitchFamily="34" charset="0"/>
                <a:ea typeface="Calibri" pitchFamily="34" charset="-122"/>
                <a:cs typeface="Calibri" pitchFamily="34" charset="-120"/>
              </a:rPr>
              <a:t>Hàm mất mát:  </a:t>
            </a:r>
            <a:r>
              <a:rPr lang="en-US" sz="1150" dirty="0">
                <a:solidFill>
                  <a:srgbClr val="4A4A4A"/>
                </a:solidFill>
                <a:latin typeface="Calibri" pitchFamily="34" charset="0"/>
                <a:ea typeface="Calibri" pitchFamily="34" charset="-122"/>
                <a:cs typeface="Calibri" pitchFamily="34" charset="-120"/>
              </a:rPr>
              <a:t>MSE = Σ‖x − x̂‖²  ·  BCE = −Σ[x·log x̂ + (1−x)·log(1−x̂)] — tổng theo pixel, trung bình theo batch (reduction='sum'/batch_size)</a:t>
            </a:r>
            <a:endParaRPr lang="en-US" sz="1150" dirty="0"/>
          </a:p>
        </p:txBody>
      </p:sp>
      <p:sp>
        <p:nvSpPr>
          <p:cNvPr id="7" name="Text 5"/>
          <p:cNvSpPr/>
          <p:nvPr/>
        </p:nvSpPr>
        <p:spPr>
          <a:xfrm>
            <a:off x="822960" y="3017520"/>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Optimizer</a:t>
            </a:r>
            <a:endParaRPr lang="en-US" sz="1150" dirty="0"/>
          </a:p>
        </p:txBody>
      </p:sp>
      <p:sp>
        <p:nvSpPr>
          <p:cNvPr id="8" name="Text 6"/>
          <p:cNvSpPr/>
          <p:nvPr/>
        </p:nvSpPr>
        <p:spPr>
          <a:xfrm>
            <a:off x="2971800" y="3017520"/>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Adam, lr = 1e-3</a:t>
            </a:r>
            <a:endParaRPr lang="en-US" sz="1150" dirty="0"/>
          </a:p>
        </p:txBody>
      </p:sp>
      <p:sp>
        <p:nvSpPr>
          <p:cNvPr id="9" name="Text 7"/>
          <p:cNvSpPr/>
          <p:nvPr/>
        </p:nvSpPr>
        <p:spPr>
          <a:xfrm>
            <a:off x="822960" y="3438144"/>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Batch size</a:t>
            </a:r>
            <a:endParaRPr lang="en-US" sz="1150" dirty="0"/>
          </a:p>
        </p:txBody>
      </p:sp>
      <p:sp>
        <p:nvSpPr>
          <p:cNvPr id="10" name="Text 8"/>
          <p:cNvSpPr/>
          <p:nvPr/>
        </p:nvSpPr>
        <p:spPr>
          <a:xfrm>
            <a:off x="2971800" y="3438144"/>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128</a:t>
            </a:r>
            <a:endParaRPr lang="en-US" sz="1150" dirty="0"/>
          </a:p>
        </p:txBody>
      </p:sp>
      <p:sp>
        <p:nvSpPr>
          <p:cNvPr id="11" name="Text 9"/>
          <p:cNvSpPr/>
          <p:nvPr/>
        </p:nvSpPr>
        <p:spPr>
          <a:xfrm>
            <a:off x="822960" y="3858768"/>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Số epoch</a:t>
            </a:r>
            <a:endParaRPr lang="en-US" sz="1150" dirty="0"/>
          </a:p>
        </p:txBody>
      </p:sp>
      <p:sp>
        <p:nvSpPr>
          <p:cNvPr id="12" name="Text 10"/>
          <p:cNvSpPr/>
          <p:nvPr/>
        </p:nvSpPr>
        <p:spPr>
          <a:xfrm>
            <a:off x="2971800" y="3858768"/>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10 / mỗi latent dim</a:t>
            </a:r>
            <a:endParaRPr lang="en-US" sz="1150" dirty="0"/>
          </a:p>
        </p:txBody>
      </p:sp>
      <p:sp>
        <p:nvSpPr>
          <p:cNvPr id="13" name="Text 11"/>
          <p:cNvSpPr/>
          <p:nvPr/>
        </p:nvSpPr>
        <p:spPr>
          <a:xfrm>
            <a:off x="822960" y="4279392"/>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Latent dim khảo sát</a:t>
            </a:r>
            <a:endParaRPr lang="en-US" sz="1150" dirty="0"/>
          </a:p>
        </p:txBody>
      </p:sp>
      <p:sp>
        <p:nvSpPr>
          <p:cNvPr id="14" name="Text 12"/>
          <p:cNvSpPr/>
          <p:nvPr/>
        </p:nvSpPr>
        <p:spPr>
          <a:xfrm>
            <a:off x="2971800" y="4279392"/>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2, 8, 32, 128</a:t>
            </a:r>
            <a:endParaRPr lang="en-US" sz="1150" dirty="0"/>
          </a:p>
        </p:txBody>
      </p:sp>
      <p:sp>
        <p:nvSpPr>
          <p:cNvPr id="15" name="Text 13"/>
          <p:cNvSpPr/>
          <p:nvPr/>
        </p:nvSpPr>
        <p:spPr>
          <a:xfrm>
            <a:off x="822960" y="4700016"/>
            <a:ext cx="2103120" cy="365760"/>
          </a:xfrm>
          <a:prstGeom prst="rect">
            <a:avLst/>
          </a:prstGeom>
          <a:noFill/>
          <a:ln/>
        </p:spPr>
        <p:txBody>
          <a:bodyPr wrap="square" rtlCol="0" anchor="ctr"/>
          <a:lstStyle/>
          <a:p>
            <a:pPr marL="0" indent="0">
              <a:buNone/>
            </a:pPr>
            <a:r>
              <a:rPr lang="en-US" sz="1150" b="1" dirty="0">
                <a:solidFill>
                  <a:srgbClr val="660000"/>
                </a:solidFill>
                <a:latin typeface="Calibri" pitchFamily="34" charset="0"/>
                <a:ea typeface="Calibri" pitchFamily="34" charset="-122"/>
                <a:cs typeface="Calibri" pitchFamily="34" charset="-120"/>
              </a:rPr>
              <a:t>Seed</a:t>
            </a:r>
            <a:endParaRPr lang="en-US" sz="1150" dirty="0"/>
          </a:p>
        </p:txBody>
      </p:sp>
      <p:sp>
        <p:nvSpPr>
          <p:cNvPr id="16" name="Text 14"/>
          <p:cNvSpPr/>
          <p:nvPr/>
        </p:nvSpPr>
        <p:spPr>
          <a:xfrm>
            <a:off x="2971800" y="4700016"/>
            <a:ext cx="2697480" cy="365760"/>
          </a:xfrm>
          <a:prstGeom prst="rect">
            <a:avLst/>
          </a:prstGeom>
          <a:noFill/>
          <a:ln/>
        </p:spPr>
        <p:txBody>
          <a:bodyPr wrap="square" rtlCol="0" anchor="ctr"/>
          <a:lstStyle/>
          <a:p>
            <a:pPr marL="0" indent="0">
              <a:buNone/>
            </a:pPr>
            <a:r>
              <a:rPr lang="en-US" sz="1150" dirty="0">
                <a:solidFill>
                  <a:srgbClr val="4A4A4A"/>
                </a:solidFill>
                <a:latin typeface="Calibri" pitchFamily="34" charset="0"/>
                <a:ea typeface="Calibri" pitchFamily="34" charset="-122"/>
                <a:cs typeface="Calibri" pitchFamily="34" charset="-120"/>
              </a:rPr>
              <a:t>42 (cố định để tái lập)</a:t>
            </a:r>
            <a:endParaRPr lang="en-US" sz="1150" dirty="0"/>
          </a:p>
        </p:txBody>
      </p:sp>
      <p:sp>
        <p:nvSpPr>
          <p:cNvPr id="17" name="Shape 15"/>
          <p:cNvSpPr/>
          <p:nvPr/>
        </p:nvSpPr>
        <p:spPr>
          <a:xfrm>
            <a:off x="822960" y="5166360"/>
            <a:ext cx="4800600" cy="9144"/>
          </a:xfrm>
          <a:prstGeom prst="rect">
            <a:avLst/>
          </a:prstGeom>
          <a:solidFill>
            <a:srgbClr val="F1C6CC"/>
          </a:solidFill>
          <a:ln/>
        </p:spPr>
      </p:sp>
      <p:sp>
        <p:nvSpPr>
          <p:cNvPr id="18" name="Text 16"/>
          <p:cNvSpPr/>
          <p:nvPr/>
        </p:nvSpPr>
        <p:spPr>
          <a:xfrm>
            <a:off x="822960" y="5303520"/>
            <a:ext cx="4846320" cy="822960"/>
          </a:xfrm>
          <a:prstGeom prst="rect">
            <a:avLst/>
          </a:prstGeom>
          <a:noFill/>
          <a:ln/>
        </p:spPr>
        <p:txBody>
          <a:bodyPr wrap="square" rtlCol="0" anchor="t"/>
          <a:lstStyle/>
          <a:p>
            <a:pPr marL="0" indent="0">
              <a:lnSpc>
                <a:spcPct val="120000"/>
              </a:lnSpc>
              <a:buNone/>
            </a:pPr>
            <a:r>
              <a:rPr lang="en-US" sz="1100" b="1" dirty="0">
                <a:solidFill>
                  <a:srgbClr val="660000"/>
                </a:solidFill>
                <a:latin typeface="Calibri" pitchFamily="34" charset="0"/>
                <a:ea typeface="Calibri" pitchFamily="34" charset="-122"/>
                <a:cs typeface="Calibri" pitchFamily="34" charset="-120"/>
              </a:rPr>
              <a:t>Quy trình: </a:t>
            </a:r>
            <a:r>
              <a:rPr lang="en-US" sz="1100" dirty="0">
                <a:solidFill>
                  <a:srgbClr val="4A4A4A"/>
                </a:solidFill>
                <a:latin typeface="Calibri" pitchFamily="34" charset="0"/>
                <a:ea typeface="Calibri" pitchFamily="34" charset="-122"/>
                <a:cs typeface="Calibri" pitchFamily="34" charset="-120"/>
              </a:rPr>
              <a:t>với mỗi (loss, latent_dim), khởi tạo model mới → train 10 epoch → log train/test loss mỗi epoch → lưu lưới ảnh tái tạo và checkpoint.</a:t>
            </a:r>
            <a:endParaRPr lang="en-US" sz="1100" dirty="0"/>
          </a:p>
        </p:txBody>
      </p:sp>
      <p:sp>
        <p:nvSpPr>
          <p:cNvPr id="19" name="Shape 17"/>
          <p:cNvSpPr/>
          <p:nvPr/>
        </p:nvSpPr>
        <p:spPr>
          <a:xfrm>
            <a:off x="6172200" y="1691640"/>
            <a:ext cx="5486400" cy="4796028"/>
          </a:xfrm>
          <a:prstGeom prst="roundRect">
            <a:avLst>
              <a:gd name="adj" fmla="val 2526"/>
            </a:avLst>
          </a:prstGeom>
          <a:solidFill>
            <a:srgbClr val="FFFFFF"/>
          </a:solidFill>
          <a:ln w="19050">
            <a:solidFill>
              <a:srgbClr val="990011"/>
            </a:solidFill>
            <a:prstDash val="solid"/>
          </a:ln>
        </p:spPr>
      </p:sp>
      <p:sp>
        <p:nvSpPr>
          <p:cNvPr id="20" name="Text 18"/>
          <p:cNvSpPr/>
          <p:nvPr/>
        </p:nvSpPr>
        <p:spPr>
          <a:xfrm>
            <a:off x="6446520" y="1874520"/>
            <a:ext cx="4937760" cy="320040"/>
          </a:xfrm>
          <a:prstGeom prst="rect">
            <a:avLst/>
          </a:prstGeom>
          <a:noFill/>
          <a:ln/>
        </p:spPr>
        <p:txBody>
          <a:bodyPr wrap="square" rtlCol="0" anchor="ctr"/>
          <a:lstStyle/>
          <a:p>
            <a:pPr marL="0" indent="0">
              <a:buNone/>
            </a:pPr>
            <a:r>
              <a:rPr lang="en-US" sz="1300" b="1" kern="0" spc="100" dirty="0">
                <a:solidFill>
                  <a:srgbClr val="990011"/>
                </a:solidFill>
                <a:latin typeface="Calibri" pitchFamily="34" charset="0"/>
                <a:ea typeface="Calibri" pitchFamily="34" charset="-122"/>
                <a:cs typeface="Calibri" pitchFamily="34" charset="-120"/>
              </a:rPr>
              <a:t>DỮ LIỆU: MNIST</a:t>
            </a:r>
            <a:endParaRPr lang="en-US" sz="1300" dirty="0"/>
          </a:p>
        </p:txBody>
      </p:sp>
      <p:sp>
        <p:nvSpPr>
          <p:cNvPr id="21" name="Text 19"/>
          <p:cNvSpPr/>
          <p:nvPr/>
        </p:nvSpPr>
        <p:spPr>
          <a:xfrm>
            <a:off x="6446520" y="233172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Nguồn</a:t>
            </a:r>
            <a:endParaRPr lang="en-US" sz="1100" dirty="0"/>
          </a:p>
        </p:txBody>
      </p:sp>
      <p:sp>
        <p:nvSpPr>
          <p:cNvPr id="22" name="Text 20"/>
          <p:cNvSpPr/>
          <p:nvPr/>
        </p:nvSpPr>
        <p:spPr>
          <a:xfrm>
            <a:off x="8138160" y="233172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torchvision.datasets.MNIST (tải tự động)</a:t>
            </a:r>
            <a:endParaRPr lang="en-US" sz="1100" dirty="0"/>
          </a:p>
        </p:txBody>
      </p:sp>
      <p:sp>
        <p:nvSpPr>
          <p:cNvPr id="23" name="Text 21"/>
          <p:cNvSpPr/>
          <p:nvPr/>
        </p:nvSpPr>
        <p:spPr>
          <a:xfrm>
            <a:off x="6446520" y="2898648"/>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Kích thước</a:t>
            </a:r>
            <a:endParaRPr lang="en-US" sz="1100" dirty="0"/>
          </a:p>
        </p:txBody>
      </p:sp>
      <p:sp>
        <p:nvSpPr>
          <p:cNvPr id="24" name="Text 22"/>
          <p:cNvSpPr/>
          <p:nvPr/>
        </p:nvSpPr>
        <p:spPr>
          <a:xfrm>
            <a:off x="8138160" y="2898648"/>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60.000 ảnh train / 10.000 ảnh test</a:t>
            </a:r>
            <a:endParaRPr lang="en-US" sz="1100" dirty="0"/>
          </a:p>
        </p:txBody>
      </p:sp>
      <p:sp>
        <p:nvSpPr>
          <p:cNvPr id="25" name="Text 23"/>
          <p:cNvSpPr/>
          <p:nvPr/>
        </p:nvSpPr>
        <p:spPr>
          <a:xfrm>
            <a:off x="6446520" y="3465576"/>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Định dạng ảnh</a:t>
            </a:r>
            <a:endParaRPr lang="en-US" sz="1100" dirty="0"/>
          </a:p>
        </p:txBody>
      </p:sp>
      <p:sp>
        <p:nvSpPr>
          <p:cNvPr id="26" name="Text 24"/>
          <p:cNvSpPr/>
          <p:nvPr/>
        </p:nvSpPr>
        <p:spPr>
          <a:xfrm>
            <a:off x="8138160" y="3465576"/>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28×28×1, thang xám</a:t>
            </a:r>
            <a:endParaRPr lang="en-US" sz="1100" dirty="0"/>
          </a:p>
        </p:txBody>
      </p:sp>
      <p:sp>
        <p:nvSpPr>
          <p:cNvPr id="27" name="Text 25"/>
          <p:cNvSpPr/>
          <p:nvPr/>
        </p:nvSpPr>
        <p:spPr>
          <a:xfrm>
            <a:off x="6446520" y="4032504"/>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Tiền xử lý</a:t>
            </a:r>
            <a:endParaRPr lang="en-US" sz="1100" dirty="0"/>
          </a:p>
        </p:txBody>
      </p:sp>
      <p:sp>
        <p:nvSpPr>
          <p:cNvPr id="28" name="Text 26"/>
          <p:cNvSpPr/>
          <p:nvPr/>
        </p:nvSpPr>
        <p:spPr>
          <a:xfrm>
            <a:off x="8138160" y="4032504"/>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ToTensor() → chuẩn hoá pixel về [0,1]</a:t>
            </a:r>
            <a:endParaRPr lang="en-US" sz="1100" dirty="0"/>
          </a:p>
        </p:txBody>
      </p:sp>
      <p:sp>
        <p:nvSpPr>
          <p:cNvPr id="29" name="Text 27"/>
          <p:cNvSpPr/>
          <p:nvPr/>
        </p:nvSpPr>
        <p:spPr>
          <a:xfrm>
            <a:off x="6446520" y="4599432"/>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Chia tập</a:t>
            </a:r>
            <a:endParaRPr lang="en-US" sz="1100" dirty="0"/>
          </a:p>
        </p:txBody>
      </p:sp>
      <p:sp>
        <p:nvSpPr>
          <p:cNvPr id="30" name="Text 28"/>
          <p:cNvSpPr/>
          <p:nvPr/>
        </p:nvSpPr>
        <p:spPr>
          <a:xfrm>
            <a:off x="8138160" y="4599432"/>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Dùng sẵn split train/test chuẩn của MNIST</a:t>
            </a:r>
            <a:endParaRPr lang="en-US" sz="1100" dirty="0"/>
          </a:p>
        </p:txBody>
      </p:sp>
      <p:sp>
        <p:nvSpPr>
          <p:cNvPr id="31" name="Text 29"/>
          <p:cNvSpPr/>
          <p:nvPr/>
        </p:nvSpPr>
        <p:spPr>
          <a:xfrm>
            <a:off x="6446520" y="5166360"/>
            <a:ext cx="1645920" cy="457200"/>
          </a:xfrm>
          <a:prstGeom prst="rect">
            <a:avLst/>
          </a:prstGeom>
          <a:noFill/>
          <a:ln/>
        </p:spPr>
        <p:txBody>
          <a:bodyPr wrap="square" rtlCol="0" anchor="t"/>
          <a:lstStyle/>
          <a:p>
            <a:pPr marL="0" indent="0">
              <a:buNone/>
            </a:pPr>
            <a:r>
              <a:rPr lang="en-US" sz="1100" b="1" dirty="0">
                <a:solidFill>
                  <a:srgbClr val="660000"/>
                </a:solidFill>
                <a:latin typeface="Calibri" pitchFamily="34" charset="0"/>
                <a:ea typeface="Calibri" pitchFamily="34" charset="-122"/>
                <a:cs typeface="Calibri" pitchFamily="34" charset="-120"/>
              </a:rPr>
              <a:t>Nhãn (0–9)</a:t>
            </a:r>
            <a:endParaRPr lang="en-US" sz="1100" dirty="0"/>
          </a:p>
        </p:txBody>
      </p:sp>
      <p:sp>
        <p:nvSpPr>
          <p:cNvPr id="32" name="Text 30"/>
          <p:cNvSpPr/>
          <p:nvPr/>
        </p:nvSpPr>
        <p:spPr>
          <a:xfrm>
            <a:off x="8138160" y="5166360"/>
            <a:ext cx="3383280" cy="457200"/>
          </a:xfrm>
          <a:prstGeom prst="rect">
            <a:avLst/>
          </a:prstGeom>
          <a:noFill/>
          <a:ln/>
        </p:spPr>
        <p:txBody>
          <a:bodyPr wrap="square" rtlCol="0" anchor="t"/>
          <a:lstStyle/>
          <a:p>
            <a:pPr marL="0" indent="0">
              <a:lnSpc>
                <a:spcPct val="110000"/>
              </a:lnSpc>
              <a:buNone/>
            </a:pPr>
            <a:r>
              <a:rPr lang="en-US" sz="1100" dirty="0">
                <a:solidFill>
                  <a:srgbClr val="4A4A4A"/>
                </a:solidFill>
                <a:latin typeface="Calibri" pitchFamily="34" charset="0"/>
                <a:ea typeface="Calibri" pitchFamily="34" charset="-122"/>
                <a:cs typeface="Calibri" pitchFamily="34" charset="-120"/>
              </a:rPr>
              <a:t>Chỉ dùng để tô màu latent map &amp; tách tập anomaly, không dùng để huấn luyện AE</a:t>
            </a:r>
            <a:endParaRPr lang="en-US" sz="1100" dirty="0"/>
          </a:p>
        </p:txBody>
      </p:sp>
      <p:sp>
        <p:nvSpPr>
          <p:cNvPr id="33" name="Shape 31"/>
          <p:cNvSpPr/>
          <p:nvPr/>
        </p:nvSpPr>
        <p:spPr>
          <a:xfrm>
            <a:off x="6446520" y="5779008"/>
            <a:ext cx="4937760" cy="640080"/>
          </a:xfrm>
          <a:prstGeom prst="roundRect">
            <a:avLst>
              <a:gd name="adj" fmla="val 11429"/>
            </a:avLst>
          </a:prstGeom>
          <a:solidFill>
            <a:srgbClr val="FDEEF0"/>
          </a:solidFill>
          <a:ln/>
        </p:spPr>
      </p:sp>
      <p:sp>
        <p:nvSpPr>
          <p:cNvPr id="34" name="Text 32"/>
          <p:cNvSpPr/>
          <p:nvPr/>
        </p:nvSpPr>
        <p:spPr>
          <a:xfrm>
            <a:off x="6583680" y="5824728"/>
            <a:ext cx="4663440" cy="548640"/>
          </a:xfrm>
          <a:prstGeom prst="rect">
            <a:avLst/>
          </a:prstGeom>
          <a:noFill/>
          <a:ln/>
        </p:spPr>
        <p:txBody>
          <a:bodyPr wrap="square" rtlCol="0" anchor="t"/>
          <a:lstStyle/>
          <a:p>
            <a:pPr marL="0" indent="0">
              <a:lnSpc>
                <a:spcPct val="115000"/>
              </a:lnSpc>
              <a:buNone/>
            </a:pPr>
            <a:r>
              <a:rPr lang="en-US" sz="1050" i="1" dirty="0">
                <a:solidFill>
                  <a:srgbClr val="660000"/>
                </a:solidFill>
                <a:latin typeface="Calibri" pitchFamily="34" charset="0"/>
                <a:ea typeface="Calibri" pitchFamily="34" charset="-122"/>
                <a:cs typeface="Calibri" pitchFamily="34" charset="-120"/>
              </a:rPr>
              <a:t>Ứng dụng bất thường: huấn luyện AE chỉ trên 9/10 chữ số, chữ số còn lại đóng vai trò "anomaly" khi kiểm thử.</a:t>
            </a:r>
            <a:endParaRPr lang="en-US" sz="1050" dirty="0"/>
          </a:p>
        </p:txBody>
      </p:sp>
      <p:sp>
        <p:nvSpPr>
          <p:cNvPr id="35" name="Text 33"/>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36" name="Text 34"/>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(1/7)</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Loss tái tạo (MSE) theo số chiều ẩn</a:t>
            </a:r>
            <a:endParaRPr lang="en-US" sz="3000" dirty="0"/>
          </a:p>
        </p:txBody>
      </p:sp>
      <p:pic>
        <p:nvPicPr>
          <p:cNvPr id="4" name="Image 0" descr="chart_loss_curves.png"/>
          <p:cNvPicPr>
            <a:picLocks noChangeAspect="1"/>
          </p:cNvPicPr>
          <p:nvPr/>
        </p:nvPicPr>
        <p:blipFill>
          <a:blip r:embed="rId3"/>
          <a:stretch>
            <a:fillRect/>
          </a:stretch>
        </p:blipFill>
        <p:spPr>
          <a:xfrm>
            <a:off x="457200" y="1554480"/>
            <a:ext cx="5577840" cy="3429000"/>
          </a:xfrm>
          <a:prstGeom prst="rect">
            <a:avLst/>
          </a:prstGeom>
        </p:spPr>
      </p:pic>
      <p:pic>
        <p:nvPicPr>
          <p:cNvPr id="5" name="Image 1" descr="chart_final_loss_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5120640"/>
          <a:ext cx="11292840" cy="1239012"/>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257800">
                  <a:extLst>
                    <a:ext uri="{9D8B030D-6E8A-4147-A177-3AD203B41FA5}">
                      <a16:colId xmlns:a16="http://schemas.microsoft.com/office/drawing/2014/main" val="20003"/>
                    </a:ext>
                  </a:extLst>
                </a:gridCol>
              </a:tblGrid>
              <a:tr h="24688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Latent dim</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Train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Test loss (epoch 10)</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Nhận xét</a:t>
                      </a:r>
                      <a:endParaRPr lang="en-US" sz="105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33.75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33.65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Nút cổ chai quá hẹp — mất nhiều chi tiết nét chữ</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1"/>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14.53</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14.24</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Khá hơn nhưng vẫn còn nhoè ở nét cong</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3.35</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Tái tạo rõ nét, sai số giảm mạnh so với d=8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DEEF0"/>
                    </a:solidFill>
                  </a:tcPr>
                </a:tc>
                <a:extLst>
                  <a:ext uri="{0D108BD9-81ED-4DB2-BD59-A6C34878D82A}">
                    <a16:rowId xmlns:a16="http://schemas.microsoft.com/office/drawing/2014/main" val="10003"/>
                  </a:ext>
                </a:extLst>
              </a:tr>
              <a:tr h="246888">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A4A"/>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A4A4A"/>
                          </a:solidFill>
                          <a:latin typeface="Calibri" pitchFamily="34" charset="0"/>
                          <a:ea typeface="Calibri" pitchFamily="34" charset="-122"/>
                          <a:cs typeface="Calibri" pitchFamily="34" charset="-120"/>
                        </a:rPr>
                        <a:t>Gần như tái tạo hoàn hảo, nguy cơ overfit thấp do MNIST đơn giản</a:t>
                      </a:r>
                      <a:endParaRPr lang="en-US" sz="1000" dirty="0">
                        <a:latin typeface="Calibri" charset="0"/>
                        <a:ea typeface="Calibri" charset="0"/>
                        <a:cs typeface="Calibri" charset="0"/>
                      </a:endParaRPr>
                    </a:p>
                  </a:txBody>
                  <a:tcPr anchor="ctr">
                    <a:lnL w="9525" cap="flat" cmpd="sng" algn="ctr">
                      <a:solidFill>
                        <a:srgbClr val="F1C6CC"/>
                      </a:solidFill>
                      <a:prstDash val="solid"/>
                      <a:round/>
                      <a:headEnd type="none" w="med" len="med"/>
                      <a:tailEnd type="none" w="med" len="med"/>
                    </a:lnL>
                    <a:lnR w="9525" cap="flat" cmpd="sng" algn="ctr">
                      <a:solidFill>
                        <a:srgbClr val="F1C6CC"/>
                      </a:solidFill>
                      <a:prstDash val="solid"/>
                      <a:round/>
                      <a:headEnd type="none" w="med" len="med"/>
                      <a:tailEnd type="none" w="med" len="med"/>
                    </a:lnR>
                    <a:lnT w="9525" cap="flat" cmpd="sng" algn="ctr">
                      <a:solidFill>
                        <a:srgbClr val="F1C6CC"/>
                      </a:solidFill>
                      <a:prstDash val="solid"/>
                      <a:round/>
                      <a:headEnd type="none" w="med" len="med"/>
                      <a:tailEnd type="none" w="med" len="med"/>
                    </a:lnT>
                    <a:lnB w="9525" cap="flat" cmpd="sng" algn="ctr">
                      <a:solidFill>
                        <a:srgbClr val="F1C6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2"/>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8" name="Text 3"/>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(2/7)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Mỗi cặp cột liền nhau là một mẫu: cột trái = ảnh gốc, cột phải = ảnh AE tái tạo (8 mẫu đầu của tập test).</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Sai hẳn chữ số ở nhiều mẫu: 2 → 3, 4 → 9. Nét nhoè, mất gần hết chi tiết.</a:t>
            </a:r>
          </a:p>
        </p:txBody>
      </p:sp>
      <p:pic>
        <p:nvPicPr>
          <p:cNvPr id="7" name="Picture 6" descr="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nhưng nét dày và mờ; các đoạn cong bị làm tròn.</a:t>
            </a:r>
          </a:p>
        </p:txBody>
      </p:sp>
      <p:pic>
        <p:nvPicPr>
          <p:cNvPr id="10" name="Picture 9" descr="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Sắc nét, giữ được nét đặc trưng; chỉ khác ảnh gốc ở độ đậm nét.</a:t>
            </a:r>
          </a:p>
        </p:txBody>
      </p:sp>
      <p:pic>
        <p:nvPicPr>
          <p:cNvPr id="13" name="Picture 12" descr="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Gần như không phân biệt được với ảnh gốc bằng mắt thường.</a:t>
            </a:r>
          </a:p>
        </p:txBody>
      </p:sp>
      <p:pic>
        <p:nvPicPr>
          <p:cNvPr id="16" name="Picture 15" descr="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Phần lớn lợi ích thị giác nằm ở đoạn d = 2 → 32; từ d = 32 lên d = 128 mắt thường gần như không thấy khác biệt dù loss vẫn tiếp tục giảm.</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(4/7)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573256"/>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655552"/>
            <a:ext cx="10835640" cy="685800"/>
          </a:xfrm>
          <a:prstGeom prst="rect">
            <a:avLst/>
          </a:prstGeom>
          <a:noFill/>
        </p:spPr>
        <p:txBody>
          <a:bodyPr wrap="square" anchor="t">
            <a:spAutoFit/>
          </a:bodyPr>
          <a:lstStyle/>
          <a:p>
            <a:pPr algn="l"/>
            <a:r>
              <a:rPr sz="1100" b="0" i="0">
                <a:solidFill>
                  <a:srgbClr val="4A4A4A"/>
                </a:solidFill>
                <a:latin typeface="Calibri"/>
              </a:rPr>
              <a:t>Ở cùng một d, hai hàm cho kết quả thị giác gần như tương đương — số chiều ẩn mới là yếu tố quyết định, không phải hàm mất mát. BCE phạt mạnh pixel lệch khỏi 0/1 nên nền tối sạch hơn đôi chút; lưu ý loss của BCE và MSE khác thang đo nên không so sánh trực tiếp được.</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90011"/>
                </a:solidFill>
                <a:latin typeface="Calibri" pitchFamily="34" charset="0"/>
                <a:ea typeface="Calibri" pitchFamily="34" charset="-122"/>
                <a:cs typeface="Calibri" pitchFamily="34" charset="-120"/>
              </a:rPr>
              <a:t>03 · KẾT QUẢ AE (6/7)</a:t>
            </a:r>
            <a:endParaRPr lang="en-US" sz="1300" dirty="0"/>
          </a:p>
        </p:txBody>
      </p:sp>
      <p:sp>
        <p:nvSpPr>
          <p:cNvPr id="3" name="Text 1"/>
          <p:cNvSpPr/>
          <p:nvPr/>
        </p:nvSpPr>
        <p:spPr>
          <a:xfrm>
            <a:off x="548640" y="658368"/>
            <a:ext cx="10515600" cy="822960"/>
          </a:xfrm>
          <a:prstGeom prst="rect">
            <a:avLst/>
          </a:prstGeom>
          <a:noFill/>
          <a:ln/>
        </p:spPr>
        <p:txBody>
          <a:bodyPr wrap="square" rtlCol="0" anchor="ctr"/>
          <a:lstStyle/>
          <a:p>
            <a:pPr marL="0" indent="0">
              <a:buNone/>
            </a:pPr>
            <a:r>
              <a:rPr lang="en-US" sz="3000" b="1" dirty="0">
                <a:solidFill>
                  <a:srgbClr val="660000"/>
                </a:solidFill>
                <a:latin typeface="Cambria" pitchFamily="34" charset="0"/>
                <a:ea typeface="Cambria" pitchFamily="34" charset="-122"/>
                <a:cs typeface="Cambria" pitchFamily="34" charset="-120"/>
              </a:rPr>
              <a:t>AE — Chất lượng tái tạo &amp; phát hiện bất thường</a:t>
            </a:r>
            <a:endParaRPr lang="en-US" sz="3000" dirty="0"/>
          </a:p>
        </p:txBody>
      </p:sp>
      <p:sp>
        <p:nvSpPr>
          <p:cNvPr id="4" name="Shape 2"/>
          <p:cNvSpPr/>
          <p:nvPr/>
        </p:nvSpPr>
        <p:spPr>
          <a:xfrm>
            <a:off x="548640" y="1645920"/>
            <a:ext cx="5394960" cy="4434840"/>
          </a:xfrm>
          <a:prstGeom prst="roundRect">
            <a:avLst>
              <a:gd name="adj" fmla="val 2474"/>
            </a:avLst>
          </a:prstGeom>
          <a:solidFill>
            <a:srgbClr val="FDEEF0"/>
          </a:solidFill>
          <a:ln w="12700">
            <a:solidFill>
              <a:srgbClr val="F1C6CC"/>
            </a:solidFill>
            <a:prstDash val="solid"/>
          </a:ln>
        </p:spPr>
        <p:txBody>
          <a:bodyPr/>
          <a:lstStyle/>
          <a:p>
            <a:endParaRPr/>
          </a:p>
        </p:txBody>
      </p:sp>
      <p:sp>
        <p:nvSpPr>
          <p:cNvPr id="5" name="Text 3"/>
          <p:cNvSpPr/>
          <p:nvPr/>
        </p:nvSpPr>
        <p:spPr>
          <a:xfrm>
            <a:off x="822960" y="1828800"/>
            <a:ext cx="4846320" cy="320040"/>
          </a:xfrm>
          <a:prstGeom prst="rect">
            <a:avLst/>
          </a:prstGeom>
          <a:noFill/>
          <a:ln/>
        </p:spPr>
        <p:txBody>
          <a:bodyPr wrap="square" rtlCol="0" anchor="ctr"/>
          <a:lstStyle/>
          <a:p>
            <a:pPr marL="0" indent="0">
              <a:buNone/>
            </a:pPr>
            <a:r>
              <a:rPr lang="en-US" sz="1250" b="1" kern="0" spc="100" dirty="0">
                <a:solidFill>
                  <a:srgbClr val="990011"/>
                </a:solidFill>
                <a:latin typeface="Calibri" pitchFamily="34" charset="0"/>
                <a:ea typeface="Calibri" pitchFamily="34" charset="-122"/>
                <a:cs typeface="Calibri" pitchFamily="34" charset="-120"/>
              </a:rPr>
              <a:t>LƯỚI ẢNH GỐC / TÁI TẠO (loss = MSE)</a:t>
            </a:r>
            <a:endParaRPr lang="en-US" sz="1250" dirty="0"/>
          </a:p>
        </p:txBody>
      </p:sp>
      <p:sp>
        <p:nvSpPr>
          <p:cNvPr id="6" name="Shape 4"/>
          <p:cNvSpPr/>
          <p:nvPr/>
        </p:nvSpPr>
        <p:spPr>
          <a:xfrm>
            <a:off x="822960" y="2286000"/>
            <a:ext cx="621792" cy="329184"/>
          </a:xfrm>
          <a:prstGeom prst="roundRect">
            <a:avLst>
              <a:gd name="adj" fmla="val 16667"/>
            </a:avLst>
          </a:prstGeom>
          <a:solidFill>
            <a:srgbClr val="990011"/>
          </a:solidFill>
          <a:ln/>
        </p:spPr>
        <p:txBody>
          <a:bodyPr/>
          <a:lstStyle/>
          <a:p>
            <a:endParaRPr/>
          </a:p>
        </p:txBody>
      </p:sp>
      <p:sp>
        <p:nvSpPr>
          <p:cNvPr id="7" name="Text 5"/>
          <p:cNvSpPr/>
          <p:nvPr/>
        </p:nvSpPr>
        <p:spPr>
          <a:xfrm>
            <a:off x="822960" y="228600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2</a:t>
            </a:r>
            <a:endParaRPr lang="en-US" sz="1050" dirty="0"/>
          </a:p>
        </p:txBody>
      </p:sp>
      <p:sp>
        <p:nvSpPr>
          <p:cNvPr id="8" name="Text 6"/>
          <p:cNvSpPr/>
          <p:nvPr/>
        </p:nvSpPr>
        <p:spPr>
          <a:xfrm>
            <a:off x="1554480" y="224028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Chữ số bị biến dạng rõ rệt, nhiều cặp số (4/9, 3/5) gần như không phân biệt được — không gian ẩn quá nhỏ.</a:t>
            </a:r>
            <a:endParaRPr lang="en-US" sz="1050" dirty="0"/>
          </a:p>
        </p:txBody>
      </p:sp>
      <p:sp>
        <p:nvSpPr>
          <p:cNvPr id="9" name="Shape 7"/>
          <p:cNvSpPr/>
          <p:nvPr/>
        </p:nvSpPr>
        <p:spPr>
          <a:xfrm>
            <a:off x="822960" y="3063240"/>
            <a:ext cx="621792" cy="329184"/>
          </a:xfrm>
          <a:prstGeom prst="roundRect">
            <a:avLst>
              <a:gd name="adj" fmla="val 16667"/>
            </a:avLst>
          </a:prstGeom>
          <a:solidFill>
            <a:srgbClr val="990011"/>
          </a:solidFill>
          <a:ln/>
        </p:spPr>
        <p:txBody>
          <a:bodyPr/>
          <a:lstStyle/>
          <a:p>
            <a:endParaRPr/>
          </a:p>
        </p:txBody>
      </p:sp>
      <p:sp>
        <p:nvSpPr>
          <p:cNvPr id="10" name="Text 8"/>
          <p:cNvSpPr/>
          <p:nvPr/>
        </p:nvSpPr>
        <p:spPr>
          <a:xfrm>
            <a:off x="822960" y="306324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8</a:t>
            </a:r>
            <a:endParaRPr lang="en-US" sz="1050" dirty="0"/>
          </a:p>
        </p:txBody>
      </p:sp>
      <p:sp>
        <p:nvSpPr>
          <p:cNvPr id="11" name="Text 9"/>
          <p:cNvSpPr/>
          <p:nvPr/>
        </p:nvSpPr>
        <p:spPr>
          <a:xfrm>
            <a:off x="1554480" y="301752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Hình dạng tổng thể đúng hơn nhưng nét còn mờ, các chi tiết nhỏ (vòng cong, nét móc) bị làm tròn.</a:t>
            </a:r>
            <a:endParaRPr lang="en-US" sz="1050" dirty="0"/>
          </a:p>
        </p:txBody>
      </p:sp>
      <p:sp>
        <p:nvSpPr>
          <p:cNvPr id="12" name="Shape 10"/>
          <p:cNvSpPr/>
          <p:nvPr/>
        </p:nvSpPr>
        <p:spPr>
          <a:xfrm>
            <a:off x="822960" y="3840480"/>
            <a:ext cx="621792" cy="329184"/>
          </a:xfrm>
          <a:prstGeom prst="roundRect">
            <a:avLst>
              <a:gd name="adj" fmla="val 16667"/>
            </a:avLst>
          </a:prstGeom>
          <a:solidFill>
            <a:srgbClr val="990011"/>
          </a:solidFill>
          <a:ln/>
        </p:spPr>
        <p:txBody>
          <a:bodyPr/>
          <a:lstStyle/>
          <a:p>
            <a:endParaRPr/>
          </a:p>
        </p:txBody>
      </p:sp>
      <p:sp>
        <p:nvSpPr>
          <p:cNvPr id="13" name="Text 11"/>
          <p:cNvSpPr/>
          <p:nvPr/>
        </p:nvSpPr>
        <p:spPr>
          <a:xfrm>
            <a:off x="822960" y="384048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32</a:t>
            </a:r>
            <a:endParaRPr lang="en-US" sz="1050" dirty="0"/>
          </a:p>
        </p:txBody>
      </p:sp>
      <p:sp>
        <p:nvSpPr>
          <p:cNvPr id="14" name="Text 12"/>
          <p:cNvSpPr/>
          <p:nvPr/>
        </p:nvSpPr>
        <p:spPr>
          <a:xfrm>
            <a:off x="1554480" y="379476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Tái tạo sắc nét, giữ được nét đặc trưng của từng chữ số, khác biệt so với ảnh gốc rất nhỏ.</a:t>
            </a:r>
            <a:endParaRPr lang="en-US" sz="1050" dirty="0"/>
          </a:p>
        </p:txBody>
      </p:sp>
      <p:sp>
        <p:nvSpPr>
          <p:cNvPr id="15" name="Shape 13"/>
          <p:cNvSpPr/>
          <p:nvPr/>
        </p:nvSpPr>
        <p:spPr>
          <a:xfrm>
            <a:off x="822960" y="4617720"/>
            <a:ext cx="621792" cy="329184"/>
          </a:xfrm>
          <a:prstGeom prst="roundRect">
            <a:avLst>
              <a:gd name="adj" fmla="val 16667"/>
            </a:avLst>
          </a:prstGeom>
          <a:solidFill>
            <a:srgbClr val="990011"/>
          </a:solidFill>
          <a:ln/>
        </p:spPr>
        <p:txBody>
          <a:bodyPr/>
          <a:lstStyle/>
          <a:p>
            <a:endParaRPr/>
          </a:p>
        </p:txBody>
      </p:sp>
      <p:sp>
        <p:nvSpPr>
          <p:cNvPr id="16" name="Text 14"/>
          <p:cNvSpPr/>
          <p:nvPr/>
        </p:nvSpPr>
        <p:spPr>
          <a:xfrm>
            <a:off x="822960" y="4617720"/>
            <a:ext cx="621792" cy="32918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 = 128</a:t>
            </a:r>
            <a:endParaRPr lang="en-US" sz="1050" dirty="0"/>
          </a:p>
        </p:txBody>
      </p:sp>
      <p:sp>
        <p:nvSpPr>
          <p:cNvPr id="17" name="Text 15"/>
          <p:cNvSpPr/>
          <p:nvPr/>
        </p:nvSpPr>
        <p:spPr>
          <a:xfrm>
            <a:off x="1554480" y="4572000"/>
            <a:ext cx="4206240" cy="685800"/>
          </a:xfrm>
          <a:prstGeom prst="rect">
            <a:avLst/>
          </a:prstGeom>
          <a:noFill/>
          <a:ln/>
        </p:spPr>
        <p:txBody>
          <a:bodyPr wrap="square" rtlCol="0" anchor="t"/>
          <a:lstStyle/>
          <a:p>
            <a:pPr marL="0" indent="0">
              <a:lnSpc>
                <a:spcPct val="115000"/>
              </a:lnSpc>
              <a:buNone/>
            </a:pPr>
            <a:r>
              <a:rPr lang="en-US" sz="1050" dirty="0">
                <a:solidFill>
                  <a:srgbClr val="4A4A4A"/>
                </a:solidFill>
                <a:latin typeface="Calibri" pitchFamily="34" charset="0"/>
                <a:ea typeface="Calibri" pitchFamily="34" charset="-122"/>
                <a:cs typeface="Calibri" pitchFamily="34" charset="-120"/>
              </a:rPr>
              <a:t>Gần như trùng khớp ảnh gốc theo mắt thường; biên dạng và độ đậm nét được giữ nguyên.</a:t>
            </a:r>
            <a:endParaRPr lang="en-US" sz="1050" dirty="0"/>
          </a:p>
        </p:txBody>
      </p:sp>
      <p:sp>
        <p:nvSpPr>
          <p:cNvPr id="18" name="Text 16"/>
          <p:cNvSpPr/>
          <p:nvPr/>
        </p:nvSpPr>
        <p:spPr>
          <a:xfrm>
            <a:off x="822960" y="5440680"/>
            <a:ext cx="4846320" cy="548640"/>
          </a:xfrm>
          <a:prstGeom prst="rect">
            <a:avLst/>
          </a:prstGeom>
          <a:noFill/>
          <a:ln/>
        </p:spPr>
        <p:txBody>
          <a:bodyPr wrap="square" rtlCol="0" anchor="t"/>
          <a:lstStyle/>
          <a:p>
            <a:pPr marL="0" indent="0">
              <a:buNone/>
            </a:pPr>
            <a:r>
              <a:rPr lang="en-US" sz="900" i="1" dirty="0">
                <a:solidFill>
                  <a:srgbClr val="8A8A8A"/>
                </a:solidFill>
                <a:latin typeface="Calibri" pitchFamily="34" charset="0"/>
                <a:ea typeface="Calibri" pitchFamily="34" charset="-122"/>
                <a:cs typeface="Calibri" pitchFamily="34" charset="-120"/>
              </a:rPr>
              <a:t>Lưới ảnh AE đầy đủ: slide 6 (MSE theo từng d) và slide 7 (đối chiếu BCE ↔ MSE).</a:t>
            </a:r>
            <a:endParaRPr lang="en-US" sz="900" dirty="0"/>
          </a:p>
        </p:txBody>
      </p:sp>
      <p:sp>
        <p:nvSpPr>
          <p:cNvPr id="19" name="Shape 17"/>
          <p:cNvSpPr/>
          <p:nvPr/>
        </p:nvSpPr>
        <p:spPr>
          <a:xfrm>
            <a:off x="6172200" y="1645920"/>
            <a:ext cx="5486400" cy="4434840"/>
          </a:xfrm>
          <a:prstGeom prst="roundRect">
            <a:avLst>
              <a:gd name="adj" fmla="val 2474"/>
            </a:avLst>
          </a:prstGeom>
          <a:solidFill>
            <a:srgbClr val="FFFFFF"/>
          </a:solidFill>
          <a:ln w="19050">
            <a:solidFill>
              <a:srgbClr val="990011"/>
            </a:solidFill>
            <a:prstDash val="solid"/>
          </a:ln>
        </p:spPr>
      </p:sp>
      <p:sp>
        <p:nvSpPr>
          <p:cNvPr id="20" name="Text 18"/>
          <p:cNvSpPr/>
          <p:nvPr/>
        </p:nvSpPr>
        <p:spPr>
          <a:xfrm>
            <a:off x="6446520" y="1828800"/>
            <a:ext cx="4937760" cy="320040"/>
          </a:xfrm>
          <a:prstGeom prst="rect">
            <a:avLst/>
          </a:prstGeom>
          <a:noFill/>
          <a:ln/>
        </p:spPr>
        <p:txBody>
          <a:bodyPr wrap="square" rtlCol="0" anchor="ctr"/>
          <a:lstStyle/>
          <a:p>
            <a:pPr marL="0" indent="0">
              <a:buNone/>
            </a:pPr>
            <a:r>
              <a:rPr lang="en-US" sz="1200" b="1" kern="0" spc="50" dirty="0">
                <a:solidFill>
                  <a:srgbClr val="990011"/>
                </a:solidFill>
                <a:latin typeface="Calibri" pitchFamily="34" charset="0"/>
                <a:ea typeface="Calibri" pitchFamily="34" charset="-122"/>
                <a:cs typeface="Calibri" pitchFamily="34" charset="-120"/>
              </a:rPr>
              <a:t>PHÁT HIỆN BẤT THƯỜNG (huấn luyện thiếu 1 chữ số)</a:t>
            </a:r>
            <a:endParaRPr lang="en-US" sz="1200" dirty="0"/>
          </a:p>
        </p:txBody>
      </p:sp>
      <p:pic>
        <p:nvPicPr>
          <p:cNvPr id="21" name="Image 0" descr="chart_anomaly_auc.png"/>
          <p:cNvPicPr>
            <a:picLocks noChangeAspect="1"/>
          </p:cNvPicPr>
          <p:nvPr/>
        </p:nvPicPr>
        <p:blipFill>
          <a:blip r:embed="rId3"/>
          <a:stretch>
            <a:fillRect/>
          </a:stretch>
        </p:blipFill>
        <p:spPr>
          <a:xfrm>
            <a:off x="6355080" y="2148840"/>
            <a:ext cx="5257800" cy="2880360"/>
          </a:xfrm>
          <a:prstGeom prst="rect">
            <a:avLst/>
          </a:prstGeom>
        </p:spPr>
      </p:pic>
      <p:sp>
        <p:nvSpPr>
          <p:cNvPr id="22" name="Text 19"/>
          <p:cNvSpPr/>
          <p:nvPr/>
        </p:nvSpPr>
        <p:spPr>
          <a:xfrm>
            <a:off x="6446520" y="5120640"/>
            <a:ext cx="4937760" cy="868680"/>
          </a:xfrm>
          <a:prstGeom prst="rect">
            <a:avLst/>
          </a:prstGeom>
          <a:noFill/>
          <a:ln/>
        </p:spPr>
        <p:txBody>
          <a:bodyPr wrap="square" rtlCol="0" anchor="t"/>
          <a:lstStyle/>
          <a:p>
            <a:pPr marL="0" indent="0">
              <a:lnSpc>
                <a:spcPct val="120000"/>
              </a:lnSpc>
              <a:buNone/>
            </a:pPr>
            <a:r>
              <a:rPr lang="en-US" sz="1000" b="1" dirty="0">
                <a:solidFill>
                  <a:srgbClr val="660000"/>
                </a:solidFill>
                <a:latin typeface="Calibri" pitchFamily="34" charset="0"/>
                <a:ea typeface="Calibri" pitchFamily="34" charset="-122"/>
                <a:cs typeface="Calibri" pitchFamily="34" charset="-120"/>
              </a:rPr>
              <a:t>ROC AUC trung bình ≈ 0.60</a:t>
            </a:r>
            <a:r>
              <a:rPr lang="en-US" sz="1000" dirty="0">
                <a:solidFill>
                  <a:srgbClr val="4A4A4A"/>
                </a:solidFill>
                <a:latin typeface="Calibri" pitchFamily="34" charset="0"/>
                <a:ea typeface="Calibri" pitchFamily="34" charset="-122"/>
                <a:cs typeface="Calibri" pitchFamily="34" charset="-120"/>
              </a:rPr>
              <a:t>  — cao nhất ở digit 8 (0.85) và digit 2 (0.82); thất bại rõ ở digit 1 (0.01) vì nét đơn giản của số 1 vẫn được AE khác tái tạo tốt.</a:t>
            </a:r>
            <a:endParaRPr lang="en-US" sz="1000" dirty="0"/>
          </a:p>
        </p:txBody>
      </p:sp>
      <p:sp>
        <p:nvSpPr>
          <p:cNvPr id="23" name="Text 20"/>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A8A8A"/>
                </a:solidFill>
                <a:latin typeface="Calibri" pitchFamily="34" charset="0"/>
                <a:ea typeface="Calibri" pitchFamily="34" charset="-122"/>
                <a:cs typeface="Calibri" pitchFamily="34" charset="-120"/>
              </a:rPr>
              <a:t>Autoencoder (AE) — MNIST</a:t>
            </a:r>
            <a:endParaRPr lang="en-US" sz="900" dirty="0"/>
          </a:p>
        </p:txBody>
      </p:sp>
      <p:sp>
        <p:nvSpPr>
          <p:cNvPr id="24" name="Text 21"/>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8A8A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(7/7)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Phân bố sai số tái tạo: khi nào phát hiện được?</a:t>
            </a:r>
          </a:p>
        </p:txBody>
      </p:sp>
      <p:sp>
        <p:nvSpPr>
          <p:cNvPr id="4" name="Rounded Rectangle 3"/>
          <p:cNvSpPr/>
          <p:nvPr/>
        </p:nvSpPr>
        <p:spPr>
          <a:xfrm>
            <a:off x="457200"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 · ROC AUC ≈ 0.85</a:t>
            </a:r>
          </a:p>
        </p:txBody>
      </p:sp>
      <p:pic>
        <p:nvPicPr>
          <p:cNvPr id="5" name="Picture 4" descr="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AE chưa từng thấy số 8 nên tái tạo kém: phân bố cam dịch hẳn sang phải so với nhóm bình thường. Ngưỡng p95 của nhóm bình thường bắt được phần lớn mẫu bất thường — đây là trường hợp sai số tái tạo hoạt động đúng như kỳ vọng.</a:t>
            </a:r>
          </a:p>
        </p:txBody>
      </p:sp>
      <p:sp>
        <p:nvSpPr>
          <p:cNvPr id="7" name="Rounded Rectangle 6"/>
          <p:cNvSpPr/>
          <p:nvPr/>
        </p:nvSpPr>
        <p:spPr>
          <a:xfrm>
            <a:off x="6382512" y="1572768"/>
            <a:ext cx="3977639"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 · ROC AUC ≈ 0.01</a:t>
            </a:r>
          </a:p>
        </p:txBody>
      </p:sp>
      <p:pic>
        <p:nvPicPr>
          <p:cNvPr id="8" name="Picture 7" descr="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Số 1 chỉ gồm một nét thẳng, rất ít pixel sáng, nên AE huấn luyện trên 9 chữ số còn lại vẫn tái tạo nó rất tốt: sai số của nhóm "bất thường" còn thấp hơn nhóm bình thường. Tiêu chí sai số tái tạo thất bại hoàn toàn ở đây.</a:t>
            </a:r>
          </a:p>
        </p:txBody>
      </p:sp>
      <p:sp>
        <p:nvSpPr>
          <p:cNvPr id="10" name="Rounded Rectangle 9"/>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Sai số tái tạo chỉ là chỉ báo bất thường tốt khi mẫu bất thường phức tạp hơn dữ liệu huấn luyện — đây là hạn chế cốt lõi của AE trong bài toán này.</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E49C0E-1127-4C14-A4FF-6F144A0A397C}"/>
              </a:ext>
            </a:extLst>
          </p:cNvPr>
          <p:cNvPicPr>
            <a:picLocks noChangeAspect="1"/>
          </p:cNvPicPr>
          <p:nvPr/>
        </p:nvPicPr>
        <p:blipFill>
          <a:blip r:embed="rId3"/>
          <a:stretch>
            <a:fillRect/>
          </a:stretch>
        </p:blipFill>
        <p:spPr>
          <a:xfrm>
            <a:off x="428455" y="235491"/>
            <a:ext cx="11335089" cy="6387017"/>
          </a:xfrm>
          <a:prstGeom prst="rect">
            <a:avLst/>
          </a:prstGeom>
        </p:spPr>
      </p:pic>
    </p:spTree>
    <p:extLst>
      <p:ext uri="{BB962C8B-B14F-4D97-AF65-F5344CB8AC3E}">
        <p14:creationId xmlns:p14="http://schemas.microsoft.com/office/powerpoint/2010/main" val="807786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(1/6)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Loss tái tạo và KL divergence theo số chiều ẩn</a:t>
            </a:r>
          </a:p>
        </p:txBody>
      </p:sp>
      <p:pic>
        <p:nvPicPr>
          <p:cNvPr id="4" name="Picture 3" descr="vae_curves.png"/>
          <p:cNvPicPr>
            <a:picLocks noChangeAspect="1"/>
          </p:cNvPicPr>
          <p:nvPr/>
        </p:nvPicPr>
        <p:blipFill>
          <a:blip r:embed="rId3"/>
          <a:stretch>
            <a:fillRect/>
          </a:stretch>
        </p:blipFill>
        <p:spPr>
          <a:xfrm>
            <a:off x="457200" y="1554480"/>
            <a:ext cx="5577840" cy="3429000"/>
          </a:xfrm>
          <a:prstGeom prst="rect">
            <a:avLst/>
          </a:prstGeom>
        </p:spPr>
      </p:pic>
      <p:pic>
        <p:nvPicPr>
          <p:cNvPr id="5" name="Picture 4" descr="vae_finalbar.png"/>
          <p:cNvPicPr>
            <a:picLocks noChangeAspect="1"/>
          </p:cNvPicPr>
          <p:nvPr/>
        </p:nvPicPr>
        <p:blipFill>
          <a:blip r:embed="rId4"/>
          <a:stretch>
            <a:fillRect/>
          </a:stretch>
        </p:blipFill>
        <p:spPr>
          <a:xfrm>
            <a:off x="6172200" y="1554480"/>
            <a:ext cx="5577840" cy="342900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919879996"/>
              </p:ext>
            </p:extLst>
          </p:nvPr>
        </p:nvGraphicFramePr>
        <p:xfrm>
          <a:off x="457200" y="5102352"/>
          <a:ext cx="11292841" cy="1325880"/>
        </p:xfrm>
        <a:graphic>
          <a:graphicData uri="http://schemas.openxmlformats.org/drawingml/2006/table">
            <a:tbl>
              <a:tblPr>
                <a:tableStyleId>{5C22544A-7EE6-4342-B048-85BDC9FD1C3A}</a:tableStyleId>
              </a:tblPr>
              <a:tblGrid>
                <a:gridCol w="1056165">
                  <a:extLst>
                    <a:ext uri="{9D8B030D-6E8A-4147-A177-3AD203B41FA5}">
                      <a16:colId xmlns:a16="http://schemas.microsoft.com/office/drawing/2014/main" val="20000"/>
                    </a:ext>
                  </a:extLst>
                </a:gridCol>
                <a:gridCol w="1421760">
                  <a:extLst>
                    <a:ext uri="{9D8B030D-6E8A-4147-A177-3AD203B41FA5}">
                      <a16:colId xmlns:a16="http://schemas.microsoft.com/office/drawing/2014/main" val="20001"/>
                    </a:ext>
                  </a:extLst>
                </a:gridCol>
                <a:gridCol w="1381139">
                  <a:extLst>
                    <a:ext uri="{9D8B030D-6E8A-4147-A177-3AD203B41FA5}">
                      <a16:colId xmlns:a16="http://schemas.microsoft.com/office/drawing/2014/main" val="20002"/>
                    </a:ext>
                  </a:extLst>
                </a:gridCol>
                <a:gridCol w="1259274">
                  <a:extLst>
                    <a:ext uri="{9D8B030D-6E8A-4147-A177-3AD203B41FA5}">
                      <a16:colId xmlns:a16="http://schemas.microsoft.com/office/drawing/2014/main" val="20003"/>
                    </a:ext>
                  </a:extLst>
                </a:gridCol>
                <a:gridCol w="1259274">
                  <a:extLst>
                    <a:ext uri="{9D8B030D-6E8A-4147-A177-3AD203B41FA5}">
                      <a16:colId xmlns:a16="http://schemas.microsoft.com/office/drawing/2014/main" val="3343931024"/>
                    </a:ext>
                  </a:extLst>
                </a:gridCol>
                <a:gridCol w="4915229">
                  <a:extLst>
                    <a:ext uri="{9D8B030D-6E8A-4147-A177-3AD203B41FA5}">
                      <a16:colId xmlns:a16="http://schemas.microsoft.com/office/drawing/2014/main" val="20004"/>
                    </a:ext>
                  </a:extLst>
                </a:gridCol>
              </a:tblGrid>
              <a:tr h="265176">
                <a:tc>
                  <a:txBody>
                    <a:bodyPr/>
                    <a:lstStyle/>
                    <a:p>
                      <a:pPr algn="l"/>
                      <a:r>
                        <a:rPr sz="1000" b="1">
                          <a:solidFill>
                            <a:srgbClr val="FFFFFF"/>
                          </a:solidFill>
                          <a:latin typeface="Calibri"/>
                        </a:rPr>
                        <a:t>Latent dim</a:t>
                      </a:r>
                    </a:p>
                  </a:txBody>
                  <a:tcPr marL="73152" marR="73152" marT="0" marB="0" anchor="ctr">
                    <a:solidFill>
                      <a:srgbClr val="990011"/>
                    </a:solidFill>
                  </a:tcPr>
                </a:tc>
                <a:tc>
                  <a:txBody>
                    <a:bodyPr/>
                    <a:lstStyle/>
                    <a:p>
                      <a:pPr algn="ctr"/>
                      <a:r>
                        <a:rPr sz="1000" b="1">
                          <a:solidFill>
                            <a:srgbClr val="FFFFFF"/>
                          </a:solidFill>
                          <a:latin typeface="Calibri"/>
                        </a:rPr>
                        <a:t>Train recon</a:t>
                      </a:r>
                    </a:p>
                  </a:txBody>
                  <a:tcPr marL="73152" marR="73152" marT="0" marB="0" anchor="ctr">
                    <a:solidFill>
                      <a:srgbClr val="990011"/>
                    </a:solidFill>
                  </a:tcPr>
                </a:tc>
                <a:tc>
                  <a:txBody>
                    <a:bodyPr/>
                    <a:lstStyle/>
                    <a:p>
                      <a:pPr algn="ctr"/>
                      <a:r>
                        <a:rPr sz="1000" b="1">
                          <a:solidFill>
                            <a:srgbClr val="FFFFFF"/>
                          </a:solidFill>
                          <a:latin typeface="Calibri"/>
                        </a:rPr>
                        <a:t>Test recon</a:t>
                      </a:r>
                    </a:p>
                  </a:txBody>
                  <a:tcPr marL="73152" marR="73152" marT="0" marB="0" anchor="ctr">
                    <a:solidFill>
                      <a:srgbClr val="990011"/>
                    </a:solidFill>
                  </a:tcPr>
                </a:tc>
                <a:tc>
                  <a:txBody>
                    <a:bodyPr/>
                    <a:lstStyle/>
                    <a:p>
                      <a:pPr algn="ctr"/>
                      <a:r>
                        <a:rPr sz="1000" b="1" dirty="0">
                          <a:solidFill>
                            <a:srgbClr val="FFFFFF"/>
                          </a:solidFill>
                          <a:latin typeface="Calibri"/>
                        </a:rPr>
                        <a:t>Test KL</a:t>
                      </a:r>
                    </a:p>
                  </a:txBody>
                  <a:tcPr marL="73152" marR="73152" marT="0" marB="0" anchor="ctr">
                    <a:solidFill>
                      <a:srgbClr val="990011"/>
                    </a:solidFill>
                  </a:tcPr>
                </a:tc>
                <a:tc>
                  <a:txBody>
                    <a:bodyPr/>
                    <a:lstStyle/>
                    <a:p>
                      <a:pPr algn="ctr"/>
                      <a:r>
                        <a:rPr lang="vi-VN" sz="1000" b="1" dirty="0" err="1">
                          <a:solidFill>
                            <a:srgbClr val="FFFFFF"/>
                          </a:solidFill>
                          <a:latin typeface="Calibri"/>
                        </a:rPr>
                        <a:t>Total</a:t>
                      </a:r>
                      <a:r>
                        <a:rPr lang="vi-VN" sz="1000" b="1" dirty="0">
                          <a:solidFill>
                            <a:srgbClr val="FFFFFF"/>
                          </a:solidFill>
                          <a:latin typeface="Calibri"/>
                        </a:rPr>
                        <a:t> </a:t>
                      </a:r>
                      <a:r>
                        <a:rPr lang="en-US" sz="1000" b="1" dirty="0">
                          <a:solidFill>
                            <a:srgbClr val="FFFFFF"/>
                          </a:solidFill>
                          <a:latin typeface="Calibri"/>
                        </a:rPr>
                        <a:t>Loss</a:t>
                      </a:r>
                      <a:endParaRPr sz="1000" b="1" dirty="0">
                        <a:solidFill>
                          <a:srgbClr val="FFFFFF"/>
                        </a:solidFill>
                        <a:latin typeface="Calibri"/>
                      </a:endParaRPr>
                    </a:p>
                  </a:txBody>
                  <a:tcPr marL="73152" marR="73152" marT="0" marB="0" anchor="ctr">
                    <a:solidFill>
                      <a:srgbClr val="990011"/>
                    </a:solidFill>
                  </a:tcPr>
                </a:tc>
                <a:tc>
                  <a:txBody>
                    <a:bodyPr/>
                    <a:lstStyle/>
                    <a:p>
                      <a:pPr algn="ctr"/>
                      <a:r>
                        <a:rPr sz="1000" b="1">
                          <a:solidFill>
                            <a:srgbClr val="FFFFFF"/>
                          </a:solidFill>
                          <a:latin typeface="Calibri"/>
                        </a:rPr>
                        <a:t>Nhận xét</a:t>
                      </a:r>
                    </a:p>
                  </a:txBody>
                  <a:tcPr marL="73152" marR="73152" marT="0" marB="0" anchor="ctr">
                    <a:solidFill>
                      <a:srgbClr val="990011"/>
                    </a:solidFill>
                  </a:tcPr>
                </a:tc>
                <a:extLst>
                  <a:ext uri="{0D108BD9-81ED-4DB2-BD59-A6C34878D82A}">
                    <a16:rowId xmlns:a16="http://schemas.microsoft.com/office/drawing/2014/main" val="10000"/>
                  </a:ext>
                </a:extLst>
              </a:tr>
              <a:tr h="265176">
                <a:tc>
                  <a:txBody>
                    <a:bodyPr/>
                    <a:lstStyle/>
                    <a:p>
                      <a:pPr algn="l"/>
                      <a:r>
                        <a:rPr sz="1000" b="0">
                          <a:solidFill>
                            <a:srgbClr val="4A4A4A"/>
                          </a:solidFill>
                          <a:latin typeface="Calibri"/>
                        </a:rPr>
                        <a:t>2</a:t>
                      </a:r>
                    </a:p>
                  </a:txBody>
                  <a:tcPr marL="73152" marR="73152" marT="0" marB="0" anchor="ctr">
                    <a:solidFill>
                      <a:srgbClr val="FDEEF0"/>
                    </a:solidFill>
                  </a:tcPr>
                </a:tc>
                <a:tc>
                  <a:txBody>
                    <a:bodyPr/>
                    <a:lstStyle/>
                    <a:p>
                      <a:pPr algn="ctr"/>
                      <a:r>
                        <a:rPr sz="1000" b="0" dirty="0">
                          <a:solidFill>
                            <a:srgbClr val="4A4A4A"/>
                          </a:solidFill>
                          <a:latin typeface="Calibri"/>
                        </a:rPr>
                        <a:t>35.54</a:t>
                      </a:r>
                    </a:p>
                  </a:txBody>
                  <a:tcPr marL="73152" marR="73152" marT="0" marB="0" anchor="ctr">
                    <a:solidFill>
                      <a:srgbClr val="FDEEF0"/>
                    </a:solidFill>
                  </a:tcPr>
                </a:tc>
                <a:tc>
                  <a:txBody>
                    <a:bodyPr/>
                    <a:lstStyle/>
                    <a:p>
                      <a:pPr algn="ctr"/>
                      <a:r>
                        <a:rPr sz="1000" b="0" dirty="0">
                          <a:solidFill>
                            <a:srgbClr val="4A4A4A"/>
                          </a:solidFill>
                          <a:latin typeface="Calibri"/>
                        </a:rPr>
                        <a:t>34.31</a:t>
                      </a:r>
                    </a:p>
                  </a:txBody>
                  <a:tcPr marL="73152" marR="73152" marT="0" marB="0" anchor="ctr">
                    <a:solidFill>
                      <a:srgbClr val="FDEEF0"/>
                    </a:solidFill>
                  </a:tcPr>
                </a:tc>
                <a:tc>
                  <a:txBody>
                    <a:bodyPr/>
                    <a:lstStyle/>
                    <a:p>
                      <a:pPr algn="ctr"/>
                      <a:r>
                        <a:rPr sz="1000" b="0" dirty="0">
                          <a:solidFill>
                            <a:srgbClr val="4A4A4A"/>
                          </a:solidFill>
                          <a:latin typeface="Calibri"/>
                        </a:rPr>
                        <a:t>3.99</a:t>
                      </a:r>
                    </a:p>
                  </a:txBody>
                  <a:tcPr marL="73152" marR="73152" marT="0" marB="0" anchor="ctr">
                    <a:solidFill>
                      <a:srgbClr val="FDEEF0"/>
                    </a:solidFill>
                  </a:tcPr>
                </a:tc>
                <a:tc>
                  <a:txBody>
                    <a:bodyPr/>
                    <a:lstStyle/>
                    <a:p>
                      <a:pPr algn="ctr"/>
                      <a:r>
                        <a:rPr lang="en-US" sz="1000" b="0" dirty="0">
                          <a:solidFill>
                            <a:srgbClr val="4A4A4A"/>
                          </a:solidFill>
                          <a:latin typeface="Calibri"/>
                        </a:rPr>
                        <a:t>38.3</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Nút cổ chai quá hẹp — vẫn nhầm chữ số, KL rất nhỏ</a:t>
                      </a:r>
                    </a:p>
                  </a:txBody>
                  <a:tcPr marL="73152" marR="73152" marT="0" marB="0" anchor="ctr">
                    <a:solidFill>
                      <a:srgbClr val="FDEEF0"/>
                    </a:solidFill>
                  </a:tcPr>
                </a:tc>
                <a:extLst>
                  <a:ext uri="{0D108BD9-81ED-4DB2-BD59-A6C34878D82A}">
                    <a16:rowId xmlns:a16="http://schemas.microsoft.com/office/drawing/2014/main" val="10001"/>
                  </a:ext>
                </a:extLst>
              </a:tr>
              <a:tr h="265176">
                <a:tc>
                  <a:txBody>
                    <a:bodyPr/>
                    <a:lstStyle/>
                    <a:p>
                      <a:pPr algn="l"/>
                      <a:r>
                        <a:rPr sz="1000" b="0">
                          <a:solidFill>
                            <a:srgbClr val="4A4A4A"/>
                          </a:solidFill>
                          <a:latin typeface="Calibri"/>
                        </a:rPr>
                        <a:t>8</a:t>
                      </a:r>
                    </a:p>
                  </a:txBody>
                  <a:tcPr marL="73152" marR="73152" marT="0" marB="0" anchor="ctr">
                    <a:solidFill>
                      <a:srgbClr val="FFFFFF"/>
                    </a:solidFill>
                  </a:tcPr>
                </a:tc>
                <a:tc>
                  <a:txBody>
                    <a:bodyPr/>
                    <a:lstStyle/>
                    <a:p>
                      <a:pPr algn="ctr"/>
                      <a:r>
                        <a:rPr sz="1000" b="0">
                          <a:solidFill>
                            <a:srgbClr val="4A4A4A"/>
                          </a:solidFill>
                          <a:latin typeface="Calibri"/>
                        </a:rPr>
                        <a:t>19.55</a:t>
                      </a:r>
                    </a:p>
                  </a:txBody>
                  <a:tcPr marL="73152" marR="73152" marT="0" marB="0" anchor="ctr">
                    <a:solidFill>
                      <a:srgbClr val="FFFFFF"/>
                    </a:solidFill>
                  </a:tcPr>
                </a:tc>
                <a:tc>
                  <a:txBody>
                    <a:bodyPr/>
                    <a:lstStyle/>
                    <a:p>
                      <a:pPr algn="ctr"/>
                      <a:r>
                        <a:rPr sz="1000" b="0">
                          <a:solidFill>
                            <a:srgbClr val="4A4A4A"/>
                          </a:solidFill>
                          <a:latin typeface="Calibri"/>
                        </a:rPr>
                        <a:t>15.21</a:t>
                      </a:r>
                    </a:p>
                  </a:txBody>
                  <a:tcPr marL="73152" marR="73152" marT="0" marB="0" anchor="ctr">
                    <a:solidFill>
                      <a:srgbClr val="FFFFFF"/>
                    </a:solidFill>
                  </a:tcPr>
                </a:tc>
                <a:tc>
                  <a:txBody>
                    <a:bodyPr/>
                    <a:lstStyle/>
                    <a:p>
                      <a:pPr algn="ctr"/>
                      <a:r>
                        <a:rPr sz="1000" b="0">
                          <a:solidFill>
                            <a:srgbClr val="4A4A4A"/>
                          </a:solidFill>
                          <a:latin typeface="Calibri"/>
                        </a:rPr>
                        <a:t>10.88</a:t>
                      </a:r>
                    </a:p>
                  </a:txBody>
                  <a:tcPr marL="73152" marR="73152" marT="0" marB="0" anchor="ctr">
                    <a:solidFill>
                      <a:srgbClr val="FFFFFF"/>
                    </a:solidFill>
                  </a:tcPr>
                </a:tc>
                <a:tc>
                  <a:txBody>
                    <a:bodyPr/>
                    <a:lstStyle/>
                    <a:p>
                      <a:pPr algn="ctr"/>
                      <a:r>
                        <a:rPr lang="en-US" sz="1000" b="0" dirty="0">
                          <a:solidFill>
                            <a:srgbClr val="4A4A4A"/>
                          </a:solidFill>
                          <a:latin typeface="Calibri"/>
                        </a:rPr>
                        <a:t>36.09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a:solidFill>
                            <a:srgbClr val="4A4A4A"/>
                          </a:solidFill>
                          <a:latin typeface="Calibri"/>
                        </a:rPr>
                        <a:t>Đúng chữ số; KL tăng mạnh — mô hình bắt đầu dùng nhiều chiều</a:t>
                      </a:r>
                    </a:p>
                  </a:txBody>
                  <a:tcPr marL="73152" marR="73152" marT="0" marB="0" anchor="ctr">
                    <a:solidFill>
                      <a:srgbClr val="FFFFFF"/>
                    </a:solidFill>
                  </a:tcPr>
                </a:tc>
                <a:extLst>
                  <a:ext uri="{0D108BD9-81ED-4DB2-BD59-A6C34878D82A}">
                    <a16:rowId xmlns:a16="http://schemas.microsoft.com/office/drawing/2014/main" val="10002"/>
                  </a:ext>
                </a:extLst>
              </a:tr>
              <a:tr h="265176">
                <a:tc>
                  <a:txBody>
                    <a:bodyPr/>
                    <a:lstStyle/>
                    <a:p>
                      <a:pPr algn="l"/>
                      <a:r>
                        <a:rPr sz="1000" b="0">
                          <a:solidFill>
                            <a:srgbClr val="4A4A4A"/>
                          </a:solidFill>
                          <a:latin typeface="Calibri"/>
                        </a:rPr>
                        <a:t>32</a:t>
                      </a:r>
                    </a:p>
                  </a:txBody>
                  <a:tcPr marL="73152" marR="73152" marT="0" marB="0" anchor="ctr">
                    <a:solidFill>
                      <a:srgbClr val="FDEEF0"/>
                    </a:solidFill>
                  </a:tcPr>
                </a:tc>
                <a:tc>
                  <a:txBody>
                    <a:bodyPr/>
                    <a:lstStyle/>
                    <a:p>
                      <a:pPr algn="ctr"/>
                      <a:r>
                        <a:rPr sz="1000" b="0">
                          <a:solidFill>
                            <a:srgbClr val="4A4A4A"/>
                          </a:solidFill>
                          <a:latin typeface="Calibri"/>
                        </a:rPr>
                        <a:t>17.53</a:t>
                      </a:r>
                    </a:p>
                  </a:txBody>
                  <a:tcPr marL="73152" marR="73152" marT="0" marB="0" anchor="ctr">
                    <a:solidFill>
                      <a:srgbClr val="FDEEF0"/>
                    </a:solidFill>
                  </a:tcPr>
                </a:tc>
                <a:tc>
                  <a:txBody>
                    <a:bodyPr/>
                    <a:lstStyle/>
                    <a:p>
                      <a:pPr algn="ctr"/>
                      <a:r>
                        <a:rPr sz="1000" b="0">
                          <a:solidFill>
                            <a:srgbClr val="4A4A4A"/>
                          </a:solidFill>
                          <a:latin typeface="Calibri"/>
                        </a:rPr>
                        <a:t>10.88</a:t>
                      </a:r>
                    </a:p>
                  </a:txBody>
                  <a:tcPr marL="73152" marR="73152" marT="0" marB="0" anchor="ctr">
                    <a:solidFill>
                      <a:srgbClr val="FDEEF0"/>
                    </a:solidFill>
                  </a:tcPr>
                </a:tc>
                <a:tc>
                  <a:txBody>
                    <a:bodyPr/>
                    <a:lstStyle/>
                    <a:p>
                      <a:pPr algn="ctr"/>
                      <a:r>
                        <a:rPr sz="1000" b="0">
                          <a:solidFill>
                            <a:srgbClr val="4A4A4A"/>
                          </a:solidFill>
                          <a:latin typeface="Calibri"/>
                        </a:rPr>
                        <a:t>12.78</a:t>
                      </a:r>
                    </a:p>
                  </a:txBody>
                  <a:tcPr marL="73152" marR="73152" marT="0" marB="0" anchor="ctr">
                    <a:solidFill>
                      <a:srgbClr val="FDEEF0"/>
                    </a:solidFill>
                  </a:tcPr>
                </a:tc>
                <a:tc>
                  <a:txBody>
                    <a:bodyPr/>
                    <a:lstStyle/>
                    <a:p>
                      <a:pPr algn="ctr"/>
                      <a:r>
                        <a:rPr lang="en-US" sz="1000" b="0" dirty="0">
                          <a:solidFill>
                            <a:srgbClr val="4A4A4A"/>
                          </a:solidFill>
                          <a:latin typeface="Calibri"/>
                        </a:rPr>
                        <a:t>23.66</a:t>
                      </a:r>
                      <a:endParaRPr sz="1000" b="0" dirty="0">
                        <a:solidFill>
                          <a:srgbClr val="4A4A4A"/>
                        </a:solidFill>
                        <a:latin typeface="Calibri"/>
                      </a:endParaRPr>
                    </a:p>
                  </a:txBody>
                  <a:tcPr marL="73152" marR="73152" marT="0" marB="0" anchor="ctr">
                    <a:solidFill>
                      <a:srgbClr val="FDEEF0"/>
                    </a:solidFill>
                  </a:tcPr>
                </a:tc>
                <a:tc>
                  <a:txBody>
                    <a:bodyPr/>
                    <a:lstStyle/>
                    <a:p>
                      <a:pPr algn="l"/>
                      <a:r>
                        <a:rPr sz="1000" b="0">
                          <a:solidFill>
                            <a:srgbClr val="4A4A4A"/>
                          </a:solidFill>
                          <a:latin typeface="Calibri"/>
                        </a:rPr>
                        <a:t>Tốt nhất: recon thấp nhất, KL chạm trần khoảng 12.8</a:t>
                      </a:r>
                    </a:p>
                  </a:txBody>
                  <a:tcPr marL="73152" marR="73152" marT="0" marB="0" anchor="ctr">
                    <a:solidFill>
                      <a:srgbClr val="FDEEF0"/>
                    </a:solidFill>
                  </a:tcPr>
                </a:tc>
                <a:extLst>
                  <a:ext uri="{0D108BD9-81ED-4DB2-BD59-A6C34878D82A}">
                    <a16:rowId xmlns:a16="http://schemas.microsoft.com/office/drawing/2014/main" val="10003"/>
                  </a:ext>
                </a:extLst>
              </a:tr>
              <a:tr h="265176">
                <a:tc>
                  <a:txBody>
                    <a:bodyPr/>
                    <a:lstStyle/>
                    <a:p>
                      <a:pPr algn="l"/>
                      <a:r>
                        <a:rPr sz="1000" b="0">
                          <a:solidFill>
                            <a:srgbClr val="4A4A4A"/>
                          </a:solidFill>
                          <a:latin typeface="Calibri"/>
                        </a:rPr>
                        <a:t>128</a:t>
                      </a:r>
                    </a:p>
                  </a:txBody>
                  <a:tcPr marL="73152" marR="73152" marT="0" marB="0" anchor="ctr">
                    <a:solidFill>
                      <a:srgbClr val="FFFFFF"/>
                    </a:solidFill>
                  </a:tcPr>
                </a:tc>
                <a:tc>
                  <a:txBody>
                    <a:bodyPr/>
                    <a:lstStyle/>
                    <a:p>
                      <a:pPr algn="ctr"/>
                      <a:r>
                        <a:rPr sz="1000" b="0">
                          <a:solidFill>
                            <a:srgbClr val="4A4A4A"/>
                          </a:solidFill>
                          <a:latin typeface="Calibri"/>
                        </a:rPr>
                        <a:t>17.95</a:t>
                      </a:r>
                    </a:p>
                  </a:txBody>
                  <a:tcPr marL="73152" marR="73152" marT="0" marB="0" anchor="ctr">
                    <a:solidFill>
                      <a:srgbClr val="FFFFFF"/>
                    </a:solidFill>
                  </a:tcPr>
                </a:tc>
                <a:tc>
                  <a:txBody>
                    <a:bodyPr/>
                    <a:lstStyle/>
                    <a:p>
                      <a:pPr algn="ctr"/>
                      <a:r>
                        <a:rPr sz="1000" b="0">
                          <a:solidFill>
                            <a:srgbClr val="4A4A4A"/>
                          </a:solidFill>
                          <a:latin typeface="Calibri"/>
                        </a:rPr>
                        <a:t>11.17</a:t>
                      </a:r>
                    </a:p>
                  </a:txBody>
                  <a:tcPr marL="73152" marR="73152" marT="0" marB="0" anchor="ctr">
                    <a:solidFill>
                      <a:srgbClr val="FFFFFF"/>
                    </a:solidFill>
                  </a:tcPr>
                </a:tc>
                <a:tc>
                  <a:txBody>
                    <a:bodyPr/>
                    <a:lstStyle/>
                    <a:p>
                      <a:pPr algn="ctr"/>
                      <a:r>
                        <a:rPr sz="1000" b="0" dirty="0">
                          <a:solidFill>
                            <a:srgbClr val="4A4A4A"/>
                          </a:solidFill>
                          <a:latin typeface="Calibri"/>
                        </a:rPr>
                        <a:t>12.62</a:t>
                      </a:r>
                    </a:p>
                  </a:txBody>
                  <a:tcPr marL="73152" marR="73152" marT="0" marB="0" anchor="ctr">
                    <a:solidFill>
                      <a:srgbClr val="FFFFFF"/>
                    </a:solidFill>
                  </a:tcPr>
                </a:tc>
                <a:tc>
                  <a:txBody>
                    <a:bodyPr/>
                    <a:lstStyle/>
                    <a:p>
                      <a:pPr algn="ctr"/>
                      <a:r>
                        <a:rPr lang="en-US" sz="1000" b="0" dirty="0">
                          <a:solidFill>
                            <a:srgbClr val="4A4A4A"/>
                          </a:solidFill>
                          <a:latin typeface="Calibri"/>
                        </a:rPr>
                        <a:t>23.79</a:t>
                      </a:r>
                      <a:endParaRPr sz="1000" b="0" dirty="0">
                        <a:solidFill>
                          <a:srgbClr val="4A4A4A"/>
                        </a:solidFill>
                        <a:latin typeface="Calibri"/>
                      </a:endParaRPr>
                    </a:p>
                  </a:txBody>
                  <a:tcPr marL="73152" marR="73152" marT="0" marB="0" anchor="ctr">
                    <a:solidFill>
                      <a:srgbClr val="FFFFFF"/>
                    </a:solidFill>
                  </a:tcPr>
                </a:tc>
                <a:tc>
                  <a:txBody>
                    <a:bodyPr/>
                    <a:lstStyle/>
                    <a:p>
                      <a:pPr algn="l"/>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cải</a:t>
                      </a:r>
                      <a:r>
                        <a:rPr sz="1000" b="0" dirty="0">
                          <a:solidFill>
                            <a:srgbClr val="4A4A4A"/>
                          </a:solidFill>
                          <a:latin typeface="Calibri"/>
                        </a:rPr>
                        <a:t> </a:t>
                      </a:r>
                      <a:r>
                        <a:rPr sz="1000" b="0" dirty="0" err="1">
                          <a:solidFill>
                            <a:srgbClr val="4A4A4A"/>
                          </a:solidFill>
                          <a:latin typeface="Calibri"/>
                        </a:rPr>
                        <a:t>thiện</a:t>
                      </a:r>
                      <a:r>
                        <a:rPr sz="1000" b="0" dirty="0">
                          <a:solidFill>
                            <a:srgbClr val="4A4A4A"/>
                          </a:solidFill>
                          <a:latin typeface="Calibri"/>
                        </a:rPr>
                        <a:t> </a:t>
                      </a:r>
                      <a:r>
                        <a:rPr sz="1000" b="0" dirty="0" err="1">
                          <a:solidFill>
                            <a:srgbClr val="4A4A4A"/>
                          </a:solidFill>
                          <a:latin typeface="Calibri"/>
                        </a:rPr>
                        <a:t>thêm</a:t>
                      </a:r>
                      <a:r>
                        <a:rPr sz="1000" b="0" dirty="0">
                          <a:solidFill>
                            <a:srgbClr val="4A4A4A"/>
                          </a:solidFill>
                          <a:latin typeface="Calibri"/>
                        </a:rPr>
                        <a:t>; KL </a:t>
                      </a:r>
                      <a:r>
                        <a:rPr sz="1000" b="0" dirty="0" err="1">
                          <a:solidFill>
                            <a:srgbClr val="4A4A4A"/>
                          </a:solidFill>
                          <a:latin typeface="Calibri"/>
                        </a:rPr>
                        <a:t>không</a:t>
                      </a:r>
                      <a:r>
                        <a:rPr sz="1000" b="0" dirty="0">
                          <a:solidFill>
                            <a:srgbClr val="4A4A4A"/>
                          </a:solidFill>
                          <a:latin typeface="Calibri"/>
                        </a:rPr>
                        <a:t> </a:t>
                      </a:r>
                      <a:r>
                        <a:rPr sz="1000" b="0" dirty="0" err="1">
                          <a:solidFill>
                            <a:srgbClr val="4A4A4A"/>
                          </a:solidFill>
                          <a:latin typeface="Calibri"/>
                        </a:rPr>
                        <a:t>tăng</a:t>
                      </a:r>
                      <a:r>
                        <a:rPr sz="1000" b="0" dirty="0">
                          <a:solidFill>
                            <a:srgbClr val="4A4A4A"/>
                          </a:solidFill>
                          <a:latin typeface="Calibri"/>
                        </a:rPr>
                        <a:t> → </a:t>
                      </a:r>
                      <a:r>
                        <a:rPr sz="1000" b="0" dirty="0" err="1">
                          <a:solidFill>
                            <a:srgbClr val="4A4A4A"/>
                          </a:solidFill>
                          <a:latin typeface="Calibri"/>
                        </a:rPr>
                        <a:t>chiều</a:t>
                      </a:r>
                      <a:r>
                        <a:rPr sz="1000" b="0" dirty="0">
                          <a:solidFill>
                            <a:srgbClr val="4A4A4A"/>
                          </a:solidFill>
                          <a:latin typeface="Calibri"/>
                        </a:rPr>
                        <a:t> </a:t>
                      </a:r>
                      <a:r>
                        <a:rPr sz="1000" b="0" dirty="0" err="1">
                          <a:solidFill>
                            <a:srgbClr val="4A4A4A"/>
                          </a:solidFill>
                          <a:latin typeface="Calibri"/>
                        </a:rPr>
                        <a:t>thừa</a:t>
                      </a:r>
                      <a:r>
                        <a:rPr sz="1000" b="0" dirty="0">
                          <a:solidFill>
                            <a:srgbClr val="4A4A4A"/>
                          </a:solidFill>
                          <a:latin typeface="Calibri"/>
                        </a:rPr>
                        <a:t> </a:t>
                      </a:r>
                      <a:r>
                        <a:rPr sz="1000" b="0" dirty="0" err="1">
                          <a:solidFill>
                            <a:srgbClr val="4A4A4A"/>
                          </a:solidFill>
                          <a:latin typeface="Calibri"/>
                        </a:rPr>
                        <a:t>bị</a:t>
                      </a:r>
                      <a:r>
                        <a:rPr sz="1000" b="0" dirty="0">
                          <a:solidFill>
                            <a:srgbClr val="4A4A4A"/>
                          </a:solidFill>
                          <a:latin typeface="Calibri"/>
                        </a:rPr>
                        <a:t> </a:t>
                      </a:r>
                      <a:r>
                        <a:rPr sz="1000" b="0" dirty="0" err="1">
                          <a:solidFill>
                            <a:srgbClr val="4A4A4A"/>
                          </a:solidFill>
                          <a:latin typeface="Calibri"/>
                        </a:rPr>
                        <a:t>bỏ</a:t>
                      </a:r>
                      <a:r>
                        <a:rPr sz="1000" b="0" dirty="0">
                          <a:solidFill>
                            <a:srgbClr val="4A4A4A"/>
                          </a:solidFill>
                          <a:latin typeface="Calibri"/>
                        </a:rPr>
                        <a:t> </a:t>
                      </a:r>
                      <a:r>
                        <a:rPr sz="1000" b="0" dirty="0" err="1">
                          <a:solidFill>
                            <a:srgbClr val="4A4A4A"/>
                          </a:solidFill>
                          <a:latin typeface="Calibri"/>
                        </a:rPr>
                        <a:t>trống</a:t>
                      </a:r>
                      <a:endParaRPr sz="1000" b="0" dirty="0">
                        <a:solidFill>
                          <a:srgbClr val="4A4A4A"/>
                        </a:solidFill>
                        <a:latin typeface="Calibri"/>
                      </a:endParaRP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8" name="TextBox 7"/>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(2/6)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Lưới ảnh gốc / tái tạo theo số chiều ẩn (MSE)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cách đọc như slide 6: mỗi cặp cột liền nhau là ảnh gốc và ảnh tái tạo; ở chế độ eval VAE dùng μ nên kết quả là tất định.</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Nhoè và nhầm chữ số (2 → 3) đúng như AE ở cùng d.</a:t>
            </a:r>
          </a:p>
        </p:txBody>
      </p:sp>
      <p:pic>
        <p:nvPicPr>
          <p:cNvPr id="7" name="Picture 6" descr="v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mềm và tròn hơn do ràng buộc KL.</a:t>
            </a:r>
          </a:p>
        </p:txBody>
      </p:sp>
      <p:pic>
        <p:nvPicPr>
          <p:cNvPr id="10" name="Picture 9" descr="v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Tốt nhất trong bốn mức; chi tiết nét đã ổn định.</a:t>
            </a:r>
          </a:p>
        </p:txBody>
      </p:sp>
      <p:pic>
        <p:nvPicPr>
          <p:cNvPr id="13" name="Picture 12" descr="v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Không tốt hơn d = 32 — thêm chiều không còn tác dụng.</a:t>
            </a:r>
          </a:p>
        </p:txBody>
      </p:sp>
      <p:pic>
        <p:nvPicPr>
          <p:cNvPr id="16" name="Picture 15" descr="v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So với AE ở cùng d, ảnh của VAE mờ hơn một chút ở mọi mức — đó là cái giá phải trả cho ràng buộc KL, đổi lại là một không gian ẩn liên tục và lấy mẫu được.</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(4/6)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với hai hàm mất mát: BCE ↔ MSE</a:t>
            </a:r>
          </a:p>
        </p:txBody>
      </p:sp>
      <p:sp>
        <p:nvSpPr>
          <p:cNvPr id="4" name="Rounded Rectangle 3"/>
          <p:cNvSpPr/>
          <p:nvPr/>
        </p:nvSpPr>
        <p:spPr>
          <a:xfrm>
            <a:off x="457200"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2</a:t>
            </a:r>
          </a:p>
        </p:txBody>
      </p:sp>
      <p:pic>
        <p:nvPicPr>
          <p:cNvPr id="5" name="Picture 4" descr="vbce_2_top.png"/>
          <p:cNvPicPr>
            <a:picLocks noChangeAspect="1"/>
          </p:cNvPicPr>
          <p:nvPr/>
        </p:nvPicPr>
        <p:blipFill>
          <a:blip r:embed="rId3"/>
          <a:stretch>
            <a:fillRect/>
          </a:stretch>
        </p:blipFill>
        <p:spPr>
          <a:xfrm>
            <a:off x="457200" y="2011680"/>
            <a:ext cx="5349240" cy="1370466"/>
          </a:xfrm>
          <a:prstGeom prst="rect">
            <a:avLst/>
          </a:prstGeom>
        </p:spPr>
      </p:pic>
      <p:sp>
        <p:nvSpPr>
          <p:cNvPr id="6" name="Rounded Rectangle 5"/>
          <p:cNvSpPr/>
          <p:nvPr/>
        </p:nvSpPr>
        <p:spPr>
          <a:xfrm>
            <a:off x="6382512" y="1645920"/>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2</a:t>
            </a:r>
          </a:p>
        </p:txBody>
      </p:sp>
      <p:pic>
        <p:nvPicPr>
          <p:cNvPr id="7" name="Picture 6" descr="vmse_2_top.png"/>
          <p:cNvPicPr>
            <a:picLocks noChangeAspect="1"/>
          </p:cNvPicPr>
          <p:nvPr/>
        </p:nvPicPr>
        <p:blipFill>
          <a:blip r:embed="rId4"/>
          <a:stretch>
            <a:fillRect/>
          </a:stretch>
        </p:blipFill>
        <p:spPr>
          <a:xfrm>
            <a:off x="6382512" y="2011680"/>
            <a:ext cx="5349240" cy="1370466"/>
          </a:xfrm>
          <a:prstGeom prst="rect">
            <a:avLst/>
          </a:prstGeom>
        </p:spPr>
      </p:pic>
      <p:sp>
        <p:nvSpPr>
          <p:cNvPr id="8" name="Rounded Rectangle 7"/>
          <p:cNvSpPr/>
          <p:nvPr/>
        </p:nvSpPr>
        <p:spPr>
          <a:xfrm>
            <a:off x="457200"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BCE · d = 8</a:t>
            </a:r>
          </a:p>
        </p:txBody>
      </p:sp>
      <p:pic>
        <p:nvPicPr>
          <p:cNvPr id="9" name="Picture 8" descr="vbce_8_top.png"/>
          <p:cNvPicPr>
            <a:picLocks noChangeAspect="1"/>
          </p:cNvPicPr>
          <p:nvPr/>
        </p:nvPicPr>
        <p:blipFill>
          <a:blip r:embed="rId5"/>
          <a:stretch>
            <a:fillRect/>
          </a:stretch>
        </p:blipFill>
        <p:spPr>
          <a:xfrm>
            <a:off x="457200" y="3950208"/>
            <a:ext cx="5349240" cy="1370466"/>
          </a:xfrm>
          <a:prstGeom prst="rect">
            <a:avLst/>
          </a:prstGeom>
        </p:spPr>
      </p:pic>
      <p:sp>
        <p:nvSpPr>
          <p:cNvPr id="10" name="Rounded Rectangle 9"/>
          <p:cNvSpPr/>
          <p:nvPr/>
        </p:nvSpPr>
        <p:spPr>
          <a:xfrm>
            <a:off x="6382512" y="3584448"/>
            <a:ext cx="105156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MSE · d = 8</a:t>
            </a:r>
          </a:p>
        </p:txBody>
      </p:sp>
      <p:pic>
        <p:nvPicPr>
          <p:cNvPr id="11" name="Picture 10" descr="vmse_8_top.png"/>
          <p:cNvPicPr>
            <a:picLocks noChangeAspect="1"/>
          </p:cNvPicPr>
          <p:nvPr/>
        </p:nvPicPr>
        <p:blipFill>
          <a:blip r:embed="rId6"/>
          <a:stretch>
            <a:fillRect/>
          </a:stretch>
        </p:blipFill>
        <p:spPr>
          <a:xfrm>
            <a:off x="6382512" y="3950208"/>
            <a:ext cx="5349240" cy="1370466"/>
          </a:xfrm>
          <a:prstGeom prst="rect">
            <a:avLst/>
          </a:prstGeom>
        </p:spPr>
      </p:pic>
      <p:sp>
        <p:nvSpPr>
          <p:cNvPr id="12" name="Rounded Rectangle 11"/>
          <p:cNvSpPr/>
          <p:nvPr/>
        </p:nvSpPr>
        <p:spPr>
          <a:xfrm>
            <a:off x="457200" y="5573256"/>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655552"/>
            <a:ext cx="10835640" cy="685800"/>
          </a:xfrm>
          <a:prstGeom prst="rect">
            <a:avLst/>
          </a:prstGeom>
          <a:noFill/>
        </p:spPr>
        <p:txBody>
          <a:bodyPr wrap="square" anchor="t">
            <a:spAutoFit/>
          </a:bodyPr>
          <a:lstStyle/>
          <a:p>
            <a:pPr algn="l"/>
            <a:r>
              <a:rPr sz="1100" b="0" i="0">
                <a:solidFill>
                  <a:srgbClr val="4A4A4A"/>
                </a:solidFill>
                <a:latin typeface="Calibri"/>
              </a:rPr>
              <a:t>Khác với AE, hai hàm mất mát ở VAE cho khác biệt nhìn thấy được: bản BCE nét sáng và đậm hơn, bản MSE nhạt và mờ hơn ở cùng d. Nguyên nhân là thang giá trị: BCE lớn hơn MSE nhiều lần, nên cùng β = 1 bản BCE "chi" tới ≈27.7 KL ở d = 32 so với 12.78 của MSE — muốn so sánh công bằng phải chỉnh β theo thang của hàm tái tạo.</a:t>
            </a:r>
          </a:p>
        </p:txBody>
      </p:sp>
      <p:sp>
        <p:nvSpPr>
          <p:cNvPr id="14" name="TextBox 1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5" name="TextBox 1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(5/6)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Không gian ẩn 2D (μ hậu nghiệm)</a:t>
            </a:r>
          </a:p>
        </p:txBody>
      </p:sp>
      <p:sp>
        <p:nvSpPr>
          <p:cNvPr id="4" name="Rounded Rectangle 3"/>
          <p:cNvSpPr/>
          <p:nvPr/>
        </p:nvSpPr>
        <p:spPr>
          <a:xfrm>
            <a:off x="161848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MSE · d = 2</a:t>
            </a:r>
          </a:p>
        </p:txBody>
      </p:sp>
      <p:pic>
        <p:nvPicPr>
          <p:cNvPr id="5" name="Picture 4" descr="latent_map_2d_mse.png"/>
          <p:cNvPicPr>
            <a:picLocks noChangeAspect="1"/>
          </p:cNvPicPr>
          <p:nvPr/>
        </p:nvPicPr>
        <p:blipFill>
          <a:blip r:embed="rId3"/>
          <a:stretch>
            <a:fillRect/>
          </a:stretch>
        </p:blipFill>
        <p:spPr>
          <a:xfrm>
            <a:off x="1618488" y="1975104"/>
            <a:ext cx="4160520" cy="3566160"/>
          </a:xfrm>
          <a:prstGeom prst="rect">
            <a:avLst/>
          </a:prstGeom>
        </p:spPr>
      </p:pic>
      <p:sp>
        <p:nvSpPr>
          <p:cNvPr id="6" name="Rounded Rectangle 5"/>
          <p:cNvSpPr/>
          <p:nvPr/>
        </p:nvSpPr>
        <p:spPr>
          <a:xfrm>
            <a:off x="637336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VAE · loss = BCE · d = 2</a:t>
            </a:r>
          </a:p>
        </p:txBody>
      </p:sp>
      <p:pic>
        <p:nvPicPr>
          <p:cNvPr id="7" name="Picture 6" descr="latent_map_2d_bce.png"/>
          <p:cNvPicPr>
            <a:picLocks noChangeAspect="1"/>
          </p:cNvPicPr>
          <p:nvPr/>
        </p:nvPicPr>
        <p:blipFill>
          <a:blip r:embed="rId4"/>
          <a:stretch>
            <a:fillRect/>
          </a:stretch>
        </p:blipFill>
        <p:spPr>
          <a:xfrm>
            <a:off x="6373368" y="1975104"/>
            <a:ext cx="4160520" cy="3566160"/>
          </a:xfrm>
          <a:prstGeom prst="rect">
            <a:avLst/>
          </a:prstGeom>
        </p:spPr>
      </p:pic>
      <p:sp>
        <p:nvSpPr>
          <p:cNvPr id="8" name="Rounded Rectangle 7"/>
          <p:cNvSpPr/>
          <p:nvPr/>
        </p:nvSpPr>
        <p:spPr>
          <a:xfrm>
            <a:off x="457200" y="5669280"/>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5742432"/>
            <a:ext cx="10835640" cy="530352"/>
          </a:xfrm>
          <a:prstGeom prst="rect">
            <a:avLst/>
          </a:prstGeom>
          <a:noFill/>
        </p:spPr>
        <p:txBody>
          <a:bodyPr wrap="square" anchor="t">
            <a:spAutoFit/>
          </a:bodyPr>
          <a:lstStyle/>
          <a:p>
            <a:pPr algn="l"/>
            <a:r>
              <a:rPr sz="1100" b="0" i="0">
                <a:solidFill>
                  <a:srgbClr val="4A4A4A"/>
                </a:solidFill>
                <a:latin typeface="Calibri"/>
              </a:rPr>
              <a:t>Cả hai bản đồ đều nằm gọn trong khoảng ±3 quanh gốc toạ độ và lấp đầy vùng trung tâm — đúng như kỳ vọng khi KL kéo mọi q(z|x) về N(0, I). Các lớp tách thành từng vùng liền kề nhau chứ không rời rạc, nên nội suy giữa hai điểm bất kỳ vẫn đi qua vùng hợp lệ; đổi lại, ở d = 2 các lớp chồng lấn khá nhiều nên tái tạo còn nhầm chữ số.</a:t>
            </a:r>
          </a:p>
        </p:txBody>
      </p:sp>
      <p:sp>
        <p:nvSpPr>
          <p:cNvPr id="10" name="TextBox 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1" name="TextBox 1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(6/6)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Phát hiện bất thường bằng negative ELBO</a:t>
            </a:r>
          </a:p>
        </p:txBody>
      </p:sp>
      <p:sp>
        <p:nvSpPr>
          <p:cNvPr id="4" name="Rounded Rectangle 3"/>
          <p:cNvSpPr/>
          <p:nvPr/>
        </p:nvSpPr>
        <p:spPr>
          <a:xfrm>
            <a:off x="457200"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8 bị loại khỏi tập huấn luyện</a:t>
            </a:r>
          </a:p>
        </p:txBody>
      </p:sp>
      <p:pic>
        <p:nvPicPr>
          <p:cNvPr id="5" name="Picture 4" descr="vhist_8.png"/>
          <p:cNvPicPr>
            <a:picLocks noChangeAspect="1"/>
          </p:cNvPicPr>
          <p:nvPr/>
        </p:nvPicPr>
        <p:blipFill>
          <a:blip r:embed="rId3"/>
          <a:stretch>
            <a:fillRect/>
          </a:stretch>
        </p:blipFill>
        <p:spPr>
          <a:xfrm>
            <a:off x="457200" y="1975104"/>
            <a:ext cx="5349240" cy="3056709"/>
          </a:xfrm>
          <a:prstGeom prst="rect">
            <a:avLst/>
          </a:prstGeom>
        </p:spPr>
      </p:pic>
      <p:sp>
        <p:nvSpPr>
          <p:cNvPr id="6" name="TextBox 5"/>
          <p:cNvSpPr txBox="1"/>
          <p:nvPr/>
        </p:nvSpPr>
        <p:spPr>
          <a:xfrm>
            <a:off x="457200" y="5138928"/>
            <a:ext cx="5349240" cy="1143000"/>
          </a:xfrm>
          <a:prstGeom prst="rect">
            <a:avLst/>
          </a:prstGeom>
          <a:noFill/>
        </p:spPr>
        <p:txBody>
          <a:bodyPr wrap="square" anchor="t">
            <a:spAutoFit/>
          </a:bodyPr>
          <a:lstStyle/>
          <a:p>
            <a:pPr algn="l"/>
            <a:r>
              <a:rPr sz="1100" b="0" i="0">
                <a:solidFill>
                  <a:srgbClr val="4A4A4A"/>
                </a:solidFill>
                <a:latin typeface="Calibri"/>
              </a:rPr>
              <a:t>Phân bố cam dịch hẳn sang phải và vượt ngưỡng p95 của nhóm bình thường — tiêu chí negative ELBO hoạt động đúng, giống kết luận của AE trên cùng chữ số.</a:t>
            </a:r>
          </a:p>
        </p:txBody>
      </p:sp>
      <p:sp>
        <p:nvSpPr>
          <p:cNvPr id="7" name="Rounded Rectangle 6"/>
          <p:cNvSpPr/>
          <p:nvPr/>
        </p:nvSpPr>
        <p:spPr>
          <a:xfrm>
            <a:off x="6382512" y="1572768"/>
            <a:ext cx="36118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Chữ số 1 bị loại khỏi tập huấn luyện</a:t>
            </a:r>
          </a:p>
        </p:txBody>
      </p:sp>
      <p:pic>
        <p:nvPicPr>
          <p:cNvPr id="8" name="Picture 7" descr="vhist_1.png"/>
          <p:cNvPicPr>
            <a:picLocks noChangeAspect="1"/>
          </p:cNvPicPr>
          <p:nvPr/>
        </p:nvPicPr>
        <p:blipFill>
          <a:blip r:embed="rId4"/>
          <a:stretch>
            <a:fillRect/>
          </a:stretch>
        </p:blipFill>
        <p:spPr>
          <a:xfrm>
            <a:off x="6382512" y="1975104"/>
            <a:ext cx="5349240" cy="3056709"/>
          </a:xfrm>
          <a:prstGeom prst="rect">
            <a:avLst/>
          </a:prstGeom>
        </p:spPr>
      </p:pic>
      <p:sp>
        <p:nvSpPr>
          <p:cNvPr id="9" name="TextBox 8"/>
          <p:cNvSpPr txBox="1"/>
          <p:nvPr/>
        </p:nvSpPr>
        <p:spPr>
          <a:xfrm>
            <a:off x="6382512" y="5138928"/>
            <a:ext cx="5349240" cy="1143000"/>
          </a:xfrm>
          <a:prstGeom prst="rect">
            <a:avLst/>
          </a:prstGeom>
          <a:noFill/>
        </p:spPr>
        <p:txBody>
          <a:bodyPr wrap="square" anchor="t">
            <a:spAutoFit/>
          </a:bodyPr>
          <a:lstStyle/>
          <a:p>
            <a:pPr algn="l"/>
            <a:r>
              <a:rPr sz="1100" b="0" i="0">
                <a:solidFill>
                  <a:srgbClr val="4A4A4A"/>
                </a:solidFill>
                <a:latin typeface="Calibri"/>
              </a:rPr>
              <a:t>Vẫn thất bại y như AE: điểm số của nhóm "bất thường" tập trung quanh 60, thấp hơn hẳn nhóm bình thường (~100). Thêm số hạng KL không cứu được ca này.</a:t>
            </a:r>
          </a:p>
        </p:txBody>
      </p:sp>
      <p:sp>
        <p:nvSpPr>
          <p:cNvPr id="10" name="Rounded Rectangle 9"/>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Kết luận giữ nguyên khi đổi từ sai số tái tạo sang negative ELBO: điểm yếu nằm ở tiêu chí "mẫu lạ thì khó tái tạo", không nằm ở mô hình.</a:t>
            </a:r>
          </a:p>
        </p:txBody>
      </p:sp>
      <p:sp>
        <p:nvSpPr>
          <p:cNvPr id="12" name="TextBox 11"/>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3" name="TextBox 12"/>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06 · SO SÁNH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Cùng kiến trúc, cùng dữ liệu — khác nhau ở ràng buộc KL</a:t>
            </a:r>
          </a:p>
        </p:txBody>
      </p:sp>
      <p:graphicFrame>
        <p:nvGraphicFramePr>
          <p:cNvPr id="4" name="Table 3"/>
          <p:cNvGraphicFramePr>
            <a:graphicFrameLocks noGrp="1"/>
          </p:cNvGraphicFramePr>
          <p:nvPr/>
        </p:nvGraphicFramePr>
        <p:xfrm>
          <a:off x="457200" y="1691640"/>
          <a:ext cx="5486400" cy="1554480"/>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10896">
                <a:tc>
                  <a:txBody>
                    <a:bodyPr/>
                    <a:lstStyle/>
                    <a:p>
                      <a:pPr algn="l"/>
                      <a:r>
                        <a:rPr sz="1100" b="1">
                          <a:solidFill>
                            <a:srgbClr val="FFFFFF"/>
                          </a:solidFill>
                          <a:latin typeface="Calibri"/>
                        </a:rPr>
                        <a:t>Latent dim</a:t>
                      </a:r>
                    </a:p>
                  </a:txBody>
                  <a:tcPr marL="73152" marR="73152" marT="0" marB="0" anchor="ctr">
                    <a:solidFill>
                      <a:srgbClr val="990011"/>
                    </a:solidFill>
                  </a:tcPr>
                </a:tc>
                <a:tc>
                  <a:txBody>
                    <a:bodyPr/>
                    <a:lstStyle/>
                    <a:p>
                      <a:pPr algn="ctr"/>
                      <a:r>
                        <a:rPr sz="1100" b="1">
                          <a:solidFill>
                            <a:srgbClr val="FFFFFF"/>
                          </a:solidFill>
                          <a:latin typeface="Calibri"/>
                        </a:rPr>
                        <a:t>AE recon</a:t>
                      </a:r>
                    </a:p>
                  </a:txBody>
                  <a:tcPr marL="73152" marR="73152" marT="0" marB="0" anchor="ctr">
                    <a:solidFill>
                      <a:srgbClr val="990011"/>
                    </a:solidFill>
                  </a:tcPr>
                </a:tc>
                <a:tc>
                  <a:txBody>
                    <a:bodyPr/>
                    <a:lstStyle/>
                    <a:p>
                      <a:pPr algn="ctr"/>
                      <a:r>
                        <a:rPr sz="1100" b="1">
                          <a:solidFill>
                            <a:srgbClr val="FFFFFF"/>
                          </a:solidFill>
                          <a:latin typeface="Calibri"/>
                        </a:rPr>
                        <a:t>VAE recon</a:t>
                      </a:r>
                    </a:p>
                  </a:txBody>
                  <a:tcPr marL="73152" marR="73152" marT="0" marB="0" anchor="ctr">
                    <a:solidFill>
                      <a:srgbClr val="990011"/>
                    </a:solidFill>
                  </a:tcPr>
                </a:tc>
                <a:tc>
                  <a:txBody>
                    <a:bodyPr/>
                    <a:lstStyle/>
                    <a:p>
                      <a:pPr algn="ctr"/>
                      <a:r>
                        <a:rPr sz="1100" b="1">
                          <a:solidFill>
                            <a:srgbClr val="FFFFFF"/>
                          </a:solidFill>
                          <a:latin typeface="Calibri"/>
                        </a:rPr>
                        <a:t>VAE KL</a:t>
                      </a:r>
                    </a:p>
                  </a:txBody>
                  <a:tcPr marL="73152" marR="73152" marT="0" marB="0" anchor="ctr">
                    <a:solidFill>
                      <a:srgbClr val="990011"/>
                    </a:solidFill>
                  </a:tcPr>
                </a:tc>
                <a:extLst>
                  <a:ext uri="{0D108BD9-81ED-4DB2-BD59-A6C34878D82A}">
                    <a16:rowId xmlns:a16="http://schemas.microsoft.com/office/drawing/2014/main" val="10000"/>
                  </a:ext>
                </a:extLst>
              </a:tr>
              <a:tr h="310896">
                <a:tc>
                  <a:txBody>
                    <a:bodyPr/>
                    <a:lstStyle/>
                    <a:p>
                      <a:pPr algn="l"/>
                      <a:r>
                        <a:rPr sz="1100" b="0">
                          <a:solidFill>
                            <a:srgbClr val="4A4A4A"/>
                          </a:solidFill>
                          <a:latin typeface="Calibri"/>
                        </a:rPr>
                        <a:t>2</a:t>
                      </a:r>
                    </a:p>
                  </a:txBody>
                  <a:tcPr marL="73152" marR="73152" marT="0" marB="0" anchor="ctr">
                    <a:solidFill>
                      <a:srgbClr val="FDEEF0"/>
                    </a:solidFill>
                  </a:tcPr>
                </a:tc>
                <a:tc>
                  <a:txBody>
                    <a:bodyPr/>
                    <a:lstStyle/>
                    <a:p>
                      <a:pPr algn="ctr"/>
                      <a:r>
                        <a:rPr sz="1100" b="0" dirty="0">
                          <a:solidFill>
                            <a:srgbClr val="4A4A4A"/>
                          </a:solidFill>
                          <a:latin typeface="Calibri"/>
                        </a:rPr>
                        <a:t>33.65</a:t>
                      </a:r>
                    </a:p>
                  </a:txBody>
                  <a:tcPr marL="73152" marR="73152" marT="0" marB="0" anchor="ctr">
                    <a:solidFill>
                      <a:srgbClr val="FDEEF0"/>
                    </a:solidFill>
                  </a:tcPr>
                </a:tc>
                <a:tc>
                  <a:txBody>
                    <a:bodyPr/>
                    <a:lstStyle/>
                    <a:p>
                      <a:pPr algn="ctr"/>
                      <a:r>
                        <a:rPr sz="1100" b="0" dirty="0">
                          <a:solidFill>
                            <a:srgbClr val="4A4A4A"/>
                          </a:solidFill>
                          <a:latin typeface="Calibri"/>
                        </a:rPr>
                        <a:t>34.31</a:t>
                      </a:r>
                    </a:p>
                  </a:txBody>
                  <a:tcPr marL="73152" marR="73152" marT="0" marB="0" anchor="ctr">
                    <a:solidFill>
                      <a:srgbClr val="FDEEF0"/>
                    </a:solidFill>
                  </a:tcPr>
                </a:tc>
                <a:tc>
                  <a:txBody>
                    <a:bodyPr/>
                    <a:lstStyle/>
                    <a:p>
                      <a:pPr algn="ctr"/>
                      <a:r>
                        <a:rPr sz="1100" b="0">
                          <a:solidFill>
                            <a:srgbClr val="4A4A4A"/>
                          </a:solidFill>
                          <a:latin typeface="Calibri"/>
                        </a:rPr>
                        <a:t>3.99</a:t>
                      </a:r>
                    </a:p>
                  </a:txBody>
                  <a:tcPr marL="73152" marR="73152" marT="0" marB="0" anchor="ctr">
                    <a:solidFill>
                      <a:srgbClr val="FDEEF0"/>
                    </a:solidFill>
                  </a:tcPr>
                </a:tc>
                <a:extLst>
                  <a:ext uri="{0D108BD9-81ED-4DB2-BD59-A6C34878D82A}">
                    <a16:rowId xmlns:a16="http://schemas.microsoft.com/office/drawing/2014/main" val="10001"/>
                  </a:ext>
                </a:extLst>
              </a:tr>
              <a:tr h="310896">
                <a:tc>
                  <a:txBody>
                    <a:bodyPr/>
                    <a:lstStyle/>
                    <a:p>
                      <a:pPr algn="l"/>
                      <a:r>
                        <a:rPr sz="1100" b="0">
                          <a:solidFill>
                            <a:srgbClr val="4A4A4A"/>
                          </a:solidFill>
                          <a:latin typeface="Calibri"/>
                        </a:rPr>
                        <a:t>8</a:t>
                      </a:r>
                    </a:p>
                  </a:txBody>
                  <a:tcPr marL="73152" marR="73152" marT="0" marB="0" anchor="ctr">
                    <a:solidFill>
                      <a:srgbClr val="FFFFFF"/>
                    </a:solidFill>
                  </a:tcPr>
                </a:tc>
                <a:tc>
                  <a:txBody>
                    <a:bodyPr/>
                    <a:lstStyle/>
                    <a:p>
                      <a:pPr algn="ctr"/>
                      <a:r>
                        <a:rPr sz="1100" b="0" dirty="0">
                          <a:solidFill>
                            <a:srgbClr val="4A4A4A"/>
                          </a:solidFill>
                          <a:latin typeface="Calibri"/>
                        </a:rPr>
                        <a:t>14.24</a:t>
                      </a:r>
                    </a:p>
                  </a:txBody>
                  <a:tcPr marL="73152" marR="73152" marT="0" marB="0" anchor="ctr">
                    <a:solidFill>
                      <a:srgbClr val="FFFFFF"/>
                    </a:solidFill>
                  </a:tcPr>
                </a:tc>
                <a:tc>
                  <a:txBody>
                    <a:bodyPr/>
                    <a:lstStyle/>
                    <a:p>
                      <a:pPr algn="ctr"/>
                      <a:r>
                        <a:rPr sz="1100" b="0" dirty="0">
                          <a:solidFill>
                            <a:srgbClr val="4A4A4A"/>
                          </a:solidFill>
                          <a:latin typeface="Calibri"/>
                        </a:rPr>
                        <a:t>15.21</a:t>
                      </a:r>
                    </a:p>
                  </a:txBody>
                  <a:tcPr marL="73152" marR="73152" marT="0" marB="0" anchor="ctr">
                    <a:solidFill>
                      <a:srgbClr val="FFFFFF"/>
                    </a:solidFill>
                  </a:tcPr>
                </a:tc>
                <a:tc>
                  <a:txBody>
                    <a:bodyPr/>
                    <a:lstStyle/>
                    <a:p>
                      <a:pPr algn="ctr"/>
                      <a:r>
                        <a:rPr sz="1100" b="0">
                          <a:solidFill>
                            <a:srgbClr val="4A4A4A"/>
                          </a:solidFill>
                          <a:latin typeface="Calibri"/>
                        </a:rPr>
                        <a:t>10.88</a:t>
                      </a:r>
                    </a:p>
                  </a:txBody>
                  <a:tcPr marL="73152" marR="73152" marT="0" marB="0" anchor="ctr">
                    <a:solidFill>
                      <a:srgbClr val="FFFFFF"/>
                    </a:solidFill>
                  </a:tcPr>
                </a:tc>
                <a:extLst>
                  <a:ext uri="{0D108BD9-81ED-4DB2-BD59-A6C34878D82A}">
                    <a16:rowId xmlns:a16="http://schemas.microsoft.com/office/drawing/2014/main" val="10002"/>
                  </a:ext>
                </a:extLst>
              </a:tr>
              <a:tr h="310896">
                <a:tc>
                  <a:txBody>
                    <a:bodyPr/>
                    <a:lstStyle/>
                    <a:p>
                      <a:pPr algn="l"/>
                      <a:r>
                        <a:rPr sz="1100" b="0">
                          <a:solidFill>
                            <a:srgbClr val="4A4A4A"/>
                          </a:solidFill>
                          <a:latin typeface="Calibri"/>
                        </a:rPr>
                        <a:t>32</a:t>
                      </a:r>
                    </a:p>
                  </a:txBody>
                  <a:tcPr marL="73152" marR="73152" marT="0" marB="0" anchor="ctr">
                    <a:solidFill>
                      <a:srgbClr val="FDEEF0"/>
                    </a:solidFill>
                  </a:tcPr>
                </a:tc>
                <a:tc>
                  <a:txBody>
                    <a:bodyPr/>
                    <a:lstStyle/>
                    <a:p>
                      <a:pPr algn="ctr"/>
                      <a:r>
                        <a:rPr sz="1100" b="0">
                          <a:solidFill>
                            <a:srgbClr val="4A4A4A"/>
                          </a:solidFill>
                          <a:latin typeface="Calibri"/>
                        </a:rPr>
                        <a:t>3.35</a:t>
                      </a:r>
                    </a:p>
                  </a:txBody>
                  <a:tcPr marL="73152" marR="73152" marT="0" marB="0" anchor="ctr">
                    <a:solidFill>
                      <a:srgbClr val="FDEEF0"/>
                    </a:solidFill>
                  </a:tcPr>
                </a:tc>
                <a:tc>
                  <a:txBody>
                    <a:bodyPr/>
                    <a:lstStyle/>
                    <a:p>
                      <a:pPr algn="ctr"/>
                      <a:r>
                        <a:rPr sz="1100" b="0">
                          <a:solidFill>
                            <a:srgbClr val="4A4A4A"/>
                          </a:solidFill>
                          <a:latin typeface="Calibri"/>
                        </a:rPr>
                        <a:t>10.88</a:t>
                      </a:r>
                    </a:p>
                  </a:txBody>
                  <a:tcPr marL="73152" marR="73152" marT="0" marB="0" anchor="ctr">
                    <a:solidFill>
                      <a:srgbClr val="FDEEF0"/>
                    </a:solidFill>
                  </a:tcPr>
                </a:tc>
                <a:tc>
                  <a:txBody>
                    <a:bodyPr/>
                    <a:lstStyle/>
                    <a:p>
                      <a:pPr algn="ctr"/>
                      <a:r>
                        <a:rPr sz="1100" b="0">
                          <a:solidFill>
                            <a:srgbClr val="4A4A4A"/>
                          </a:solidFill>
                          <a:latin typeface="Calibri"/>
                        </a:rPr>
                        <a:t>12.78</a:t>
                      </a:r>
                    </a:p>
                  </a:txBody>
                  <a:tcPr marL="73152" marR="73152" marT="0" marB="0" anchor="ctr">
                    <a:solidFill>
                      <a:srgbClr val="FDEEF0"/>
                    </a:solidFill>
                  </a:tcPr>
                </a:tc>
                <a:extLst>
                  <a:ext uri="{0D108BD9-81ED-4DB2-BD59-A6C34878D82A}">
                    <a16:rowId xmlns:a16="http://schemas.microsoft.com/office/drawing/2014/main" val="10003"/>
                  </a:ext>
                </a:extLst>
              </a:tr>
              <a:tr h="310896">
                <a:tc>
                  <a:txBody>
                    <a:bodyPr/>
                    <a:lstStyle/>
                    <a:p>
                      <a:pPr algn="l"/>
                      <a:r>
                        <a:rPr sz="1100" b="0">
                          <a:solidFill>
                            <a:srgbClr val="4A4A4A"/>
                          </a:solidFill>
                          <a:latin typeface="Calibri"/>
                        </a:rPr>
                        <a:t>128</a:t>
                      </a:r>
                    </a:p>
                  </a:txBody>
                  <a:tcPr marL="73152" marR="73152" marT="0" marB="0" anchor="ctr">
                    <a:solidFill>
                      <a:srgbClr val="FFFFFF"/>
                    </a:solidFill>
                  </a:tcPr>
                </a:tc>
                <a:tc>
                  <a:txBody>
                    <a:bodyPr/>
                    <a:lstStyle/>
                    <a:p>
                      <a:pPr algn="ctr"/>
                      <a:r>
                        <a:rPr sz="1100" b="0">
                          <a:solidFill>
                            <a:srgbClr val="4A4A4A"/>
                          </a:solidFill>
                          <a:latin typeface="Calibri"/>
                        </a:rPr>
                        <a:t>0.80</a:t>
                      </a:r>
                    </a:p>
                  </a:txBody>
                  <a:tcPr marL="73152" marR="73152" marT="0" marB="0" anchor="ctr">
                    <a:solidFill>
                      <a:srgbClr val="FFFFFF"/>
                    </a:solidFill>
                  </a:tcPr>
                </a:tc>
                <a:tc>
                  <a:txBody>
                    <a:bodyPr/>
                    <a:lstStyle/>
                    <a:p>
                      <a:pPr algn="ctr"/>
                      <a:r>
                        <a:rPr sz="1100" b="0">
                          <a:solidFill>
                            <a:srgbClr val="4A4A4A"/>
                          </a:solidFill>
                          <a:latin typeface="Calibri"/>
                        </a:rPr>
                        <a:t>11.17</a:t>
                      </a:r>
                    </a:p>
                  </a:txBody>
                  <a:tcPr marL="73152" marR="73152" marT="0" marB="0" anchor="ctr">
                    <a:solidFill>
                      <a:srgbClr val="FFFFFF"/>
                    </a:solidFill>
                  </a:tcPr>
                </a:tc>
                <a:tc>
                  <a:txBody>
                    <a:bodyPr/>
                    <a:lstStyle/>
                    <a:p>
                      <a:pPr algn="ctr"/>
                      <a:r>
                        <a:rPr sz="1100" b="0" dirty="0">
                          <a:solidFill>
                            <a:srgbClr val="4A4A4A"/>
                          </a:solidFill>
                          <a:latin typeface="Calibri"/>
                        </a:rPr>
                        <a:t>12.62</a:t>
                      </a:r>
                    </a:p>
                  </a:txBody>
                  <a:tcPr marL="73152" marR="73152" marT="0" marB="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57200" y="3337560"/>
            <a:ext cx="5486400" cy="457200"/>
          </a:xfrm>
          <a:prstGeom prst="rect">
            <a:avLst/>
          </a:prstGeom>
          <a:noFill/>
        </p:spPr>
        <p:txBody>
          <a:bodyPr wrap="square" anchor="t">
            <a:spAutoFit/>
          </a:bodyPr>
          <a:lstStyle/>
          <a:p>
            <a:pPr algn="l"/>
            <a:r>
              <a:rPr sz="1000" b="0" i="1">
                <a:solidFill>
                  <a:srgbClr val="8A8A8A"/>
                </a:solidFill>
                <a:latin typeface="Calibri"/>
              </a:rPr>
              <a:t>Loss tái tạo trên tập test, cùng hàm MSE, epoch 10, seed 42. VAE thêm cột KL vì đây là phần chi phí AE không có.</a:t>
            </a:r>
          </a:p>
        </p:txBody>
      </p:sp>
      <p:sp>
        <p:nvSpPr>
          <p:cNvPr id="6" name="Rounded Rectangle 5"/>
          <p:cNvSpPr/>
          <p:nvPr/>
        </p:nvSpPr>
        <p:spPr>
          <a:xfrm>
            <a:off x="457200" y="3886200"/>
            <a:ext cx="5486400" cy="237744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05072"/>
            <a:ext cx="5029200" cy="274320"/>
          </a:xfrm>
          <a:prstGeom prst="rect">
            <a:avLst/>
          </a:prstGeom>
          <a:noFill/>
        </p:spPr>
        <p:txBody>
          <a:bodyPr wrap="square" anchor="ctr">
            <a:spAutoFit/>
          </a:bodyPr>
          <a:lstStyle/>
          <a:p>
            <a:pPr algn="l"/>
            <a:r>
              <a:rPr sz="1100" b="1" i="0" spc="100">
                <a:solidFill>
                  <a:srgbClr val="990011"/>
                </a:solidFill>
                <a:latin typeface="Calibri"/>
              </a:rPr>
              <a:t>ĐỌC BẢNG NÀY THẾ NÀO</a:t>
            </a:r>
          </a:p>
        </p:txBody>
      </p:sp>
      <p:sp>
        <p:nvSpPr>
          <p:cNvPr id="8" name="TextBox 7"/>
          <p:cNvSpPr txBox="1"/>
          <p:nvPr/>
        </p:nvSpPr>
        <p:spPr>
          <a:xfrm>
            <a:off x="685800" y="4315968"/>
            <a:ext cx="5029200" cy="1828800"/>
          </a:xfrm>
          <a:prstGeom prst="rect">
            <a:avLst/>
          </a:prstGeom>
          <a:noFill/>
        </p:spPr>
        <p:txBody>
          <a:bodyPr wrap="square" anchor="t">
            <a:spAutoFit/>
          </a:bodyPr>
          <a:lstStyle/>
          <a:p>
            <a:pPr algn="l"/>
            <a:r>
              <a:rPr sz="1100" b="0" i="0" dirty="0">
                <a:solidFill>
                  <a:srgbClr val="4A4A4A"/>
                </a:solidFill>
                <a:latin typeface="Calibri"/>
              </a:rPr>
              <a:t>Ở d = 2 hai mô hình gần như ngang nhau vì nút cổ chai mới là ràng buộc chi phối. Khoảng cách chỉ mở ra khi d lớn: AE tự do dùng hết 128 chiều nên tiến sát 0, còn VAE dừng quanh 11 vì mỗi chiều dùng thêm đều phải trả giá KL. Vì vậy đừng đọc con số 0.80 là "AE tốt hơn" — hai mô hình đang tối ưu hai mục tiêu khác nhau.</a:t>
            </a:r>
          </a:p>
        </p:txBody>
      </p:sp>
      <p:sp>
        <p:nvSpPr>
          <p:cNvPr id="9" name="Rounded Rectangle 8"/>
          <p:cNvSpPr/>
          <p:nvPr/>
        </p:nvSpPr>
        <p:spPr>
          <a:xfrm>
            <a:off x="6245352" y="1691640"/>
            <a:ext cx="5486400" cy="45720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73952" y="1819656"/>
            <a:ext cx="5029200" cy="274320"/>
          </a:xfrm>
          <a:prstGeom prst="rect">
            <a:avLst/>
          </a:prstGeom>
          <a:noFill/>
        </p:spPr>
        <p:txBody>
          <a:bodyPr wrap="square" anchor="ctr">
            <a:spAutoFit/>
          </a:bodyPr>
          <a:lstStyle/>
          <a:p>
            <a:pPr algn="l"/>
            <a:r>
              <a:rPr sz="1100" b="1" i="0" spc="100">
                <a:solidFill>
                  <a:srgbClr val="990011"/>
                </a:solidFill>
                <a:latin typeface="Calibri"/>
              </a:rPr>
              <a:t>NĂM KHÁC BIỆT ĐÁNG NHỚ</a:t>
            </a:r>
          </a:p>
        </p:txBody>
      </p:sp>
      <p:sp>
        <p:nvSpPr>
          <p:cNvPr id="11" name="Oval 10"/>
          <p:cNvSpPr/>
          <p:nvPr/>
        </p:nvSpPr>
        <p:spPr>
          <a:xfrm>
            <a:off x="6473952" y="2286000"/>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8" y="2194560"/>
            <a:ext cx="4800600" cy="795528"/>
          </a:xfrm>
          <a:prstGeom prst="rect">
            <a:avLst/>
          </a:prstGeom>
          <a:noFill/>
        </p:spPr>
        <p:txBody>
          <a:bodyPr wrap="square" anchor="t">
            <a:spAutoFit/>
          </a:bodyPr>
          <a:lstStyle/>
          <a:p>
            <a:pPr algn="l"/>
            <a:r>
              <a:rPr sz="1100" b="0" i="0" dirty="0" err="1">
                <a:solidFill>
                  <a:srgbClr val="4A4A4A"/>
                </a:solidFill>
                <a:latin typeface="Calibri"/>
              </a:rPr>
              <a:t>Chất</a:t>
            </a:r>
            <a:r>
              <a:rPr sz="1100" b="0" i="0" dirty="0">
                <a:solidFill>
                  <a:srgbClr val="4A4A4A"/>
                </a:solidFill>
                <a:latin typeface="Calibri"/>
              </a:rPr>
              <a:t> </a:t>
            </a:r>
            <a:r>
              <a:rPr sz="1100" b="0" i="0" dirty="0" err="1">
                <a:solidFill>
                  <a:srgbClr val="4A4A4A"/>
                </a:solidFill>
                <a:latin typeface="Calibri"/>
              </a:rPr>
              <a:t>lượng</a:t>
            </a:r>
            <a:r>
              <a:rPr sz="1100" b="0" i="0" dirty="0">
                <a:solidFill>
                  <a:srgbClr val="4A4A4A"/>
                </a:solidFill>
                <a:latin typeface="Calibri"/>
              </a:rPr>
              <a:t> </a:t>
            </a:r>
            <a:r>
              <a:rPr sz="1100" b="0" i="0" dirty="0" err="1">
                <a:solidFill>
                  <a:srgbClr val="4A4A4A"/>
                </a:solidFill>
                <a:latin typeface="Calibri"/>
              </a:rPr>
              <a:t>tái</a:t>
            </a:r>
            <a:r>
              <a:rPr sz="1100" b="0" i="0" dirty="0">
                <a:solidFill>
                  <a:srgbClr val="4A4A4A"/>
                </a:solidFill>
                <a:latin typeface="Calibri"/>
              </a:rPr>
              <a:t> </a:t>
            </a:r>
            <a:r>
              <a:rPr sz="1100" b="0" i="0" dirty="0" err="1">
                <a:solidFill>
                  <a:srgbClr val="4A4A4A"/>
                </a:solidFill>
                <a:latin typeface="Calibri"/>
              </a:rPr>
              <a:t>tạo</a:t>
            </a:r>
            <a:r>
              <a:rPr sz="1100" b="0" i="0" dirty="0">
                <a:solidFill>
                  <a:srgbClr val="4A4A4A"/>
                </a:solidFill>
                <a:latin typeface="Calibri"/>
              </a:rPr>
              <a:t>: AE </a:t>
            </a:r>
            <a:r>
              <a:rPr sz="1100" b="0" i="0" dirty="0" err="1">
                <a:solidFill>
                  <a:srgbClr val="4A4A4A"/>
                </a:solidFill>
                <a:latin typeface="Calibri"/>
              </a:rPr>
              <a:t>thắng</a:t>
            </a:r>
            <a:r>
              <a:rPr sz="1100" b="0" i="0" dirty="0">
                <a:solidFill>
                  <a:srgbClr val="4A4A4A"/>
                </a:solidFill>
                <a:latin typeface="Calibri"/>
              </a:rPr>
              <a:t> </a:t>
            </a:r>
            <a:r>
              <a:rPr sz="1100" b="0" i="0" dirty="0" err="1">
                <a:solidFill>
                  <a:srgbClr val="4A4A4A"/>
                </a:solidFill>
                <a:latin typeface="Calibri"/>
              </a:rPr>
              <a:t>rõ</a:t>
            </a:r>
            <a:r>
              <a:rPr sz="1100" b="0" i="0" dirty="0">
                <a:solidFill>
                  <a:srgbClr val="4A4A4A"/>
                </a:solidFill>
                <a:latin typeface="Calibri"/>
              </a:rPr>
              <a:t> ở d </a:t>
            </a:r>
            <a:r>
              <a:rPr sz="1100" b="0" i="0" dirty="0" err="1">
                <a:solidFill>
                  <a:srgbClr val="4A4A4A"/>
                </a:solidFill>
                <a:latin typeface="Calibri"/>
              </a:rPr>
              <a:t>lớn</a:t>
            </a:r>
            <a:r>
              <a:rPr sz="1100" b="0" i="0" dirty="0">
                <a:solidFill>
                  <a:srgbClr val="4A4A4A"/>
                </a:solidFill>
                <a:latin typeface="Calibri"/>
              </a:rPr>
              <a:t> (0.80 so </a:t>
            </a:r>
            <a:r>
              <a:rPr sz="1100" b="0" i="0" dirty="0" err="1">
                <a:solidFill>
                  <a:srgbClr val="4A4A4A"/>
                </a:solidFill>
                <a:latin typeface="Calibri"/>
              </a:rPr>
              <a:t>với</a:t>
            </a:r>
            <a:r>
              <a:rPr sz="1100" b="0" i="0" dirty="0">
                <a:solidFill>
                  <a:srgbClr val="4A4A4A"/>
                </a:solidFill>
                <a:latin typeface="Calibri"/>
              </a:rPr>
              <a:t> 11.17 </a:t>
            </a:r>
            <a:r>
              <a:rPr sz="1100" b="0" i="0" dirty="0" err="1">
                <a:solidFill>
                  <a:srgbClr val="4A4A4A"/>
                </a:solidFill>
                <a:latin typeface="Calibri"/>
              </a:rPr>
              <a:t>tại</a:t>
            </a:r>
            <a:r>
              <a:rPr sz="1100" b="0" i="0" dirty="0">
                <a:solidFill>
                  <a:srgbClr val="4A4A4A"/>
                </a:solidFill>
                <a:latin typeface="Calibri"/>
              </a:rPr>
              <a:t> d = 128).</a:t>
            </a:r>
          </a:p>
        </p:txBody>
      </p:sp>
      <p:sp>
        <p:nvSpPr>
          <p:cNvPr id="13" name="Oval 12"/>
          <p:cNvSpPr/>
          <p:nvPr/>
        </p:nvSpPr>
        <p:spPr>
          <a:xfrm>
            <a:off x="6473952" y="3081528"/>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93408" y="2990088"/>
            <a:ext cx="4800600" cy="795528"/>
          </a:xfrm>
          <a:prstGeom prst="rect">
            <a:avLst/>
          </a:prstGeom>
          <a:noFill/>
        </p:spPr>
        <p:txBody>
          <a:bodyPr wrap="square" anchor="t">
            <a:spAutoFit/>
          </a:bodyPr>
          <a:lstStyle/>
          <a:p>
            <a:pPr algn="l"/>
            <a:r>
              <a:rPr sz="1100" b="0" i="0">
                <a:solidFill>
                  <a:srgbClr val="4A4A4A"/>
                </a:solidFill>
                <a:latin typeface="Calibri"/>
              </a:rPr>
              <a:t>Khả năng sinh: chỉ VAE lấy mẫu z ~ N(0, I) rồi giải mã ra ảnh mới; AE không có tiên nghiệm để lấy mẫu.</a:t>
            </a:r>
          </a:p>
        </p:txBody>
      </p:sp>
      <p:sp>
        <p:nvSpPr>
          <p:cNvPr id="15" name="Oval 14"/>
          <p:cNvSpPr/>
          <p:nvPr/>
        </p:nvSpPr>
        <p:spPr>
          <a:xfrm>
            <a:off x="6473952" y="3877055"/>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8" y="3785615"/>
            <a:ext cx="4800600" cy="795528"/>
          </a:xfrm>
          <a:prstGeom prst="rect">
            <a:avLst/>
          </a:prstGeom>
          <a:noFill/>
        </p:spPr>
        <p:txBody>
          <a:bodyPr wrap="square" anchor="t">
            <a:spAutoFit/>
          </a:bodyPr>
          <a:lstStyle/>
          <a:p>
            <a:pPr algn="l"/>
            <a:r>
              <a:rPr sz="1100" b="0" i="0" dirty="0" err="1">
                <a:solidFill>
                  <a:srgbClr val="4A4A4A"/>
                </a:solidFill>
                <a:latin typeface="Calibri"/>
              </a:rPr>
              <a:t>Hiệu</a:t>
            </a:r>
            <a:r>
              <a:rPr sz="1100" b="0" i="0" dirty="0">
                <a:solidFill>
                  <a:srgbClr val="4A4A4A"/>
                </a:solidFill>
                <a:latin typeface="Calibri"/>
              </a:rPr>
              <a:t> </a:t>
            </a:r>
            <a:r>
              <a:rPr sz="1100" b="0" i="0" dirty="0" err="1">
                <a:solidFill>
                  <a:srgbClr val="4A4A4A"/>
                </a:solidFill>
                <a:latin typeface="Calibri"/>
              </a:rPr>
              <a:t>quả</a:t>
            </a:r>
            <a:r>
              <a:rPr sz="1100" b="0" i="0" dirty="0">
                <a:solidFill>
                  <a:srgbClr val="4A4A4A"/>
                </a:solidFill>
                <a:latin typeface="Calibri"/>
              </a:rPr>
              <a:t> </a:t>
            </a:r>
            <a:r>
              <a:rPr sz="1100" b="0" i="0" dirty="0" err="1">
                <a:solidFill>
                  <a:srgbClr val="4A4A4A"/>
                </a:solidFill>
                <a:latin typeface="Calibri"/>
              </a:rPr>
              <a:t>dùng</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AE </a:t>
            </a:r>
            <a:r>
              <a:rPr sz="1100" b="0" i="0" dirty="0" err="1">
                <a:solidFill>
                  <a:srgbClr val="4A4A4A"/>
                </a:solidFill>
                <a:latin typeface="Calibri"/>
              </a:rPr>
              <a:t>giảm</a:t>
            </a:r>
            <a:r>
              <a:rPr sz="1100" b="0" i="0" dirty="0">
                <a:solidFill>
                  <a:srgbClr val="4A4A4A"/>
                </a:solidFill>
                <a:latin typeface="Calibri"/>
              </a:rPr>
              <a:t> loss </a:t>
            </a:r>
            <a:r>
              <a:rPr sz="1100" b="0" i="0" dirty="0" err="1">
                <a:solidFill>
                  <a:srgbClr val="4A4A4A"/>
                </a:solidFill>
                <a:latin typeface="Calibri"/>
              </a:rPr>
              <a:t>đến</a:t>
            </a:r>
            <a:r>
              <a:rPr sz="1100" b="0" i="0" dirty="0">
                <a:solidFill>
                  <a:srgbClr val="4A4A4A"/>
                </a:solidFill>
                <a:latin typeface="Calibri"/>
              </a:rPr>
              <a:t> </a:t>
            </a:r>
            <a:r>
              <a:rPr sz="1100" b="0" i="0" dirty="0" err="1">
                <a:solidFill>
                  <a:srgbClr val="4A4A4A"/>
                </a:solidFill>
                <a:latin typeface="Calibri"/>
              </a:rPr>
              <a:t>tận</a:t>
            </a:r>
            <a:r>
              <a:rPr sz="1100" b="0" i="0" dirty="0">
                <a:solidFill>
                  <a:srgbClr val="4A4A4A"/>
                </a:solidFill>
                <a:latin typeface="Calibri"/>
              </a:rPr>
              <a:t> d = 128, VAE </a:t>
            </a:r>
            <a:r>
              <a:rPr sz="1100" b="0" i="0" dirty="0" err="1">
                <a:solidFill>
                  <a:srgbClr val="4A4A4A"/>
                </a:solidFill>
                <a:latin typeface="Calibri"/>
              </a:rPr>
              <a:t>bão</a:t>
            </a:r>
            <a:r>
              <a:rPr sz="1100" b="0" i="0" dirty="0">
                <a:solidFill>
                  <a:srgbClr val="4A4A4A"/>
                </a:solidFill>
                <a:latin typeface="Calibri"/>
              </a:rPr>
              <a:t> </a:t>
            </a:r>
            <a:r>
              <a:rPr sz="1100" b="0" i="0" dirty="0" err="1">
                <a:solidFill>
                  <a:srgbClr val="4A4A4A"/>
                </a:solidFill>
                <a:latin typeface="Calibri"/>
              </a:rPr>
              <a:t>hoà</a:t>
            </a:r>
            <a:r>
              <a:rPr sz="1100" b="0" i="0" dirty="0">
                <a:solidFill>
                  <a:srgbClr val="4A4A4A"/>
                </a:solidFill>
                <a:latin typeface="Calibri"/>
              </a:rPr>
              <a:t> </a:t>
            </a:r>
            <a:r>
              <a:rPr sz="1100" b="0" i="0" dirty="0" err="1">
                <a:solidFill>
                  <a:srgbClr val="4A4A4A"/>
                </a:solidFill>
                <a:latin typeface="Calibri"/>
              </a:rPr>
              <a:t>từ</a:t>
            </a:r>
            <a:r>
              <a:rPr sz="1100" b="0" i="0" dirty="0">
                <a:solidFill>
                  <a:srgbClr val="4A4A4A"/>
                </a:solidFill>
                <a:latin typeface="Calibri"/>
              </a:rPr>
              <a:t> d = 32 </a:t>
            </a:r>
            <a:r>
              <a:rPr sz="1100" b="0" i="0" dirty="0" err="1">
                <a:solidFill>
                  <a:srgbClr val="4A4A4A"/>
                </a:solidFill>
                <a:latin typeface="Calibri"/>
              </a:rPr>
              <a:t>và</a:t>
            </a:r>
            <a:r>
              <a:rPr sz="1100" b="0" i="0" dirty="0">
                <a:solidFill>
                  <a:srgbClr val="4A4A4A"/>
                </a:solidFill>
                <a:latin typeface="Calibri"/>
              </a:rPr>
              <a:t> </a:t>
            </a:r>
            <a:r>
              <a:rPr sz="1100" b="0" i="0" dirty="0" err="1">
                <a:solidFill>
                  <a:srgbClr val="4A4A4A"/>
                </a:solidFill>
                <a:latin typeface="Calibri"/>
              </a:rPr>
              <a:t>tự</a:t>
            </a:r>
            <a:r>
              <a:rPr sz="1100" b="0" i="0" dirty="0">
                <a:solidFill>
                  <a:srgbClr val="4A4A4A"/>
                </a:solidFill>
                <a:latin typeface="Calibri"/>
              </a:rPr>
              <a:t> </a:t>
            </a:r>
            <a:r>
              <a:rPr sz="1100" b="0" i="0" dirty="0" err="1">
                <a:solidFill>
                  <a:srgbClr val="4A4A4A"/>
                </a:solidFill>
                <a:latin typeface="Calibri"/>
              </a:rPr>
              <a:t>bỏ</a:t>
            </a:r>
            <a:r>
              <a:rPr sz="1100" b="0" i="0" dirty="0">
                <a:solidFill>
                  <a:srgbClr val="4A4A4A"/>
                </a:solidFill>
                <a:latin typeface="Calibri"/>
              </a:rPr>
              <a:t> </a:t>
            </a:r>
            <a:r>
              <a:rPr sz="1100" b="0" i="0" dirty="0" err="1">
                <a:solidFill>
                  <a:srgbClr val="4A4A4A"/>
                </a:solidFill>
                <a:latin typeface="Calibri"/>
              </a:rPr>
              <a:t>chiều</a:t>
            </a:r>
            <a:r>
              <a:rPr sz="1100" b="0" i="0" dirty="0">
                <a:solidFill>
                  <a:srgbClr val="4A4A4A"/>
                </a:solidFill>
                <a:latin typeface="Calibri"/>
              </a:rPr>
              <a:t> </a:t>
            </a:r>
            <a:r>
              <a:rPr sz="1100" b="0" i="0" dirty="0" err="1">
                <a:solidFill>
                  <a:srgbClr val="4A4A4A"/>
                </a:solidFill>
                <a:latin typeface="Calibri"/>
              </a:rPr>
              <a:t>thừa</a:t>
            </a:r>
            <a:r>
              <a:rPr sz="1100" b="0" i="0" dirty="0">
                <a:solidFill>
                  <a:srgbClr val="4A4A4A"/>
                </a:solidFill>
                <a:latin typeface="Calibri"/>
              </a:rPr>
              <a:t>.</a:t>
            </a:r>
          </a:p>
        </p:txBody>
      </p:sp>
      <p:sp>
        <p:nvSpPr>
          <p:cNvPr id="17" name="Oval 16"/>
          <p:cNvSpPr/>
          <p:nvPr/>
        </p:nvSpPr>
        <p:spPr>
          <a:xfrm>
            <a:off x="6473952" y="4672583"/>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408" y="4581144"/>
            <a:ext cx="4800600" cy="795528"/>
          </a:xfrm>
          <a:prstGeom prst="rect">
            <a:avLst/>
          </a:prstGeom>
          <a:noFill/>
        </p:spPr>
        <p:txBody>
          <a:bodyPr wrap="square" anchor="t">
            <a:spAutoFit/>
          </a:bodyPr>
          <a:lstStyle/>
          <a:p>
            <a:pPr algn="l"/>
            <a:r>
              <a:rPr sz="1100" b="0" i="0">
                <a:solidFill>
                  <a:srgbClr val="4A4A4A"/>
                </a:solidFill>
                <a:latin typeface="Calibri"/>
              </a:rPr>
              <a:t>Cấu trúc không gian ẩn: latent của VAE nằm gọn quanh gốc và liên tục, thuận lợi cho nội suy.</a:t>
            </a:r>
          </a:p>
        </p:txBody>
      </p:sp>
      <p:sp>
        <p:nvSpPr>
          <p:cNvPr id="19" name="Oval 18"/>
          <p:cNvSpPr/>
          <p:nvPr/>
        </p:nvSpPr>
        <p:spPr>
          <a:xfrm>
            <a:off x="6473952" y="5468112"/>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8" y="5376672"/>
            <a:ext cx="4800600" cy="795528"/>
          </a:xfrm>
          <a:prstGeom prst="rect">
            <a:avLst/>
          </a:prstGeom>
          <a:noFill/>
        </p:spPr>
        <p:txBody>
          <a:bodyPr wrap="square" anchor="t">
            <a:spAutoFit/>
          </a:bodyPr>
          <a:lstStyle/>
          <a:p>
            <a:pPr algn="l"/>
            <a:r>
              <a:rPr sz="1100" b="0" i="0">
                <a:solidFill>
                  <a:srgbClr val="4A4A4A"/>
                </a:solidFill>
                <a:latin typeface="Calibri"/>
              </a:rPr>
              <a:t>Phát hiện bất thường: cả hai cùng thành công ở chữ số 8 và cùng thất bại ở chữ số 1.</a:t>
            </a:r>
          </a:p>
        </p:txBody>
      </p:sp>
      <p:sp>
        <p:nvSpPr>
          <p:cNvPr id="21" name="TextBox 20"/>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06 · NHẬN XÉT KẾT QUẢ AE ↔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Vì sao con số của VAE lại "xấu" hơn AE?</a:t>
            </a:r>
          </a:p>
        </p:txBody>
      </p:sp>
      <p:sp>
        <p:nvSpPr>
          <p:cNvPr id="4" name="Rounded Rectangle 3"/>
          <p:cNvSpPr/>
          <p:nvPr/>
        </p:nvSpPr>
        <p:spPr>
          <a:xfrm>
            <a:off x="457200"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1755648"/>
            <a:ext cx="4892040" cy="292608"/>
          </a:xfrm>
          <a:prstGeom prst="rect">
            <a:avLst/>
          </a:prstGeom>
          <a:noFill/>
        </p:spPr>
        <p:txBody>
          <a:bodyPr wrap="square" anchor="ctr">
            <a:spAutoFit/>
          </a:bodyPr>
          <a:lstStyle/>
          <a:p>
            <a:pPr algn="l"/>
            <a:r>
              <a:rPr sz="1100" b="1" i="0" spc="100">
                <a:solidFill>
                  <a:srgbClr val="990011"/>
                </a:solidFill>
                <a:latin typeface="Calibri"/>
              </a:rPr>
              <a:t>1 · HAI MÔ HÌNH TỐI ƯU HAI MỤC TIÊU KHÁC NHAU</a:t>
            </a:r>
          </a:p>
        </p:txBody>
      </p:sp>
      <p:sp>
        <p:nvSpPr>
          <p:cNvPr id="6" name="TextBox 5"/>
          <p:cNvSpPr txBox="1"/>
          <p:nvPr/>
        </p:nvSpPr>
        <p:spPr>
          <a:xfrm>
            <a:off x="685800" y="2084832"/>
            <a:ext cx="4892040" cy="1499616"/>
          </a:xfrm>
          <a:prstGeom prst="rect">
            <a:avLst/>
          </a:prstGeom>
          <a:noFill/>
        </p:spPr>
        <p:txBody>
          <a:bodyPr wrap="square" anchor="t">
            <a:spAutoFit/>
          </a:bodyPr>
          <a:lstStyle/>
          <a:p>
            <a:pPr algn="l"/>
            <a:r>
              <a:rPr sz="1100" b="0" i="0">
                <a:solidFill>
                  <a:srgbClr val="4A4A4A"/>
                </a:solidFill>
                <a:latin typeface="Calibri"/>
              </a:rPr>
              <a:t>AE chỉ có một việc: giảm sai số tái tạo. VAE phải giảm đồng thời sai số tái tạo và KL. Nghiệm tối ưu của AE luôn là một nghiệm hợp lệ xét riêng phần tái tạo của VAE, nên với cùng kiến trúc và cùng dữ liệu, recon của VAE về nguyên tắc không thể thấp hơn AE. Khoảng chênh 10.88 so với 3.35 ở d = 32 chính là học phí trả cho KL, không phải lỗi cài đặt.</a:t>
            </a:r>
          </a:p>
        </p:txBody>
      </p:sp>
      <p:sp>
        <p:nvSpPr>
          <p:cNvPr id="7" name="Rounded Rectangle 6"/>
          <p:cNvSpPr/>
          <p:nvPr/>
        </p:nvSpPr>
        <p:spPr>
          <a:xfrm>
            <a:off x="6382512" y="164592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11112" y="1755648"/>
            <a:ext cx="4892040" cy="292608"/>
          </a:xfrm>
          <a:prstGeom prst="rect">
            <a:avLst/>
          </a:prstGeom>
          <a:noFill/>
        </p:spPr>
        <p:txBody>
          <a:bodyPr wrap="square" anchor="ctr">
            <a:spAutoFit/>
          </a:bodyPr>
          <a:lstStyle/>
          <a:p>
            <a:pPr algn="l"/>
            <a:r>
              <a:rPr sz="1100" b="1" i="0" spc="100">
                <a:solidFill>
                  <a:srgbClr val="990011"/>
                </a:solidFill>
                <a:latin typeface="Calibri"/>
              </a:rPr>
              <a:t>2 · DECODER HỌC TỪ MẪU NGẪU NHIÊN NÊN ẢNH BỊ LÀM MỀM</a:t>
            </a:r>
          </a:p>
        </p:txBody>
      </p:sp>
      <p:sp>
        <p:nvSpPr>
          <p:cNvPr id="9" name="TextBox 8"/>
          <p:cNvSpPr txBox="1"/>
          <p:nvPr/>
        </p:nvSpPr>
        <p:spPr>
          <a:xfrm>
            <a:off x="6611112" y="2084832"/>
            <a:ext cx="4892040" cy="1499616"/>
          </a:xfrm>
          <a:prstGeom prst="rect">
            <a:avLst/>
          </a:prstGeom>
          <a:noFill/>
        </p:spPr>
        <p:txBody>
          <a:bodyPr wrap="square" anchor="t">
            <a:spAutoFit/>
          </a:bodyPr>
          <a:lstStyle/>
          <a:p>
            <a:pPr algn="l"/>
            <a:r>
              <a:rPr sz="1100" b="0" i="0">
                <a:solidFill>
                  <a:srgbClr val="4A4A4A"/>
                </a:solidFill>
                <a:latin typeface="Calibri"/>
              </a:rPr>
              <a:t>Khi huấn luyện, z = μ + σ⊙ε nên mỗi ảnh không ứng với một điểm mà với cả một quả cầu quanh μ. Decoder buộc phải trả về ảnh hợp lý cho mọi điểm trong quả cầu đó, và cách an toàn nhất là xuất ra ảnh trung bình của vùng — kết quả là nét mềm, mờ, mất chi tiết nhỏ. AE không có bước lấy mẫu này nên decoder chỉ phải khớp đúng một điểm cho mỗi ảnh.</a:t>
            </a:r>
          </a:p>
        </p:txBody>
      </p:sp>
      <p:sp>
        <p:nvSpPr>
          <p:cNvPr id="10" name="Rounded Rectangle 9"/>
          <p:cNvSpPr/>
          <p:nvPr/>
        </p:nvSpPr>
        <p:spPr>
          <a:xfrm>
            <a:off x="457200"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3950208"/>
            <a:ext cx="4892040" cy="292608"/>
          </a:xfrm>
          <a:prstGeom prst="rect">
            <a:avLst/>
          </a:prstGeom>
          <a:noFill/>
        </p:spPr>
        <p:txBody>
          <a:bodyPr wrap="square" anchor="ctr">
            <a:spAutoFit/>
          </a:bodyPr>
          <a:lstStyle/>
          <a:p>
            <a:pPr algn="l"/>
            <a:r>
              <a:rPr sz="1100" b="1" i="0" spc="100">
                <a:solidFill>
                  <a:srgbClr val="990011"/>
                </a:solidFill>
                <a:latin typeface="Calibri"/>
              </a:rPr>
              <a:t>3 · KL LÀ MỘT TRẦN THÔNG TIN CỨNG</a:t>
            </a:r>
          </a:p>
        </p:txBody>
      </p:sp>
      <p:sp>
        <p:nvSpPr>
          <p:cNvPr id="12" name="TextBox 11"/>
          <p:cNvSpPr txBox="1"/>
          <p:nvPr/>
        </p:nvSpPr>
        <p:spPr>
          <a:xfrm>
            <a:off x="685800" y="4279392"/>
            <a:ext cx="4892040" cy="1499616"/>
          </a:xfrm>
          <a:prstGeom prst="rect">
            <a:avLst/>
          </a:prstGeom>
          <a:noFill/>
        </p:spPr>
        <p:txBody>
          <a:bodyPr wrap="square" anchor="t">
            <a:spAutoFit/>
          </a:bodyPr>
          <a:lstStyle/>
          <a:p>
            <a:pPr algn="l"/>
            <a:r>
              <a:rPr sz="1100" b="0" i="0">
                <a:solidFill>
                  <a:srgbClr val="4A4A4A"/>
                </a:solidFill>
                <a:latin typeface="Calibri"/>
              </a:rPr>
              <a:t>KL đo lượng thông tin mà z mang từ ảnh. Trần khoảng 12.8 nat ≈ 18 bit nghĩa là toàn bộ ảnh 784 pixel phải đi qua chừng 18 bit thông tin. AE không có trần nào: nó dùng thoải mái 128 số thực. Đó là lý do AE tiếp tục giảm loss đến d = 128 (0.80) còn VAE dừng lại quanh 11 — thêm chiều không giúp gì khi ngân sách thông tin đã cạn.</a:t>
            </a:r>
          </a:p>
        </p:txBody>
      </p:sp>
      <p:sp>
        <p:nvSpPr>
          <p:cNvPr id="13" name="Rounded Rectangle 12"/>
          <p:cNvSpPr/>
          <p:nvPr/>
        </p:nvSpPr>
        <p:spPr>
          <a:xfrm>
            <a:off x="6382512" y="3840480"/>
            <a:ext cx="5349240" cy="205740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11112" y="3950208"/>
            <a:ext cx="4892040" cy="292608"/>
          </a:xfrm>
          <a:prstGeom prst="rect">
            <a:avLst/>
          </a:prstGeom>
          <a:noFill/>
        </p:spPr>
        <p:txBody>
          <a:bodyPr wrap="square" anchor="ctr">
            <a:spAutoFit/>
          </a:bodyPr>
          <a:lstStyle/>
          <a:p>
            <a:pPr algn="l"/>
            <a:r>
              <a:rPr sz="1100" b="1" i="0" spc="100">
                <a:solidFill>
                  <a:srgbClr val="990011"/>
                </a:solidFill>
                <a:latin typeface="Calibri"/>
              </a:rPr>
              <a:t>4 · ĐỪNG ĐỌC QUÁ NHIỀU VÀO ĐOẠN d = 32 → 128</a:t>
            </a:r>
          </a:p>
        </p:txBody>
      </p:sp>
      <p:sp>
        <p:nvSpPr>
          <p:cNvPr id="15" name="TextBox 14"/>
          <p:cNvSpPr txBox="1"/>
          <p:nvPr/>
        </p:nvSpPr>
        <p:spPr>
          <a:xfrm>
            <a:off x="6611112" y="4279392"/>
            <a:ext cx="4892040" cy="1499616"/>
          </a:xfrm>
          <a:prstGeom prst="rect">
            <a:avLst/>
          </a:prstGeom>
          <a:noFill/>
        </p:spPr>
        <p:txBody>
          <a:bodyPr wrap="square" anchor="t">
            <a:spAutoFit/>
          </a:bodyPr>
          <a:lstStyle/>
          <a:p>
            <a:pPr algn="l"/>
            <a:r>
              <a:rPr sz="1100" b="0" i="0">
                <a:solidFill>
                  <a:srgbClr val="4A4A4A"/>
                </a:solidFill>
                <a:latin typeface="Calibri"/>
              </a:rPr>
              <a:t>Recon tăng từ 10.88 lên 11.17, tức lệch khoảng 2.7% và chỉ chạy đúng một seed. Cách đọc an toàn là "đã bão hoà", chưa nên khẳng định d = 128 thật sự kém hơn d = 32. Muốn kết luận chắc chắn cần lặp lại vài seed và báo cáo khoảng dao động, hoặc huấn luyện dài hơn 10 epoch.</a:t>
            </a:r>
          </a:p>
        </p:txBody>
      </p:sp>
      <p:sp>
        <p:nvSpPr>
          <p:cNvPr id="16" name="Rounded Rectangle 15"/>
          <p:cNvSpPr/>
          <p:nvPr/>
        </p:nvSpPr>
        <p:spPr>
          <a:xfrm>
            <a:off x="457200" y="5925312"/>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5971032"/>
            <a:ext cx="10835640" cy="320040"/>
          </a:xfrm>
          <a:prstGeom prst="rect">
            <a:avLst/>
          </a:prstGeom>
          <a:noFill/>
        </p:spPr>
        <p:txBody>
          <a:bodyPr wrap="square" anchor="ctr">
            <a:spAutoFit/>
          </a:bodyPr>
          <a:lstStyle/>
          <a:p>
            <a:pPr algn="l"/>
            <a:r>
              <a:rPr sz="1100" b="0" i="0">
                <a:solidFill>
                  <a:srgbClr val="4A4A4A"/>
                </a:solidFill>
                <a:latin typeface="Calibri"/>
              </a:rPr>
              <a:t>Tóm lại: VAE không kém hơn AE, nó đang mua một thứ khác — không gian ẩn liên tục và khả năng sinh ảnh mới — và trả bằng độ sắc nét.</a:t>
            </a:r>
          </a:p>
        </p:txBody>
      </p:sp>
      <p:sp>
        <p:nvSpPr>
          <p:cNvPr id="18" name="TextBox 17"/>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9" name="TextBox 18"/>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990011"/>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660000"/>
          </a:solidFill>
          <a:ln/>
        </p:spPr>
        <p:txBody>
          <a:bodyPr/>
          <a:lstStyle/>
          <a:p>
            <a:endParaRPr/>
          </a:p>
        </p:txBody>
      </p:sp>
      <p:sp>
        <p:nvSpPr>
          <p:cNvPr id="3" name="Shape 1"/>
          <p:cNvSpPr/>
          <p:nvPr/>
        </p:nvSpPr>
        <p:spPr>
          <a:xfrm>
            <a:off x="-1188720" y="5120640"/>
            <a:ext cx="3108960" cy="3108960"/>
          </a:xfrm>
          <a:prstGeom prst="ellipse">
            <a:avLst/>
          </a:prstGeom>
          <a:solidFill>
            <a:srgbClr val="C23B4B"/>
          </a:solidFill>
          <a:ln/>
        </p:spPr>
        <p:txBody>
          <a:bodyPr/>
          <a:lstStyle/>
          <a:p>
            <a:endParaRPr/>
          </a:p>
        </p:txBody>
      </p:sp>
      <p:sp>
        <p:nvSpPr>
          <p:cNvPr id="4" name="Text 2"/>
          <p:cNvSpPr/>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07 · KẾT LUẬN &amp; HƯỚNG PHÁT TRIỂN</a:t>
            </a:r>
            <a:endParaRPr lang="en-US" sz="1300" dirty="0"/>
          </a:p>
        </p:txBody>
      </p:sp>
      <p:sp>
        <p:nvSpPr>
          <p:cNvPr id="5" name="Text 3"/>
          <p:cNvSpPr/>
          <p:nvPr/>
        </p:nvSpPr>
        <p:spPr>
          <a:xfrm>
            <a:off x="548640" y="777240"/>
            <a:ext cx="10789920" cy="8229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Autoencoder là nền tảng vững chắc cho VAE &amp; GAN</a:t>
            </a:r>
            <a:endParaRPr lang="en-US" sz="2800" dirty="0"/>
          </a:p>
        </p:txBody>
      </p:sp>
      <p:sp>
        <p:nvSpPr>
          <p:cNvPr id="6" name="Shape 4"/>
          <p:cNvSpPr/>
          <p:nvPr/>
        </p:nvSpPr>
        <p:spPr>
          <a:xfrm>
            <a:off x="594360" y="1947672"/>
            <a:ext cx="128016" cy="128016"/>
          </a:xfrm>
          <a:prstGeom prst="ellipse">
            <a:avLst/>
          </a:prstGeom>
          <a:solidFill>
            <a:srgbClr val="FFFFFF"/>
          </a:solidFill>
          <a:ln/>
        </p:spPr>
        <p:txBody>
          <a:bodyPr/>
          <a:lstStyle/>
          <a:p>
            <a:endParaRPr/>
          </a:p>
        </p:txBody>
      </p:sp>
      <p:sp>
        <p:nvSpPr>
          <p:cNvPr id="7" name="Text 5"/>
          <p:cNvSpPr/>
          <p:nvPr/>
        </p:nvSpPr>
        <p:spPr>
          <a:xfrm>
            <a:off x="868680" y="1801368"/>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Với AE, latent dim càng lớn thì loss tái tạo càng thấp; nhưng d = 32 đã cho tỉ lệ chất lượng/kích thước ẩn tốt — điểm cân bằng hợp lý trước khi lợi ích giảm dần ở d = 128.</a:t>
            </a:r>
            <a:endParaRPr lang="en-US" sz="1250" dirty="0"/>
          </a:p>
        </p:txBody>
      </p:sp>
      <p:sp>
        <p:nvSpPr>
          <p:cNvPr id="8" name="Shape 6"/>
          <p:cNvSpPr/>
          <p:nvPr/>
        </p:nvSpPr>
        <p:spPr>
          <a:xfrm>
            <a:off x="594360" y="2880360"/>
            <a:ext cx="128016" cy="128016"/>
          </a:xfrm>
          <a:prstGeom prst="ellipse">
            <a:avLst/>
          </a:prstGeom>
          <a:solidFill>
            <a:srgbClr val="FFFFFF"/>
          </a:solidFill>
          <a:ln/>
        </p:spPr>
        <p:txBody>
          <a:bodyPr/>
          <a:lstStyle/>
          <a:p>
            <a:endParaRPr/>
          </a:p>
        </p:txBody>
      </p:sp>
      <p:sp>
        <p:nvSpPr>
          <p:cNvPr id="9" name="Text 7"/>
          <p:cNvSpPr/>
          <p:nvPr/>
        </p:nvSpPr>
        <p:spPr>
          <a:xfrm>
            <a:off x="868680" y="2734056"/>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AE phát hiện bất thường hoạt động khá với chữ số có hình dạng đặc trưng (8, 2) nhưng kém với chữ số đơn giản (1) do AE tổng quát hoá tốt sang nét đơn giản.</a:t>
            </a:r>
            <a:endParaRPr lang="en-US" sz="1250" dirty="0"/>
          </a:p>
        </p:txBody>
      </p:sp>
      <p:sp>
        <p:nvSpPr>
          <p:cNvPr id="10" name="Shape 8"/>
          <p:cNvSpPr/>
          <p:nvPr/>
        </p:nvSpPr>
        <p:spPr>
          <a:xfrm>
            <a:off x="594360" y="3813048"/>
            <a:ext cx="128016" cy="128016"/>
          </a:xfrm>
          <a:prstGeom prst="ellipse">
            <a:avLst/>
          </a:prstGeom>
          <a:solidFill>
            <a:srgbClr val="FFFFFF"/>
          </a:solidFill>
          <a:ln/>
        </p:spPr>
        <p:txBody>
          <a:bodyPr/>
          <a:lstStyle/>
          <a:p>
            <a:endParaRPr/>
          </a:p>
        </p:txBody>
      </p:sp>
      <p:sp>
        <p:nvSpPr>
          <p:cNvPr id="11" name="Text 9"/>
          <p:cNvSpPr/>
          <p:nvPr/>
        </p:nvSpPr>
        <p:spPr>
          <a:xfrm>
            <a:off x="868680" y="3666744"/>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Hạn chế: không gian ẩn của AE (đặc biệt d=2) không liên tục/không có cấu trúc xác suất → nội suy giữa hai điểm dễ đi qua vùng "không hợp lệ".</a:t>
            </a:r>
            <a:endParaRPr lang="en-US" sz="1250" dirty="0"/>
          </a:p>
        </p:txBody>
      </p:sp>
      <p:sp>
        <p:nvSpPr>
          <p:cNvPr id="12" name="Shape 10"/>
          <p:cNvSpPr/>
          <p:nvPr/>
        </p:nvSpPr>
        <p:spPr>
          <a:xfrm>
            <a:off x="594360" y="4745736"/>
            <a:ext cx="128016" cy="128016"/>
          </a:xfrm>
          <a:prstGeom prst="ellipse">
            <a:avLst/>
          </a:prstGeom>
          <a:solidFill>
            <a:srgbClr val="FFFFFF"/>
          </a:solidFill>
          <a:ln/>
        </p:spPr>
        <p:txBody>
          <a:bodyPr/>
          <a:lstStyle/>
          <a:p>
            <a:endParaRPr/>
          </a:p>
        </p:txBody>
      </p:sp>
      <p:sp>
        <p:nvSpPr>
          <p:cNvPr id="13" name="Text 11"/>
          <p:cNvSpPr/>
          <p:nvPr/>
        </p:nvSpPr>
        <p:spPr>
          <a:xfrm>
            <a:off x="868680" y="4599432"/>
            <a:ext cx="6309360" cy="822960"/>
          </a:xfrm>
          <a:prstGeom prst="rect">
            <a:avLst/>
          </a:prstGeom>
          <a:noFill/>
          <a:ln/>
        </p:spPr>
        <p:txBody>
          <a:bodyPr wrap="square" rtlCol="0" anchor="t"/>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Hướng phát triển: phần VAE đã hoàn thành ở mục 04 và 06; kiến trúc GAN đã trình bày ở mục 05, bước tiếp theo là huấn luyện DCGAN và CVAE sinh ảnh theo nhãn.</a:t>
            </a:r>
            <a:endParaRPr lang="en-US" sz="1250" dirty="0"/>
          </a:p>
        </p:txBody>
      </p:sp>
      <p:sp>
        <p:nvSpPr>
          <p:cNvPr id="14" name="Shape 12"/>
          <p:cNvSpPr/>
          <p:nvPr/>
        </p:nvSpPr>
        <p:spPr>
          <a:xfrm>
            <a:off x="7452360" y="1874520"/>
            <a:ext cx="4206240" cy="4480560"/>
          </a:xfrm>
          <a:prstGeom prst="roundRect">
            <a:avLst>
              <a:gd name="adj" fmla="val 2609"/>
            </a:avLst>
          </a:prstGeom>
          <a:solidFill>
            <a:srgbClr val="FFFFFF"/>
          </a:solidFill>
          <a:ln w="19050">
            <a:prstDash val="solid"/>
          </a:ln>
        </p:spPr>
        <p:txBody>
          <a:bodyPr/>
          <a:lstStyle/>
          <a:p>
            <a:endParaRPr/>
          </a:p>
        </p:txBody>
      </p:sp>
      <p:sp>
        <p:nvSpPr>
          <p:cNvPr id="15" name="Text 13"/>
          <p:cNvSpPr/>
          <p:nvPr/>
        </p:nvSpPr>
        <p:spPr>
          <a:xfrm>
            <a:off x="7680960" y="2103120"/>
            <a:ext cx="3749040" cy="548640"/>
          </a:xfrm>
          <a:prstGeom prst="rect">
            <a:avLst/>
          </a:prstGeom>
          <a:noFill/>
          <a:ln/>
        </p:spPr>
        <p:txBody>
          <a:bodyPr wrap="square" rtlCol="0" anchor="t"/>
          <a:lstStyle/>
          <a:p>
            <a:pPr marL="0" indent="0" algn="ctr">
              <a:buNone/>
            </a:pPr>
            <a:r>
              <a:rPr lang="en-US" sz="1250" b="1" dirty="0">
                <a:solidFill>
                  <a:srgbClr val="990011"/>
                </a:solidFill>
                <a:latin typeface="Calibri" pitchFamily="34" charset="0"/>
                <a:ea typeface="Calibri" pitchFamily="34" charset="-122"/>
                <a:cs typeface="Calibri" pitchFamily="34" charset="-120"/>
              </a:rPr>
              <a:t>TÓM TẮT SO SÁNH AE ↔ VAE</a:t>
            </a:r>
            <a:endParaRPr lang="en-US" sz="1250" dirty="0"/>
          </a:p>
        </p:txBody>
      </p:sp>
      <p:sp>
        <p:nvSpPr>
          <p:cNvPr id="16" name="Text 14"/>
          <p:cNvSpPr/>
          <p:nvPr/>
        </p:nvSpPr>
        <p:spPr>
          <a:xfrm>
            <a:off x="7680960" y="2606040"/>
            <a:ext cx="3749040" cy="320040"/>
          </a:xfrm>
          <a:prstGeom prst="rect">
            <a:avLst/>
          </a:prstGeom>
          <a:noFill/>
          <a:ln/>
        </p:spPr>
        <p:txBody>
          <a:bodyPr wrap="square" rtlCol="0" anchor="ctr"/>
          <a:lstStyle/>
          <a:p>
            <a:pPr marL="0" indent="0" algn="ctr">
              <a:buNone/>
            </a:pPr>
            <a:r>
              <a:rPr lang="en-US" sz="1000" i="1" dirty="0">
                <a:solidFill>
                  <a:srgbClr val="8A8A8A"/>
                </a:solidFill>
                <a:latin typeface="Calibri" pitchFamily="34" charset="0"/>
                <a:ea typeface="Calibri" pitchFamily="34" charset="-122"/>
                <a:cs typeface="Calibri" pitchFamily="34" charset="-120"/>
              </a:rPr>
              <a:t>(chi tiết ở phần 04 và slide 16)</a:t>
            </a:r>
            <a:endParaRPr lang="en-US" sz="1000" dirty="0"/>
          </a:p>
        </p:txBody>
      </p:sp>
      <p:sp>
        <p:nvSpPr>
          <p:cNvPr id="17" name="Text 15"/>
          <p:cNvSpPr/>
          <p:nvPr/>
        </p:nvSpPr>
        <p:spPr>
          <a:xfrm>
            <a:off x="7680960" y="3108960"/>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 đồ không gian ẩn 2D của VAE — slide 14</a:t>
            </a:r>
            <a:endParaRPr lang="en-US" sz="1100" dirty="0"/>
          </a:p>
        </p:txBody>
      </p:sp>
      <p:sp>
        <p:nvSpPr>
          <p:cNvPr id="18" name="Text 16"/>
          <p:cNvSpPr/>
          <p:nvPr/>
        </p:nvSpPr>
        <p:spPr>
          <a:xfrm>
            <a:off x="7680960" y="3730752"/>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Bảng loss tái tạo + KL divergence — slide 11 &amp; 16</a:t>
            </a:r>
            <a:endParaRPr lang="en-US" sz="1100" dirty="0"/>
          </a:p>
        </p:txBody>
      </p:sp>
      <p:sp>
        <p:nvSpPr>
          <p:cNvPr id="19" name="Text 17"/>
          <p:cNvSpPr/>
          <p:nvPr/>
        </p:nvSpPr>
        <p:spPr>
          <a:xfrm>
            <a:off x="7680960" y="4352544"/>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Phát hiện bất thường bằng negative ELBO — slide 15</a:t>
            </a:r>
            <a:endParaRPr lang="en-US" sz="1100" dirty="0"/>
          </a:p>
        </p:txBody>
      </p:sp>
      <p:sp>
        <p:nvSpPr>
          <p:cNvPr id="20" name="Text 18"/>
          <p:cNvSpPr/>
          <p:nvPr/>
        </p:nvSpPr>
        <p:spPr>
          <a:xfrm>
            <a:off x="7680960" y="4974336"/>
            <a:ext cx="3749040" cy="457200"/>
          </a:xfrm>
          <a:prstGeom prst="rect">
            <a:avLst/>
          </a:prstGeom>
          <a:noFill/>
          <a:ln/>
        </p:spPr>
        <p:txBody>
          <a:bodyPr wrap="square" rtlCol="0" anchor="t"/>
          <a:lstStyle/>
          <a:p>
            <a:pPr marL="0" indent="0">
              <a:lnSpc>
                <a:spcPct val="120000"/>
              </a:lnSpc>
              <a:buNone/>
            </a:pPr>
            <a:r>
              <a:rPr lang="en-US" sz="1100" dirty="0">
                <a:solidFill>
                  <a:srgbClr val="4A4A4A"/>
                </a:solidFill>
                <a:latin typeface="Calibri" pitchFamily="34" charset="0"/>
                <a:ea typeface="Calibri" pitchFamily="34" charset="-122"/>
                <a:cs typeface="Calibri" pitchFamily="34" charset="-120"/>
              </a:rPr>
              <a:t>☐ Ảnh nội suy tuyến tính giữa 2 điểm (chưa chạy)</a:t>
            </a:r>
            <a:endParaRPr lang="en-US" sz="1100" dirty="0"/>
          </a:p>
        </p:txBody>
      </p:sp>
      <p:sp>
        <p:nvSpPr>
          <p:cNvPr id="21" name="Text 19"/>
          <p:cNvSpPr/>
          <p:nvPr/>
        </p:nvSpPr>
        <p:spPr>
          <a:xfrm>
            <a:off x="548640" y="6492240"/>
            <a:ext cx="7315200" cy="274320"/>
          </a:xfrm>
          <a:prstGeom prst="rect">
            <a:avLst/>
          </a:prstGeom>
          <a:noFill/>
          <a:ln/>
        </p:spPr>
        <p:txBody>
          <a:bodyPr wrap="square" rtlCol="0" anchor="ctr"/>
          <a:lstStyle/>
          <a:p>
            <a:pPr marL="0" indent="0">
              <a:buNone/>
            </a:pPr>
            <a:r>
              <a:rPr lang="en-US" sz="1000" dirty="0">
                <a:solidFill>
                  <a:srgbClr val="F1C6CC"/>
                </a:solidFill>
                <a:latin typeface="Calibri" pitchFamily="34" charset="0"/>
                <a:ea typeface="Calibri" pitchFamily="34" charset="-122"/>
                <a:cs typeface="Calibri" pitchFamily="34" charset="-120"/>
              </a:rPr>
              <a:t>Nhóm học phần Học sâu — Đề tài 9: Mô hình sinh</a:t>
            </a:r>
            <a:endParaRPr lang="en-US" sz="1000" dirty="0"/>
          </a:p>
        </p:txBody>
      </p:sp>
      <p:sp>
        <p:nvSpPr>
          <p:cNvPr id="22" name="TextBox 21"/>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MÔ HÌNH VAE</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Từ AE sang VAE: mã hoá thành phân phối</a:t>
            </a:r>
          </a:p>
        </p:txBody>
      </p:sp>
      <p:sp>
        <p:nvSpPr>
          <p:cNvPr id="4" name="Rounded Rectangle 3"/>
          <p:cNvSpPr/>
          <p:nvPr/>
        </p:nvSpPr>
        <p:spPr>
          <a:xfrm>
            <a:off x="457200"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12064" y="2103120"/>
            <a:ext cx="1426464" cy="274320"/>
          </a:xfrm>
          <a:prstGeom prst="rect">
            <a:avLst/>
          </a:prstGeom>
          <a:noFill/>
        </p:spPr>
        <p:txBody>
          <a:bodyPr wrap="square" anchor="ctr">
            <a:spAutoFit/>
          </a:bodyPr>
          <a:lstStyle/>
          <a:p>
            <a:pPr algn="ctr"/>
            <a:r>
              <a:rPr sz="1200" b="1" i="0">
                <a:solidFill>
                  <a:srgbClr val="660000"/>
                </a:solidFill>
                <a:latin typeface="Calibri"/>
              </a:rPr>
              <a:t>x</a:t>
            </a:r>
          </a:p>
        </p:txBody>
      </p:sp>
      <p:sp>
        <p:nvSpPr>
          <p:cNvPr id="6" name="TextBox 5"/>
          <p:cNvSpPr txBox="1"/>
          <p:nvPr/>
        </p:nvSpPr>
        <p:spPr>
          <a:xfrm>
            <a:off x="512064" y="2377440"/>
            <a:ext cx="1426464" cy="411480"/>
          </a:xfrm>
          <a:prstGeom prst="rect">
            <a:avLst/>
          </a:prstGeom>
          <a:noFill/>
        </p:spPr>
        <p:txBody>
          <a:bodyPr wrap="square" anchor="ctr">
            <a:spAutoFit/>
          </a:bodyPr>
          <a:lstStyle/>
          <a:p>
            <a:pPr algn="ctr"/>
            <a:r>
              <a:rPr sz="1000" b="0" i="0">
                <a:solidFill>
                  <a:srgbClr val="4A4A4A"/>
                </a:solidFill>
                <a:latin typeface="Calibri"/>
              </a:rPr>
              <a:t>ảnh 1×28×28</a:t>
            </a:r>
          </a:p>
        </p:txBody>
      </p:sp>
      <p:sp>
        <p:nvSpPr>
          <p:cNvPr id="7" name="Rounded Rectangle 6"/>
          <p:cNvSpPr/>
          <p:nvPr/>
        </p:nvSpPr>
        <p:spPr>
          <a:xfrm>
            <a:off x="2404872"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459736" y="2103120"/>
            <a:ext cx="1426464" cy="274320"/>
          </a:xfrm>
          <a:prstGeom prst="rect">
            <a:avLst/>
          </a:prstGeom>
          <a:noFill/>
        </p:spPr>
        <p:txBody>
          <a:bodyPr wrap="square" anchor="ctr">
            <a:spAutoFit/>
          </a:bodyPr>
          <a:lstStyle/>
          <a:p>
            <a:pPr algn="ctr"/>
            <a:r>
              <a:rPr sz="1200" b="1" i="0">
                <a:solidFill>
                  <a:srgbClr val="660000"/>
                </a:solidFill>
                <a:latin typeface="Calibri"/>
              </a:rPr>
              <a:t>Encoder</a:t>
            </a:r>
          </a:p>
        </p:txBody>
      </p:sp>
      <p:sp>
        <p:nvSpPr>
          <p:cNvPr id="9" name="TextBox 8"/>
          <p:cNvSpPr txBox="1"/>
          <p:nvPr/>
        </p:nvSpPr>
        <p:spPr>
          <a:xfrm>
            <a:off x="2459736" y="2377440"/>
            <a:ext cx="1426464" cy="411480"/>
          </a:xfrm>
          <a:prstGeom prst="rect">
            <a:avLst/>
          </a:prstGeom>
          <a:noFill/>
        </p:spPr>
        <p:txBody>
          <a:bodyPr wrap="square" anchor="ctr">
            <a:spAutoFit/>
          </a:bodyPr>
          <a:lstStyle/>
          <a:p>
            <a:pPr algn="ctr"/>
            <a:r>
              <a:rPr sz="1000" b="0" i="0">
                <a:solidFill>
                  <a:srgbClr val="4A4A4A"/>
                </a:solidFill>
                <a:latin typeface="Calibri"/>
              </a:rPr>
              <a:t>conv → FC</a:t>
            </a:r>
          </a:p>
        </p:txBody>
      </p:sp>
      <p:sp>
        <p:nvSpPr>
          <p:cNvPr id="10" name="Right Arrow 9"/>
          <p:cNvSpPr/>
          <p:nvPr/>
        </p:nvSpPr>
        <p:spPr>
          <a:xfrm>
            <a:off x="2048255"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52544" y="2011680"/>
            <a:ext cx="1536192" cy="868680"/>
          </a:xfrm>
          <a:prstGeom prst="roundRect">
            <a:avLst>
              <a:gd name="adj" fmla="val 2474"/>
            </a:avLst>
          </a:prstGeom>
          <a:solidFill>
            <a:srgbClr val="F6D9DE"/>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07407" y="2103120"/>
            <a:ext cx="1426464" cy="274320"/>
          </a:xfrm>
          <a:prstGeom prst="rect">
            <a:avLst/>
          </a:prstGeom>
          <a:noFill/>
        </p:spPr>
        <p:txBody>
          <a:bodyPr wrap="square" anchor="ctr">
            <a:spAutoFit/>
          </a:bodyPr>
          <a:lstStyle/>
          <a:p>
            <a:pPr algn="ctr"/>
            <a:r>
              <a:rPr sz="1200" b="1" i="0">
                <a:solidFill>
                  <a:srgbClr val="660000"/>
                </a:solidFill>
                <a:latin typeface="Calibri"/>
              </a:rPr>
              <a:t>μ, log σ²</a:t>
            </a:r>
          </a:p>
        </p:txBody>
      </p:sp>
      <p:sp>
        <p:nvSpPr>
          <p:cNvPr id="13" name="TextBox 12"/>
          <p:cNvSpPr txBox="1"/>
          <p:nvPr/>
        </p:nvSpPr>
        <p:spPr>
          <a:xfrm>
            <a:off x="4407407" y="2377440"/>
            <a:ext cx="1426464" cy="411480"/>
          </a:xfrm>
          <a:prstGeom prst="rect">
            <a:avLst/>
          </a:prstGeom>
          <a:noFill/>
        </p:spPr>
        <p:txBody>
          <a:bodyPr wrap="square" anchor="ctr">
            <a:spAutoFit/>
          </a:bodyPr>
          <a:lstStyle/>
          <a:p>
            <a:pPr algn="ctr"/>
            <a:r>
              <a:rPr sz="1000" b="0" i="0">
                <a:solidFill>
                  <a:srgbClr val="4A4A4A"/>
                </a:solidFill>
                <a:latin typeface="Calibri"/>
              </a:rPr>
              <a:t>hai vector d chiều</a:t>
            </a:r>
          </a:p>
        </p:txBody>
      </p:sp>
      <p:sp>
        <p:nvSpPr>
          <p:cNvPr id="14" name="Right Arrow 13"/>
          <p:cNvSpPr/>
          <p:nvPr/>
        </p:nvSpPr>
        <p:spPr>
          <a:xfrm>
            <a:off x="3995927"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00216" y="2011680"/>
            <a:ext cx="1536192" cy="868680"/>
          </a:xfrm>
          <a:prstGeom prst="roundRect">
            <a:avLst>
              <a:gd name="adj" fmla="val 2474"/>
            </a:avLst>
          </a:prstGeom>
          <a:solidFill>
            <a:srgbClr val="F6D9DE"/>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79" y="2103120"/>
            <a:ext cx="1426464" cy="274320"/>
          </a:xfrm>
          <a:prstGeom prst="rect">
            <a:avLst/>
          </a:prstGeom>
          <a:noFill/>
        </p:spPr>
        <p:txBody>
          <a:bodyPr wrap="square" anchor="ctr">
            <a:spAutoFit/>
          </a:bodyPr>
          <a:lstStyle/>
          <a:p>
            <a:pPr algn="ctr"/>
            <a:r>
              <a:rPr sz="1200" b="1" i="0">
                <a:solidFill>
                  <a:srgbClr val="660000"/>
                </a:solidFill>
                <a:latin typeface="Calibri"/>
              </a:rPr>
              <a:t>z = μ + σ ⊙ ε</a:t>
            </a:r>
          </a:p>
        </p:txBody>
      </p:sp>
      <p:sp>
        <p:nvSpPr>
          <p:cNvPr id="17" name="TextBox 16"/>
          <p:cNvSpPr txBox="1"/>
          <p:nvPr/>
        </p:nvSpPr>
        <p:spPr>
          <a:xfrm>
            <a:off x="6355079" y="2377440"/>
            <a:ext cx="1426464" cy="411480"/>
          </a:xfrm>
          <a:prstGeom prst="rect">
            <a:avLst/>
          </a:prstGeom>
          <a:noFill/>
        </p:spPr>
        <p:txBody>
          <a:bodyPr wrap="square" anchor="ctr">
            <a:spAutoFit/>
          </a:bodyPr>
          <a:lstStyle/>
          <a:p>
            <a:pPr algn="ctr"/>
            <a:r>
              <a:rPr sz="1000" b="0" i="0">
                <a:solidFill>
                  <a:srgbClr val="4A4A4A"/>
                </a:solidFill>
                <a:latin typeface="Calibri"/>
              </a:rPr>
              <a:t>ε ~ N(0, I)</a:t>
            </a:r>
          </a:p>
        </p:txBody>
      </p:sp>
      <p:sp>
        <p:nvSpPr>
          <p:cNvPr id="18" name="Right Arrow 17"/>
          <p:cNvSpPr/>
          <p:nvPr/>
        </p:nvSpPr>
        <p:spPr>
          <a:xfrm>
            <a:off x="5943599"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47888"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02752" y="2103120"/>
            <a:ext cx="1426464" cy="274320"/>
          </a:xfrm>
          <a:prstGeom prst="rect">
            <a:avLst/>
          </a:prstGeom>
          <a:noFill/>
        </p:spPr>
        <p:txBody>
          <a:bodyPr wrap="square" anchor="ctr">
            <a:spAutoFit/>
          </a:bodyPr>
          <a:lstStyle/>
          <a:p>
            <a:pPr algn="ctr"/>
            <a:r>
              <a:rPr sz="1200" b="1" i="0">
                <a:solidFill>
                  <a:srgbClr val="660000"/>
                </a:solidFill>
                <a:latin typeface="Calibri"/>
              </a:rPr>
              <a:t>Decoder</a:t>
            </a:r>
          </a:p>
        </p:txBody>
      </p:sp>
      <p:sp>
        <p:nvSpPr>
          <p:cNvPr id="21" name="TextBox 20"/>
          <p:cNvSpPr txBox="1"/>
          <p:nvPr/>
        </p:nvSpPr>
        <p:spPr>
          <a:xfrm>
            <a:off x="8302752" y="2377440"/>
            <a:ext cx="1426464" cy="411480"/>
          </a:xfrm>
          <a:prstGeom prst="rect">
            <a:avLst/>
          </a:prstGeom>
          <a:noFill/>
        </p:spPr>
        <p:txBody>
          <a:bodyPr wrap="square" anchor="ctr">
            <a:spAutoFit/>
          </a:bodyPr>
          <a:lstStyle/>
          <a:p>
            <a:pPr algn="ctr"/>
            <a:r>
              <a:rPr sz="1000" b="0" i="0">
                <a:solidFill>
                  <a:srgbClr val="4A4A4A"/>
                </a:solidFill>
                <a:latin typeface="Calibri"/>
              </a:rPr>
              <a:t>FC → convT</a:t>
            </a:r>
          </a:p>
        </p:txBody>
      </p:sp>
      <p:sp>
        <p:nvSpPr>
          <p:cNvPr id="22" name="Right Arrow 21"/>
          <p:cNvSpPr/>
          <p:nvPr/>
        </p:nvSpPr>
        <p:spPr>
          <a:xfrm>
            <a:off x="7891272"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195559" y="2011680"/>
            <a:ext cx="1536192" cy="8686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250424" y="2103120"/>
            <a:ext cx="1426464" cy="274320"/>
          </a:xfrm>
          <a:prstGeom prst="rect">
            <a:avLst/>
          </a:prstGeom>
          <a:noFill/>
        </p:spPr>
        <p:txBody>
          <a:bodyPr wrap="square" anchor="ctr">
            <a:spAutoFit/>
          </a:bodyPr>
          <a:lstStyle/>
          <a:p>
            <a:pPr algn="ctr"/>
            <a:r>
              <a:rPr sz="1200" b="1" i="0">
                <a:solidFill>
                  <a:srgbClr val="660000"/>
                </a:solidFill>
                <a:latin typeface="Calibri"/>
              </a:rPr>
              <a:t>x̂</a:t>
            </a:r>
          </a:p>
        </p:txBody>
      </p:sp>
      <p:sp>
        <p:nvSpPr>
          <p:cNvPr id="25" name="TextBox 24"/>
          <p:cNvSpPr txBox="1"/>
          <p:nvPr/>
        </p:nvSpPr>
        <p:spPr>
          <a:xfrm>
            <a:off x="10250424" y="2377440"/>
            <a:ext cx="1426464" cy="411480"/>
          </a:xfrm>
          <a:prstGeom prst="rect">
            <a:avLst/>
          </a:prstGeom>
          <a:noFill/>
        </p:spPr>
        <p:txBody>
          <a:bodyPr wrap="square" anchor="ctr">
            <a:spAutoFit/>
          </a:bodyPr>
          <a:lstStyle/>
          <a:p>
            <a:pPr algn="ctr"/>
            <a:r>
              <a:rPr sz="1000" b="0" i="0">
                <a:solidFill>
                  <a:srgbClr val="4A4A4A"/>
                </a:solidFill>
                <a:latin typeface="Calibri"/>
              </a:rPr>
              <a:t>ảnh tái tạo</a:t>
            </a:r>
          </a:p>
        </p:txBody>
      </p:sp>
      <p:sp>
        <p:nvSpPr>
          <p:cNvPr id="26" name="Right Arrow 25"/>
          <p:cNvSpPr/>
          <p:nvPr/>
        </p:nvSpPr>
        <p:spPr>
          <a:xfrm>
            <a:off x="9838944" y="2386584"/>
            <a:ext cx="301752" cy="118872"/>
          </a:xfrm>
          <a:prstGeom prst="rightArrow">
            <a:avLst/>
          </a:prstGeom>
          <a:solidFill>
            <a:srgbClr val="C98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2999232"/>
            <a:ext cx="11274552" cy="274320"/>
          </a:xfrm>
          <a:prstGeom prst="rect">
            <a:avLst/>
          </a:prstGeom>
          <a:noFill/>
        </p:spPr>
        <p:txBody>
          <a:bodyPr wrap="square" anchor="t">
            <a:spAutoFit/>
          </a:bodyPr>
          <a:lstStyle/>
          <a:p>
            <a:pPr algn="ctr"/>
            <a:r>
              <a:rPr sz="1050" b="0" i="1">
                <a:solidFill>
                  <a:srgbClr val="8A8A8A"/>
                </a:solidFill>
                <a:latin typeface="Calibri"/>
              </a:rPr>
              <a:t>Điểm khác biệt nằm ở hai ô giữa: encoder trả về một phân phối, và z được lấy mẫu từ phân phối đó theo cách vẫn lan truyền được gradient.</a:t>
            </a:r>
          </a:p>
        </p:txBody>
      </p:sp>
      <p:sp>
        <p:nvSpPr>
          <p:cNvPr id="28" name="Rounded Rectangle 27"/>
          <p:cNvSpPr/>
          <p:nvPr/>
        </p:nvSpPr>
        <p:spPr>
          <a:xfrm>
            <a:off x="457200" y="3474720"/>
            <a:ext cx="5486400" cy="278892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85800" y="3602736"/>
            <a:ext cx="5029200" cy="274320"/>
          </a:xfrm>
          <a:prstGeom prst="rect">
            <a:avLst/>
          </a:prstGeom>
          <a:noFill/>
        </p:spPr>
        <p:txBody>
          <a:bodyPr wrap="square" anchor="ctr">
            <a:spAutoFit/>
          </a:bodyPr>
          <a:lstStyle/>
          <a:p>
            <a:pPr algn="l"/>
            <a:r>
              <a:rPr sz="1100" b="1" i="0" spc="100">
                <a:solidFill>
                  <a:srgbClr val="990011"/>
                </a:solidFill>
                <a:latin typeface="Calibri"/>
              </a:rPr>
              <a:t>HÀM MỤC TIÊU — ELBO</a:t>
            </a:r>
          </a:p>
        </p:txBody>
      </p:sp>
      <p:sp>
        <p:nvSpPr>
          <p:cNvPr id="30" name="TextBox 29"/>
          <p:cNvSpPr txBox="1"/>
          <p:nvPr/>
        </p:nvSpPr>
        <p:spPr>
          <a:xfrm>
            <a:off x="685800" y="3968496"/>
            <a:ext cx="5029200" cy="292608"/>
          </a:xfrm>
          <a:prstGeom prst="rect">
            <a:avLst/>
          </a:prstGeom>
          <a:noFill/>
        </p:spPr>
        <p:txBody>
          <a:bodyPr wrap="square" anchor="ctr">
            <a:spAutoFit/>
          </a:bodyPr>
          <a:lstStyle/>
          <a:p>
            <a:pPr algn="l"/>
            <a:r>
              <a:rPr sz="950" b="0" i="0">
                <a:solidFill>
                  <a:srgbClr val="660000"/>
                </a:solidFill>
                <a:latin typeface="Consolas"/>
              </a:rPr>
              <a:t>L = loss tái tạo  +  β · KL( q(z|x) ‖ N(0, I) )</a:t>
            </a:r>
          </a:p>
        </p:txBody>
      </p:sp>
      <p:sp>
        <p:nvSpPr>
          <p:cNvPr id="31" name="TextBox 30"/>
          <p:cNvSpPr txBox="1"/>
          <p:nvPr/>
        </p:nvSpPr>
        <p:spPr>
          <a:xfrm>
            <a:off x="685800" y="4279392"/>
            <a:ext cx="5029200" cy="292608"/>
          </a:xfrm>
          <a:prstGeom prst="rect">
            <a:avLst/>
          </a:prstGeom>
          <a:noFill/>
        </p:spPr>
        <p:txBody>
          <a:bodyPr wrap="square" anchor="ctr">
            <a:spAutoFit/>
          </a:bodyPr>
          <a:lstStyle/>
          <a:p>
            <a:pPr algn="l"/>
            <a:r>
              <a:rPr sz="950" b="0" i="0">
                <a:solidFill>
                  <a:srgbClr val="660000"/>
                </a:solidFill>
                <a:latin typeface="Consolas"/>
              </a:rPr>
              <a:t>KL = −½ · Σ ( 1 + log σ² − μ² − σ² )</a:t>
            </a:r>
          </a:p>
        </p:txBody>
      </p:sp>
      <p:sp>
        <p:nvSpPr>
          <p:cNvPr id="32" name="TextBox 31"/>
          <p:cNvSpPr txBox="1"/>
          <p:nvPr/>
        </p:nvSpPr>
        <p:spPr>
          <a:xfrm>
            <a:off x="685800" y="4590288"/>
            <a:ext cx="5029200" cy="292608"/>
          </a:xfrm>
          <a:prstGeom prst="rect">
            <a:avLst/>
          </a:prstGeom>
          <a:noFill/>
        </p:spPr>
        <p:txBody>
          <a:bodyPr wrap="square" anchor="ctr">
            <a:spAutoFit/>
          </a:bodyPr>
          <a:lstStyle/>
          <a:p>
            <a:pPr algn="l"/>
            <a:r>
              <a:rPr sz="950" b="0" i="0">
                <a:solidFill>
                  <a:srgbClr val="660000"/>
                </a:solidFill>
                <a:latin typeface="Consolas"/>
              </a:rPr>
              <a:t>β = 1 (VAE chuẩn); β &gt; 1 → β-VAE</a:t>
            </a:r>
          </a:p>
        </p:txBody>
      </p:sp>
      <p:sp>
        <p:nvSpPr>
          <p:cNvPr id="33" name="TextBox 32"/>
          <p:cNvSpPr txBox="1"/>
          <p:nvPr/>
        </p:nvSpPr>
        <p:spPr>
          <a:xfrm>
            <a:off x="685800" y="4956048"/>
            <a:ext cx="5029200" cy="1188720"/>
          </a:xfrm>
          <a:prstGeom prst="rect">
            <a:avLst/>
          </a:prstGeom>
          <a:noFill/>
        </p:spPr>
        <p:txBody>
          <a:bodyPr wrap="square" anchor="t">
            <a:spAutoFit/>
          </a:bodyPr>
          <a:lstStyle/>
          <a:p>
            <a:pPr algn="l"/>
            <a:r>
              <a:rPr sz="1100" b="0" i="0">
                <a:solidFill>
                  <a:srgbClr val="4A4A4A"/>
                </a:solidFill>
                <a:latin typeface="Calibri"/>
              </a:rPr>
              <a:t>Số hạng tái tạo giữ nguyên như AE (BCE hoặc MSE, tổng theo pixel). Số hạng KL là phần thêm mới: nó phạt mọi phân phối hậu nghiệm lệch khỏi N(0, I), nhờ đó các vùng ẩn được lấp đầy và có thể lấy mẫu.</a:t>
            </a:r>
          </a:p>
        </p:txBody>
      </p:sp>
      <p:sp>
        <p:nvSpPr>
          <p:cNvPr id="34" name="Rounded Rectangle 33"/>
          <p:cNvSpPr/>
          <p:nvPr/>
        </p:nvSpPr>
        <p:spPr>
          <a:xfrm>
            <a:off x="6245352" y="3474720"/>
            <a:ext cx="5486400" cy="278892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73952" y="3602736"/>
            <a:ext cx="5029200" cy="274320"/>
          </a:xfrm>
          <a:prstGeom prst="rect">
            <a:avLst/>
          </a:prstGeom>
          <a:noFill/>
        </p:spPr>
        <p:txBody>
          <a:bodyPr wrap="square" anchor="ctr">
            <a:spAutoFit/>
          </a:bodyPr>
          <a:lstStyle/>
          <a:p>
            <a:pPr algn="l"/>
            <a:r>
              <a:rPr sz="1100" b="1" i="0" spc="100">
                <a:solidFill>
                  <a:srgbClr val="990011"/>
                </a:solidFill>
                <a:latin typeface="Calibri"/>
              </a:rPr>
              <a:t>KHÁC BIỆT SO VỚI AE</a:t>
            </a:r>
          </a:p>
        </p:txBody>
      </p:sp>
      <p:sp>
        <p:nvSpPr>
          <p:cNvPr id="36" name="Oval 35"/>
          <p:cNvSpPr/>
          <p:nvPr/>
        </p:nvSpPr>
        <p:spPr>
          <a:xfrm>
            <a:off x="6473952" y="4041648"/>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3950208"/>
            <a:ext cx="4800600" cy="566928"/>
          </a:xfrm>
          <a:prstGeom prst="rect">
            <a:avLst/>
          </a:prstGeom>
          <a:noFill/>
        </p:spPr>
        <p:txBody>
          <a:bodyPr wrap="square" anchor="t">
            <a:spAutoFit/>
          </a:bodyPr>
          <a:lstStyle/>
          <a:p>
            <a:pPr algn="l"/>
            <a:r>
              <a:rPr sz="1100" b="0" i="0">
                <a:solidFill>
                  <a:srgbClr val="4A4A4A"/>
                </a:solidFill>
                <a:latin typeface="Calibri"/>
              </a:rPr>
              <a:t>Encoder trả về (μ, log σ²) thay vì một điểm z duy nhất.</a:t>
            </a:r>
          </a:p>
        </p:txBody>
      </p:sp>
      <p:sp>
        <p:nvSpPr>
          <p:cNvPr id="38" name="Oval 37"/>
          <p:cNvSpPr/>
          <p:nvPr/>
        </p:nvSpPr>
        <p:spPr>
          <a:xfrm>
            <a:off x="6473952" y="4608576"/>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93408" y="4517136"/>
            <a:ext cx="4800600" cy="566928"/>
          </a:xfrm>
          <a:prstGeom prst="rect">
            <a:avLst/>
          </a:prstGeom>
          <a:noFill/>
        </p:spPr>
        <p:txBody>
          <a:bodyPr wrap="square" anchor="t">
            <a:spAutoFit/>
          </a:bodyPr>
          <a:lstStyle/>
          <a:p>
            <a:pPr algn="l"/>
            <a:r>
              <a:rPr sz="1100" b="0" i="0">
                <a:solidFill>
                  <a:srgbClr val="4A4A4A"/>
                </a:solidFill>
                <a:latin typeface="Calibri"/>
              </a:rPr>
              <a:t>Reparameterization z = μ + σ⊙ε cho phép lấy mẫu mà vẫn tính được gradient.</a:t>
            </a:r>
          </a:p>
        </p:txBody>
      </p:sp>
      <p:sp>
        <p:nvSpPr>
          <p:cNvPr id="40" name="Oval 39"/>
          <p:cNvSpPr/>
          <p:nvPr/>
        </p:nvSpPr>
        <p:spPr>
          <a:xfrm>
            <a:off x="6473952" y="5175504"/>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93408" y="5084064"/>
            <a:ext cx="4800600" cy="566928"/>
          </a:xfrm>
          <a:prstGeom prst="rect">
            <a:avLst/>
          </a:prstGeom>
          <a:noFill/>
        </p:spPr>
        <p:txBody>
          <a:bodyPr wrap="square" anchor="t">
            <a:spAutoFit/>
          </a:bodyPr>
          <a:lstStyle/>
          <a:p>
            <a:pPr algn="l"/>
            <a:r>
              <a:rPr sz="1100" b="0" i="0">
                <a:solidFill>
                  <a:srgbClr val="4A4A4A"/>
                </a:solidFill>
                <a:latin typeface="Calibri"/>
              </a:rPr>
              <a:t>KL ép các q(z|x) chồng lấn với tiên nghiệm → không gian ẩn liên tục.</a:t>
            </a:r>
          </a:p>
        </p:txBody>
      </p:sp>
      <p:sp>
        <p:nvSpPr>
          <p:cNvPr id="42" name="Oval 41"/>
          <p:cNvSpPr/>
          <p:nvPr/>
        </p:nvSpPr>
        <p:spPr>
          <a:xfrm>
            <a:off x="6473952" y="5742432"/>
            <a:ext cx="91440" cy="91440"/>
          </a:xfrm>
          <a:prstGeom prst="ellipse">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5650992"/>
            <a:ext cx="4800600" cy="566928"/>
          </a:xfrm>
          <a:prstGeom prst="rect">
            <a:avLst/>
          </a:prstGeom>
          <a:noFill/>
        </p:spPr>
        <p:txBody>
          <a:bodyPr wrap="square" anchor="t">
            <a:spAutoFit/>
          </a:bodyPr>
          <a:lstStyle/>
          <a:p>
            <a:pPr algn="l"/>
            <a:r>
              <a:rPr sz="1100" b="0" i="0">
                <a:solidFill>
                  <a:srgbClr val="4A4A4A"/>
                </a:solidFill>
                <a:latin typeface="Calibri"/>
              </a:rPr>
              <a:t>Sinh ảnh mới: lấy z ~ N(0, I) rồi giải mã — điều AE không làm được.</a:t>
            </a:r>
          </a:p>
        </p:txBody>
      </p:sp>
      <p:sp>
        <p:nvSpPr>
          <p:cNvPr id="44" name="TextBox 43"/>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45" name="TextBox 44"/>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Kicker"/>
          <p:cNvSpPr txBox="1"/>
          <p:nvPr/>
        </p:nvSpPr>
        <p:spPr>
          <a:xfrm>
            <a:off x="457200" y="330000"/>
            <a:ext cx="11277600" cy="300000"/>
          </a:xfrm>
          <a:prstGeom prst="rect">
            <a:avLst/>
          </a:prstGeom>
          <a:noFill/>
        </p:spPr>
        <p:txBody>
          <a:bodyPr wrap="square" lIns="0" tIns="0" rIns="0" bIns="0">
            <a:normAutofit/>
          </a:bodyPr>
          <a:lstStyle/>
          <a:p>
            <a:pPr>
              <a:spcAft>
                <a:spcPts val="0"/>
              </a:spcAft>
            </a:pPr>
            <a:r>
              <a:rPr lang="vi-VN" sz="1100" b="1" dirty="0">
                <a:solidFill>
                  <a:srgbClr val="8A8A8A"/>
                </a:solidFill>
                <a:latin typeface="Calibri"/>
              </a:rPr>
              <a:t>ĐỀ TÀI 9 · MÔ HÌNH SINH: TỪ AUTOENCODER TỚI VAE VÀ GAN</a:t>
            </a:r>
          </a:p>
        </p:txBody>
      </p:sp>
      <p:sp>
        <p:nvSpPr>
          <p:cNvPr id="5" name="Title"/>
          <p:cNvSpPr txBox="1"/>
          <p:nvPr/>
        </p:nvSpPr>
        <p:spPr>
          <a:xfrm>
            <a:off x="457200" y="620000"/>
            <a:ext cx="11277600" cy="520000"/>
          </a:xfrm>
          <a:prstGeom prst="rect">
            <a:avLst/>
          </a:prstGeom>
          <a:noFill/>
        </p:spPr>
        <p:txBody>
          <a:bodyPr wrap="square" lIns="0" tIns="0" rIns="0" bIns="0">
            <a:normAutofit/>
          </a:bodyPr>
          <a:lstStyle/>
          <a:p>
            <a:r>
              <a:rPr lang="vi-VN" sz="2800" b="1" dirty="0">
                <a:solidFill>
                  <a:srgbClr val="990011"/>
                </a:solidFill>
                <a:latin typeface="Cambria"/>
              </a:rPr>
              <a:t>Phân công công việc nhóm</a:t>
            </a:r>
          </a:p>
        </p:txBody>
      </p:sp>
      <p:graphicFrame>
        <p:nvGraphicFramePr>
          <p:cNvPr id="10" name="Bang phan cong"/>
          <p:cNvGraphicFramePr>
            <a:graphicFrameLocks noGrp="1"/>
          </p:cNvGraphicFramePr>
          <p:nvPr/>
        </p:nvGraphicFramePr>
        <p:xfrm>
          <a:off x="457200" y="1250000"/>
          <a:ext cx="11277600" cy="5140000"/>
        </p:xfrm>
        <a:graphic>
          <a:graphicData uri="http://schemas.openxmlformats.org/drawingml/2006/table">
            <a:tbl>
              <a:tblPr firstRow="1" bandRow="0">
                <a:tableStyleId>{5C22544A-7EE6-4342-B048-85BDC9FD1C3A}</a:tableStyleId>
              </a:tblPr>
              <a:tblGrid>
                <a:gridCol w="2350000"/>
                <a:gridCol w="2050000"/>
                <a:gridCol w="6877600"/>
              </a:tblGrid>
              <a:tr h="380000">
                <a:tc>
                  <a:txBody>
                    <a:bodyPr/>
                    <a:lstStyle/>
                    <a:p>
                      <a:pPr>
                        <a:spcAft>
                          <a:spcPts val="0"/>
                        </a:spcAft>
                      </a:pPr>
                      <a:r>
                        <a:rPr lang="vi-VN" sz="1200" b="1" dirty="0">
                          <a:solidFill>
                            <a:srgbClr val="FFFFFF"/>
                          </a:solidFill>
                          <a:latin typeface="Calibri"/>
                        </a:rPr>
                        <a:t>THÀNH VIÊN</a:t>
                      </a:r>
                    </a:p>
                  </a:txBody>
                  <a:tcPr marL="91440" marR="91440" marT="54864" marB="54864" anchor="ctr">
                    <a:solidFill>
                      <a:srgbClr val="990011"/>
                    </a:solidFill>
                  </a:tcPr>
                </a:tc>
                <a:tc>
                  <a:txBody>
                    <a:bodyPr/>
                    <a:lstStyle/>
                    <a:p>
                      <a:pPr>
                        <a:spcAft>
                          <a:spcPts val="0"/>
                        </a:spcAft>
                      </a:pPr>
                      <a:r>
                        <a:rPr lang="vi-VN" sz="1200" b="1" dirty="0">
                          <a:solidFill>
                            <a:srgbClr val="FFFFFF"/>
                          </a:solidFill>
                          <a:latin typeface="Calibri"/>
                        </a:rPr>
                        <a:t>PHỤ TRÁCH</a:t>
                      </a:r>
                    </a:p>
                  </a:txBody>
                  <a:tcPr marL="91440" marR="91440" marT="54864" marB="54864" anchor="ctr">
                    <a:solidFill>
                      <a:srgbClr val="990011"/>
                    </a:solidFill>
                  </a:tcPr>
                </a:tc>
                <a:tc>
                  <a:txBody>
                    <a:bodyPr/>
                    <a:lstStyle/>
                    <a:p>
                      <a:pPr>
                        <a:spcAft>
                          <a:spcPts val="0"/>
                        </a:spcAft>
                      </a:pPr>
                      <a:r>
                        <a:rPr lang="vi-VN" sz="1200" b="1" dirty="0">
                          <a:solidFill>
                            <a:srgbClr val="FFFFFF"/>
                          </a:solidFill>
                          <a:latin typeface="Calibri"/>
                        </a:rPr>
                        <a:t>CÔNG VIỆC CHI TIẾT</a:t>
                      </a:r>
                    </a:p>
                  </a:txBody>
                  <a:tcPr marL="91440" marR="91440" marT="54864" marB="54864" anchor="ctr">
                    <a:solidFill>
                      <a:srgbClr val="990011"/>
                    </a:solidFill>
                  </a:tcPr>
                </a:tc>
              </a:tr>
              <a:tr h="1420000">
                <a:tc>
                  <a:txBody>
                    <a:bodyPr/>
                    <a:lstStyle/>
                    <a:p>
                      <a:pPr>
                        <a:spcAft>
                          <a:spcPts val="200"/>
                        </a:spcAft>
                      </a:pPr>
                      <a:r>
                        <a:rPr lang="vi-VN" sz="1200" b="1" dirty="0">
                          <a:solidFill>
                            <a:srgbClr val="990011"/>
                          </a:solidFill>
                          <a:latin typeface="Calibri"/>
                        </a:rPr>
                        <a:t>Nguyên Hà Minh</a:t>
                      </a:r>
                    </a:p>
                    <a:p>
                      <a:pPr>
                        <a:spcAft>
                          <a:spcPts val="0"/>
                        </a:spcAft>
                      </a:pPr>
                      <a:r>
                        <a:rPr lang="vi-VN" sz="1000" dirty="0">
                          <a:solidFill>
                            <a:srgbClr val="8A8A8A"/>
                          </a:solidFill>
                          <a:latin typeface="Calibri"/>
                        </a:rPr>
                        <a:t>MSSV 2026abcd</a:t>
                      </a:r>
                    </a:p>
                  </a:txBody>
                  <a:tcPr marL="91440" marR="91440" marT="54864" marB="54864" anchor="ctr">
                    <a:solidFill>
                      <a:srgbClr val="FFFFFF"/>
                    </a:solidFill>
                  </a:tcPr>
                </a:tc>
                <a:tc>
                  <a:txBody>
                    <a:bodyPr/>
                    <a:lstStyle/>
                    <a:p>
                      <a:pPr>
                        <a:spcAft>
                          <a:spcPts val="200"/>
                        </a:spcAft>
                      </a:pPr>
                      <a:r>
                        <a:rPr lang="vi-VN" sz="1150" b="1" dirty="0">
                          <a:solidFill>
                            <a:srgbClr val="660000"/>
                          </a:solidFill>
                          <a:latin typeface="Calibri"/>
                        </a:rPr>
                        <a:t>Autoencoder (AE)</a:t>
                      </a:r>
                    </a:p>
                    <a:p>
                      <a:pPr>
                        <a:spcAft>
                          <a:spcPts val="0"/>
                        </a:spcAft>
                      </a:pPr>
                      <a:r>
                        <a:rPr lang="vi-VN" sz="950" dirty="0">
                          <a:solidFill>
                            <a:srgbClr val="8A8A8A"/>
                          </a:solidFill>
                          <a:latin typeface="Calibri"/>
                        </a:rPr>
                        <a:t>MNIST</a:t>
                      </a:r>
                    </a:p>
                  </a:txBody>
                  <a:tcPr marL="91440" marR="91440" marT="54864" marB="54864" anchor="ctr">
                    <a:solidFill>
                      <a:srgbClr val="FFFFFF"/>
                    </a:solidFill>
                  </a:tcPr>
                </a:tc>
                <a:tc>
                  <a:txBody>
                    <a:bodyPr/>
                    <a:lstStyle/>
                    <a:p>
                      <a:pPr>
                        <a:spcAft>
                          <a:spcPts val="300"/>
                        </a:spcAft>
                      </a:pPr>
                      <a:r>
                        <a:rPr lang="vi-VN" sz="1050" dirty="0">
                          <a:solidFill>
                            <a:srgbClr val="4A4A4A"/>
                          </a:solidFill>
                          <a:latin typeface="Calibri"/>
                        </a:rPr>
                        <a:t>▸  Cài Conv-AE (encoder/decoder); thử nghiệm 2 hàm mất mát MSE và BCE, so sánh kết quả</a:t>
                      </a:r>
                    </a:p>
                    <a:p>
                      <a:pPr>
                        <a:spcAft>
                          <a:spcPts val="300"/>
                        </a:spcAft>
                      </a:pPr>
                      <a:r>
                        <a:rPr lang="vi-VN" sz="1050" dirty="0">
                          <a:solidFill>
                            <a:srgbClr val="4A4A4A"/>
                          </a:solidFill>
                          <a:latin typeface="Calibri"/>
                        </a:rPr>
                        <a:t>▸  Khảo sát latent dim {2, 8, 32, 128} → chất lượng tái tạo; lưới ảnh tái tạo + đường loss theo epoch</a:t>
                      </a:r>
                    </a:p>
                    <a:p>
                      <a:pPr>
                        <a:spcAft>
                          <a:spcPts val="300"/>
                        </a:spcAft>
                      </a:pPr>
                      <a:r>
                        <a:rPr lang="vi-VN" sz="1050" dirty="0">
                          <a:solidFill>
                            <a:srgbClr val="4A4A4A"/>
                          </a:solidFill>
                          <a:latin typeface="Calibri"/>
                        </a:rPr>
                        <a:t>▸  Nội suy tuyến tính giữa 2 điểm trong không gian ẩn của AE (gửi Đạt ghép so sánh với VAE)</a:t>
                      </a:r>
                    </a:p>
                    <a:p>
                      <a:pPr>
                        <a:spcAft>
                          <a:spcPts val="300"/>
                        </a:spcAft>
                      </a:pPr>
                      <a:r>
                        <a:rPr lang="vi-VN" sz="1050" dirty="0">
                          <a:solidFill>
                            <a:srgbClr val="4A4A4A"/>
                          </a:solidFill>
                          <a:latin typeface="Calibri"/>
                        </a:rPr>
                        <a:t>▸  Ứng dụng phát hiện bất thường: train trên 9 chữ số, kiểm thử trên chữ số còn lại (yêu cầu khác)</a:t>
                      </a:r>
                    </a:p>
                  </a:txBody>
                  <a:tcPr marL="91440" marR="91440" marT="54864" marB="54864" anchor="t">
                    <a:solidFill>
                      <a:srgbClr val="FFFFFF"/>
                    </a:solidFill>
                  </a:tcPr>
                </a:tc>
              </a:tr>
              <a:tr h="1420000">
                <a:tc>
                  <a:txBody>
                    <a:bodyPr/>
                    <a:lstStyle/>
                    <a:p>
                      <a:pPr>
                        <a:spcAft>
                          <a:spcPts val="200"/>
                        </a:spcAft>
                      </a:pPr>
                      <a:r>
                        <a:rPr lang="vi-VN" sz="1200" b="1" dirty="0">
                          <a:solidFill>
                            <a:srgbClr val="990011"/>
                          </a:solidFill>
                          <a:latin typeface="Calibri"/>
                        </a:rPr>
                        <a:t>Đỗ Thành Đạt</a:t>
                      </a:r>
                    </a:p>
                    <a:p>
                      <a:pPr>
                        <a:spcAft>
                          <a:spcPts val="0"/>
                        </a:spcAft>
                      </a:pPr>
                      <a:r>
                        <a:rPr lang="vi-VN" sz="1000" dirty="0">
                          <a:solidFill>
                            <a:srgbClr val="8A8A8A"/>
                          </a:solidFill>
                          <a:latin typeface="Calibri"/>
                        </a:rPr>
                        <a:t>MSSV 20261103M</a:t>
                      </a:r>
                    </a:p>
                  </a:txBody>
                  <a:tcPr marL="91440" marR="91440" marT="54864" marB="54864" anchor="ctr">
                    <a:solidFill>
                      <a:srgbClr val="FDEEF0"/>
                    </a:solidFill>
                  </a:tcPr>
                </a:tc>
                <a:tc>
                  <a:txBody>
                    <a:bodyPr/>
                    <a:lstStyle/>
                    <a:p>
                      <a:pPr>
                        <a:spcAft>
                          <a:spcPts val="200"/>
                        </a:spcAft>
                      </a:pPr>
                      <a:r>
                        <a:rPr lang="vi-VN" sz="1150" b="1" dirty="0">
                          <a:solidFill>
                            <a:srgbClr val="660000"/>
                          </a:solidFill>
                          <a:latin typeface="Calibri"/>
                        </a:rPr>
                        <a:t>Variational AE (VAE)</a:t>
                      </a:r>
                    </a:p>
                    <a:p>
                      <a:pPr>
                        <a:spcAft>
                          <a:spcPts val="0"/>
                        </a:spcAft>
                      </a:pPr>
                      <a:r>
                        <a:rPr lang="vi-VN" sz="950" dirty="0">
                          <a:solidFill>
                            <a:srgbClr val="8A8A8A"/>
                          </a:solidFill>
                          <a:latin typeface="Calibri"/>
                        </a:rPr>
                        <a:t>MNIST</a:t>
                      </a:r>
                    </a:p>
                  </a:txBody>
                  <a:tcPr marL="91440" marR="91440" marT="54864" marB="54864" anchor="ctr">
                    <a:solidFill>
                      <a:srgbClr val="FDEEF0"/>
                    </a:solidFill>
                  </a:tcPr>
                </a:tc>
                <a:tc>
                  <a:txBody>
                    <a:bodyPr/>
                    <a:lstStyle/>
                    <a:p>
                      <a:pPr>
                        <a:spcAft>
                          <a:spcPts val="300"/>
                        </a:spcAft>
                      </a:pPr>
                      <a:r>
                        <a:rPr lang="vi-VN" sz="1050" dirty="0">
                          <a:solidFill>
                            <a:srgbClr val="4A4A4A"/>
                          </a:solidFill>
                          <a:latin typeface="Calibri"/>
                        </a:rPr>
                        <a:t>▸  Cài VAE: viết rõ hàm mất mát reconstruction + KL; cài đặt và giải thích reparameterization trick (vì sao không lan truyền ngược qua phép lấy mẫu)</a:t>
                      </a:r>
                    </a:p>
                    <a:p>
                      <a:pPr>
                        <a:spcAft>
                          <a:spcPts val="300"/>
                        </a:spcAft>
                      </a:pPr>
                      <a:r>
                        <a:rPr lang="vi-VN" sz="1050" dirty="0">
                          <a:solidFill>
                            <a:srgbClr val="4A4A4A"/>
                          </a:solidFill>
                          <a:latin typeface="Calibri"/>
                        </a:rPr>
                        <a:t>▸  Khảo sát latent dim {2, 8, 32, 128}; với d = 2 vẽ bản đồ không gian ẩn 2D</a:t>
                      </a:r>
                    </a:p>
                    <a:p>
                      <a:pPr>
                        <a:spcAft>
                          <a:spcPts val="300"/>
                        </a:spcAft>
                      </a:pPr>
                      <a:r>
                        <a:rPr lang="vi-VN" sz="1050" dirty="0">
                          <a:solidFill>
                            <a:srgbClr val="4A4A4A"/>
                          </a:solidFill>
                          <a:latin typeface="Calibri"/>
                        </a:rPr>
                        <a:t>▸  Nội suy tuyến tính trong không gian ẩn VAE; ghép cạnh kết quả AE để cho thấy VAE liên tục hơn</a:t>
                      </a:r>
                    </a:p>
                    <a:p>
                      <a:pPr>
                        <a:spcAft>
                          <a:spcPts val="300"/>
                        </a:spcAft>
                      </a:pPr>
                      <a:r>
                        <a:rPr lang="vi-VN" sz="1050" dirty="0">
                          <a:solidFill>
                            <a:srgbClr val="4A4A4A"/>
                          </a:solidFill>
                          <a:latin typeface="Calibri"/>
                        </a:rPr>
                        <a:t>▸  Cài Conditional VAE: sinh ảnh theo nhãn cho trước (yêu cầu khác)</a:t>
                      </a:r>
                    </a:p>
                  </a:txBody>
                  <a:tcPr marL="91440" marR="91440" marT="54864" marB="54864" anchor="t">
                    <a:solidFill>
                      <a:srgbClr val="FDEEF0"/>
                    </a:solidFill>
                  </a:tcPr>
                </a:tc>
              </a:tr>
              <a:tr h="1420000">
                <a:tc>
                  <a:txBody>
                    <a:bodyPr/>
                    <a:lstStyle/>
                    <a:p>
                      <a:pPr>
                        <a:spcAft>
                          <a:spcPts val="200"/>
                        </a:spcAft>
                      </a:pPr>
                      <a:r>
                        <a:rPr lang="vi-VN" sz="1200" b="1" dirty="0">
                          <a:solidFill>
                            <a:srgbClr val="990011"/>
                          </a:solidFill>
                          <a:latin typeface="Calibri"/>
                        </a:rPr>
                        <a:t>Nguyễn Trường Chinh</a:t>
                      </a:r>
                    </a:p>
                    <a:p>
                      <a:pPr>
                        <a:spcAft>
                          <a:spcPts val="0"/>
                        </a:spcAft>
                      </a:pPr>
                      <a:r>
                        <a:rPr lang="vi-VN" sz="1000" dirty="0">
                          <a:solidFill>
                            <a:srgbClr val="8A8A8A"/>
                          </a:solidFill>
                          <a:latin typeface="Calibri"/>
                        </a:rPr>
                        <a:t>MSSV 2026dfeg</a:t>
                      </a:r>
                    </a:p>
                  </a:txBody>
                  <a:tcPr marL="91440" marR="91440" marT="54864" marB="54864" anchor="ctr">
                    <a:solidFill>
                      <a:srgbClr val="FFFFFF"/>
                    </a:solidFill>
                  </a:tcPr>
                </a:tc>
                <a:tc>
                  <a:txBody>
                    <a:bodyPr/>
                    <a:lstStyle/>
                    <a:p>
                      <a:pPr>
                        <a:spcAft>
                          <a:spcPts val="200"/>
                        </a:spcAft>
                      </a:pPr>
                      <a:r>
                        <a:rPr lang="vi-VN" sz="1150" b="1" dirty="0">
                          <a:solidFill>
                            <a:srgbClr val="660000"/>
                          </a:solidFill>
                          <a:latin typeface="Calibri"/>
                        </a:rPr>
                        <a:t>DCGAN</a:t>
                      </a:r>
                    </a:p>
                    <a:p>
                      <a:pPr>
                        <a:spcAft>
                          <a:spcPts val="0"/>
                        </a:spcAft>
                      </a:pPr>
                      <a:r>
                        <a:rPr lang="vi-VN" sz="950" dirty="0">
                          <a:solidFill>
                            <a:srgbClr val="8A8A8A"/>
                          </a:solidFill>
                          <a:latin typeface="Calibri"/>
                        </a:rPr>
                        <a:t>MNIST + CelebA 64×64</a:t>
                      </a:r>
                    </a:p>
                  </a:txBody>
                  <a:tcPr marL="91440" marR="91440" marT="54864" marB="54864" anchor="ctr">
                    <a:solidFill>
                      <a:srgbClr val="FFFFFF"/>
                    </a:solidFill>
                  </a:tcPr>
                </a:tc>
                <a:tc>
                  <a:txBody>
                    <a:bodyPr/>
                    <a:lstStyle/>
                    <a:p>
                      <a:pPr>
                        <a:spcAft>
                          <a:spcPts val="300"/>
                        </a:spcAft>
                      </a:pPr>
                      <a:r>
                        <a:rPr lang="vi-VN" sz="1050" dirty="0">
                          <a:solidFill>
                            <a:srgbClr val="4A4A4A"/>
                          </a:solidFill>
                          <a:latin typeface="Calibri"/>
                        </a:rPr>
                        <a:t>▸  Cài DCGAN: mô tả kiến trúc generator / discriminator và các hyperparameter chính</a:t>
                      </a:r>
                    </a:p>
                    <a:p>
                      <a:pPr>
                        <a:spcAft>
                          <a:spcPts val="300"/>
                        </a:spcAft>
                      </a:pPr>
                      <a:r>
                        <a:rPr lang="vi-VN" sz="1050" dirty="0">
                          <a:solidFill>
                            <a:srgbClr val="4A4A4A"/>
                          </a:solidFill>
                          <a:latin typeface="Calibri"/>
                        </a:rPr>
                        <a:t>▸  Ghi lại đường loss của G và D; phân tích tính bất ổn định, ghi nhận mode collapse nếu xảy ra</a:t>
                      </a:r>
                    </a:p>
                    <a:p>
                      <a:pPr>
                        <a:spcAft>
                          <a:spcPts val="300"/>
                        </a:spcAft>
                      </a:pPr>
                      <a:r>
                        <a:rPr lang="vi-VN" sz="1050" dirty="0">
                          <a:solidFill>
                            <a:srgbClr val="4A4A4A"/>
                          </a:solidFill>
                          <a:latin typeface="Calibri"/>
                        </a:rPr>
                        <a:t>▸  Phần nâng cao: huấn luyện DCGAN trên CelebA cắt 64×64 (20–30k ảnh, ~1 giờ trên T4)</a:t>
                      </a:r>
                    </a:p>
                    <a:p>
                      <a:pPr>
                        <a:spcAft>
                          <a:spcPts val="300"/>
                        </a:spcAft>
                      </a:pPr>
                      <a:r>
                        <a:rPr lang="vi-VN" sz="1050" dirty="0">
                          <a:solidFill>
                            <a:srgbClr val="4A4A4A"/>
                          </a:solidFill>
                          <a:latin typeface="Calibri"/>
                        </a:rPr>
                        <a:t>▸  Tính FID / Inception Score cho cả 3 mô hình; lập bảng so sánh + lưới ảnh sinh ở cùng số epoch</a:t>
                      </a:r>
                    </a:p>
                  </a:txBody>
                  <a:tcPr marL="91440" marR="91440" marT="54864" marB="54864" anchor="t">
                    <a:solidFill>
                      <a:srgbClr val="FFFFFF"/>
                    </a:solidFill>
                  </a:tcPr>
                </a:tc>
              </a:tr>
              <a:tr h="500000">
                <a:tc gridSpan="3">
                  <a:txBody>
                    <a:bodyPr/>
                    <a:lstStyle/>
                    <a:p>
                      <a:pPr>
                        <a:spcAft>
                          <a:spcPts val="0"/>
                        </a:spcAft>
                      </a:pPr>
                      <a:r>
                        <a:rPr lang="vi-VN" sz="1000" dirty="0">
                          <a:solidFill>
                            <a:srgbClr val="660000"/>
                          </a:solidFill>
                          <a:latin typeface="Calibri"/>
                        </a:rPr>
                        <a:t>CÔNG VIỆC CHUNG (CẢ NHÓM):  thống nhất dữ liệu, seed và ngân sách tính toán chung · thử nghiệm và phân tích ảnh hưởng của các hyperparameter trong mô hình mình phụ trách · so sánh 3 mô hình ở cùng số epoch · tổng hợp báo cáo, slide và phản biện chéo kết quả</a:t>
                      </a:r>
                    </a:p>
                  </a:txBody>
                  <a:tcPr marL="91440" marR="91440" marT="54864" marB="54864" anchor="ctr">
                    <a:solidFill>
                      <a:srgbClr val="F1C6CC"/>
                    </a:solidFill>
                  </a:tcPr>
                </a:tc>
                <a:tc hMerge="1">
                  <a:txBody>
                    <a:bodyPr/>
                    <a:lstStyle/>
                    <a:p/>
                  </a:txBody>
                  <a:tcPr/>
                </a:tc>
                <a:tc hMerge="1">
                  <a:txBody>
                    <a:bodyPr/>
                    <a:lstStyle/>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E49C0E-1127-4C14-A4FF-6F144A0A397C}"/>
              </a:ext>
            </a:extLst>
          </p:cNvPr>
          <p:cNvPicPr>
            <a:picLocks noChangeAspect="1"/>
          </p:cNvPicPr>
          <p:nvPr/>
        </p:nvPicPr>
        <p:blipFill>
          <a:blip r:embed="rId3"/>
          <a:stretch>
            <a:fillRect/>
          </a:stretch>
        </p:blipFill>
        <p:spPr>
          <a:xfrm>
            <a:off x="428455" y="235491"/>
            <a:ext cx="11335089" cy="6379377"/>
          </a:xfrm>
          <a:prstGeom prst="rect">
            <a:avLst/>
          </a:prstGeom>
        </p:spPr>
      </p:pic>
    </p:spTree>
    <p:extLst>
      <p:ext uri="{BB962C8B-B14F-4D97-AF65-F5344CB8AC3E}">
        <p14:creationId xmlns:p14="http://schemas.microsoft.com/office/powerpoint/2010/main" val="807786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(3/7)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Lưới ảnh gốc / tái tạo theo số chiều ẩn (BCE)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cách đọc như slide trước, nhưng mô hình huấn luyện bằng BCE; 16 mẫu đầu của tập test, cùng bộ mẫu cho cả bốn mức d.</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Vẫn sai chữ số ở nhiều mẫu, nhoè đúng như bản MSE. MSE đo lại ≈ 32.55.</a:t>
            </a:r>
          </a:p>
        </p:txBody>
      </p:sp>
      <p:pic>
        <p:nvPicPr>
          <p:cNvPr id="7" name="Picture 6" descr="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còn dày và mờ ở các đoạn cong. MSE đo lại ≈ 12.89.</a:t>
            </a:r>
          </a:p>
        </p:txBody>
      </p:sp>
      <p:pic>
        <p:nvPicPr>
          <p:cNvPr id="10" name="Picture 9" descr="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Sắc nét, giữ đúng nét đặc trưng của từng chữ số. MSE đo lại ≈ 3.01.</a:t>
            </a:r>
          </a:p>
        </p:txBody>
      </p:sp>
      <p:pic>
        <p:nvPicPr>
          <p:cNvPr id="13" name="Picture 12" descr="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Gần như trùng khớp ảnh gốc. MSE đo lại ≈ 0.84 — vẫn tiếp tục giảm so với d = 32.</a:t>
            </a:r>
          </a:p>
        </p:txBody>
      </p:sp>
      <p:pic>
        <p:nvPicPr>
          <p:cNvPr id="16" name="Picture 15" descr="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Kết luận không đổi khi chuyển từ MSE sang BCE: lợi ích thị giác tập trung ở đoạn d = 2 → 32, và AE vẫn tiếp tục giảm sai số tới d = 128 vì không có ràng buộc nào ngăn nó dùng hết số chiều.</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04 · KẾT QUẢ VAE (3/6)</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VAE — Lưới ảnh gốc / tái tạo theo số chiều ẩn (BCE)</a:t>
            </a:r>
          </a:p>
        </p:txBody>
      </p:sp>
      <p:sp>
        <p:nvSpPr>
          <p:cNvPr id="4" name="TextBox 3"/>
          <p:cNvSpPr txBox="1"/>
          <p:nvPr/>
        </p:nvSpPr>
        <p:spPr>
          <a:xfrm>
            <a:off x="475488" y="1444752"/>
            <a:ext cx="10881360" cy="256032"/>
          </a:xfrm>
          <a:prstGeom prst="rect">
            <a:avLst/>
          </a:prstGeom>
          <a:noFill/>
        </p:spPr>
        <p:txBody>
          <a:bodyPr wrap="square" anchor="t">
            <a:spAutoFit/>
          </a:bodyPr>
          <a:lstStyle/>
          <a:p>
            <a:pPr algn="l"/>
            <a:r>
              <a:rPr sz="1000" b="0" i="1">
                <a:solidFill>
                  <a:srgbClr val="8A8A8A"/>
                </a:solidFill>
                <a:latin typeface="Calibri"/>
              </a:rPr>
              <a:t>Cùng bộ 16 mẫu và cùng cách đọc như lưới BCE của AE; ở chế độ eval VAE dùng μ nên kết quả là tất định.</a:t>
            </a:r>
          </a:p>
        </p:txBody>
      </p:sp>
      <p:sp>
        <p:nvSpPr>
          <p:cNvPr id="5" name="Rounded Rectangle 4"/>
          <p:cNvSpPr/>
          <p:nvPr/>
        </p:nvSpPr>
        <p:spPr>
          <a:xfrm>
            <a:off x="457200"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2</a:t>
            </a:r>
          </a:p>
        </p:txBody>
      </p:sp>
      <p:sp>
        <p:nvSpPr>
          <p:cNvPr id="6" name="TextBox 5"/>
          <p:cNvSpPr txBox="1"/>
          <p:nvPr/>
        </p:nvSpPr>
        <p:spPr>
          <a:xfrm>
            <a:off x="1188720" y="1737360"/>
            <a:ext cx="4617720" cy="329184"/>
          </a:xfrm>
          <a:prstGeom prst="rect">
            <a:avLst/>
          </a:prstGeom>
          <a:noFill/>
        </p:spPr>
        <p:txBody>
          <a:bodyPr wrap="square" anchor="ctr">
            <a:spAutoFit/>
          </a:bodyPr>
          <a:lstStyle/>
          <a:p>
            <a:pPr algn="l"/>
            <a:r>
              <a:rPr sz="1050" b="0" i="0">
                <a:solidFill>
                  <a:srgbClr val="4A4A4A"/>
                </a:solidFill>
                <a:latin typeface="Calibri"/>
              </a:rPr>
              <a:t>Nhoè và nhầm chữ số đúng như AE ở cùng d. MSE đo lại ≈ 33.23 (AE: 32.55).</a:t>
            </a:r>
          </a:p>
        </p:txBody>
      </p:sp>
      <p:pic>
        <p:nvPicPr>
          <p:cNvPr id="7" name="Picture 6" descr="vmse_2_top.png"/>
          <p:cNvPicPr>
            <a:picLocks noChangeAspect="1"/>
          </p:cNvPicPr>
          <p:nvPr/>
        </p:nvPicPr>
        <p:blipFill>
          <a:blip r:embed="rId3"/>
          <a:stretch>
            <a:fillRect/>
          </a:stretch>
        </p:blipFill>
        <p:spPr>
          <a:xfrm>
            <a:off x="457200" y="2121408"/>
            <a:ext cx="5349240" cy="1370466"/>
          </a:xfrm>
          <a:prstGeom prst="rect">
            <a:avLst/>
          </a:prstGeom>
        </p:spPr>
      </p:pic>
      <p:sp>
        <p:nvSpPr>
          <p:cNvPr id="8" name="Rounded Rectangle 7"/>
          <p:cNvSpPr/>
          <p:nvPr/>
        </p:nvSpPr>
        <p:spPr>
          <a:xfrm>
            <a:off x="6382512" y="175564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8</a:t>
            </a:r>
          </a:p>
        </p:txBody>
      </p:sp>
      <p:sp>
        <p:nvSpPr>
          <p:cNvPr id="9" name="TextBox 8"/>
          <p:cNvSpPr txBox="1"/>
          <p:nvPr/>
        </p:nvSpPr>
        <p:spPr>
          <a:xfrm>
            <a:off x="7114032" y="1737360"/>
            <a:ext cx="4617720" cy="329184"/>
          </a:xfrm>
          <a:prstGeom prst="rect">
            <a:avLst/>
          </a:prstGeom>
          <a:noFill/>
        </p:spPr>
        <p:txBody>
          <a:bodyPr wrap="square" anchor="ctr">
            <a:spAutoFit/>
          </a:bodyPr>
          <a:lstStyle/>
          <a:p>
            <a:pPr algn="l"/>
            <a:r>
              <a:rPr sz="1050" b="0" i="0">
                <a:solidFill>
                  <a:srgbClr val="4A4A4A"/>
                </a:solidFill>
                <a:latin typeface="Calibri"/>
              </a:rPr>
              <a:t>Đúng chữ số, nét mềm và tròn hơn do KL. MSE đo lại ≈ 12.71 — ngang AE (12.89).</a:t>
            </a:r>
          </a:p>
        </p:txBody>
      </p:sp>
      <p:pic>
        <p:nvPicPr>
          <p:cNvPr id="10" name="Picture 9" descr="vmse_8_top.png"/>
          <p:cNvPicPr>
            <a:picLocks noChangeAspect="1"/>
          </p:cNvPicPr>
          <p:nvPr/>
        </p:nvPicPr>
        <p:blipFill>
          <a:blip r:embed="rId4"/>
          <a:stretch>
            <a:fillRect/>
          </a:stretch>
        </p:blipFill>
        <p:spPr>
          <a:xfrm>
            <a:off x="6382512" y="2121408"/>
            <a:ext cx="5349240" cy="1370466"/>
          </a:xfrm>
          <a:prstGeom prst="rect">
            <a:avLst/>
          </a:prstGeom>
        </p:spPr>
      </p:pic>
      <p:sp>
        <p:nvSpPr>
          <p:cNvPr id="11" name="Rounded Rectangle 10"/>
          <p:cNvSpPr/>
          <p:nvPr/>
        </p:nvSpPr>
        <p:spPr>
          <a:xfrm>
            <a:off x="457200"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32</a:t>
            </a:r>
          </a:p>
        </p:txBody>
      </p:sp>
      <p:sp>
        <p:nvSpPr>
          <p:cNvPr id="12" name="TextBox 11"/>
          <p:cNvSpPr txBox="1"/>
          <p:nvPr/>
        </p:nvSpPr>
        <p:spPr>
          <a:xfrm>
            <a:off x="1188720" y="3977640"/>
            <a:ext cx="4617720" cy="329184"/>
          </a:xfrm>
          <a:prstGeom prst="rect">
            <a:avLst/>
          </a:prstGeom>
          <a:noFill/>
        </p:spPr>
        <p:txBody>
          <a:bodyPr wrap="square" anchor="ctr">
            <a:spAutoFit/>
          </a:bodyPr>
          <a:lstStyle/>
          <a:p>
            <a:pPr algn="l"/>
            <a:r>
              <a:rPr sz="1050" b="0" i="0">
                <a:solidFill>
                  <a:srgbClr val="4A4A4A"/>
                </a:solidFill>
                <a:latin typeface="Calibri"/>
              </a:rPr>
              <a:t>Chi tiết nét đã ổn định. MSE đo lại ≈ 4.92, bắt đầu tụt lại so với AE (3.01).</a:t>
            </a:r>
          </a:p>
        </p:txBody>
      </p:sp>
      <p:pic>
        <p:nvPicPr>
          <p:cNvPr id="13" name="Picture 12" descr="vmse_32_top.png"/>
          <p:cNvPicPr>
            <a:picLocks noChangeAspect="1"/>
          </p:cNvPicPr>
          <p:nvPr/>
        </p:nvPicPr>
        <p:blipFill>
          <a:blip r:embed="rId5"/>
          <a:stretch>
            <a:fillRect/>
          </a:stretch>
        </p:blipFill>
        <p:spPr>
          <a:xfrm>
            <a:off x="457200" y="4361688"/>
            <a:ext cx="5349240" cy="1370466"/>
          </a:xfrm>
          <a:prstGeom prst="rect">
            <a:avLst/>
          </a:prstGeom>
        </p:spPr>
      </p:pic>
      <p:sp>
        <p:nvSpPr>
          <p:cNvPr id="14" name="Rounded Rectangle 13"/>
          <p:cNvSpPr/>
          <p:nvPr/>
        </p:nvSpPr>
        <p:spPr>
          <a:xfrm>
            <a:off x="6382512" y="3995928"/>
            <a:ext cx="621792"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FFFFF"/>
                </a:solidFill>
                <a:latin typeface="Calibri"/>
              </a:rPr>
              <a:t>d = 128</a:t>
            </a:r>
          </a:p>
        </p:txBody>
      </p:sp>
      <p:sp>
        <p:nvSpPr>
          <p:cNvPr id="15" name="TextBox 14"/>
          <p:cNvSpPr txBox="1"/>
          <p:nvPr/>
        </p:nvSpPr>
        <p:spPr>
          <a:xfrm>
            <a:off x="7114032" y="3977640"/>
            <a:ext cx="4617720" cy="329184"/>
          </a:xfrm>
          <a:prstGeom prst="rect">
            <a:avLst/>
          </a:prstGeom>
          <a:noFill/>
        </p:spPr>
        <p:txBody>
          <a:bodyPr wrap="square" anchor="ctr">
            <a:spAutoFit/>
          </a:bodyPr>
          <a:lstStyle/>
          <a:p>
            <a:pPr algn="l"/>
            <a:r>
              <a:rPr sz="1050" b="0" i="0">
                <a:solidFill>
                  <a:srgbClr val="4A4A4A"/>
                </a:solidFill>
                <a:latin typeface="Calibri"/>
              </a:rPr>
              <a:t>MSE đo lại ≈ 4.97 — không tốt hơn d = 32, thêm chiều đã hết tác dụng.</a:t>
            </a:r>
          </a:p>
        </p:txBody>
      </p:sp>
      <p:pic>
        <p:nvPicPr>
          <p:cNvPr id="16" name="Picture 15" descr="vmse_128_top.png"/>
          <p:cNvPicPr>
            <a:picLocks noChangeAspect="1"/>
          </p:cNvPicPr>
          <p:nvPr/>
        </p:nvPicPr>
        <p:blipFill>
          <a:blip r:embed="rId6"/>
          <a:stretch>
            <a:fillRect/>
          </a:stretch>
        </p:blipFill>
        <p:spPr>
          <a:xfrm>
            <a:off x="6382512" y="4361688"/>
            <a:ext cx="5349240" cy="1370466"/>
          </a:xfrm>
          <a:prstGeom prst="rect">
            <a:avLst/>
          </a:prstGeom>
        </p:spPr>
      </p:pic>
      <p:sp>
        <p:nvSpPr>
          <p:cNvPr id="17" name="Rounded Rectangle 16"/>
          <p:cNvSpPr/>
          <p:nvPr/>
        </p:nvSpPr>
        <p:spPr>
          <a:xfrm>
            <a:off x="457200" y="5897880"/>
            <a:ext cx="11274552" cy="4114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5943600"/>
            <a:ext cx="10835640" cy="320040"/>
          </a:xfrm>
          <a:prstGeom prst="rect">
            <a:avLst/>
          </a:prstGeom>
          <a:noFill/>
        </p:spPr>
        <p:txBody>
          <a:bodyPr wrap="square" anchor="ctr">
            <a:spAutoFit/>
          </a:bodyPr>
          <a:lstStyle/>
          <a:p>
            <a:pPr algn="l"/>
            <a:r>
              <a:rPr sz="1100" b="0" i="0">
                <a:solidFill>
                  <a:srgbClr val="4A4A4A"/>
                </a:solidFill>
                <a:latin typeface="Calibri"/>
              </a:rPr>
              <a:t>Điểm mấu chốt của cả hai lưới BCE: VAE bám sát AE tới d = 8 rồi bão hoà quanh 4.9, trong khi AE xuống tới 0.84 — chênh lệch đó chính là chi phí của ràng buộc KL, đổi lại là không gian ẩn liên tục và lấy mẫu được.</a:t>
            </a:r>
          </a:p>
        </p:txBody>
      </p:sp>
      <p:sp>
        <p:nvSpPr>
          <p:cNvPr id="19" name="TextBox 18"/>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20" name="TextBox 19"/>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7315200" cy="320040"/>
          </a:xfrm>
          <a:prstGeom prst="rect">
            <a:avLst/>
          </a:prstGeom>
          <a:noFill/>
        </p:spPr>
        <p:txBody>
          <a:bodyPr wrap="square" anchor="ctr">
            <a:spAutoFit/>
          </a:bodyPr>
          <a:lstStyle/>
          <a:p>
            <a:pPr algn="l"/>
            <a:r>
              <a:rPr sz="1300" b="1" i="0" spc="200">
                <a:solidFill>
                  <a:srgbClr val="990011"/>
                </a:solidFill>
                <a:latin typeface="Calibri"/>
              </a:rPr>
              <a:t>03 · KẾT QUẢ AE (5/7)</a:t>
            </a:r>
          </a:p>
        </p:txBody>
      </p:sp>
      <p:sp>
        <p:nvSpPr>
          <p:cNvPr id="3" name="TextBox 2"/>
          <p:cNvSpPr txBox="1"/>
          <p:nvPr/>
        </p:nvSpPr>
        <p:spPr>
          <a:xfrm>
            <a:off x="548640" y="658368"/>
            <a:ext cx="10881360" cy="822960"/>
          </a:xfrm>
          <a:prstGeom prst="rect">
            <a:avLst/>
          </a:prstGeom>
          <a:noFill/>
        </p:spPr>
        <p:txBody>
          <a:bodyPr wrap="square" anchor="ctr">
            <a:spAutoFit/>
          </a:bodyPr>
          <a:lstStyle/>
          <a:p>
            <a:pPr algn="l"/>
            <a:r>
              <a:rPr sz="3000" b="1" i="0">
                <a:solidFill>
                  <a:srgbClr val="660000"/>
                </a:solidFill>
                <a:latin typeface="Cambria"/>
              </a:rPr>
              <a:t>AE — Không gian ẩn 2D (mã ẩn z)</a:t>
            </a:r>
          </a:p>
        </p:txBody>
      </p:sp>
      <p:sp>
        <p:nvSpPr>
          <p:cNvPr id="4" name="Rounded Rectangle 3"/>
          <p:cNvSpPr/>
          <p:nvPr/>
        </p:nvSpPr>
        <p:spPr>
          <a:xfrm>
            <a:off x="161848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AE · loss = MSE · d = 2</a:t>
            </a:r>
          </a:p>
        </p:txBody>
      </p:sp>
      <p:pic>
        <p:nvPicPr>
          <p:cNvPr id="5" name="Picture 4" descr="latent_map_2d_mse.png"/>
          <p:cNvPicPr>
            <a:picLocks noChangeAspect="1"/>
          </p:cNvPicPr>
          <p:nvPr/>
        </p:nvPicPr>
        <p:blipFill>
          <a:blip r:embed="rId3"/>
          <a:stretch>
            <a:fillRect/>
          </a:stretch>
        </p:blipFill>
        <p:spPr>
          <a:xfrm>
            <a:off x="1618488" y="1975104"/>
            <a:ext cx="4160520" cy="3566160"/>
          </a:xfrm>
          <a:prstGeom prst="rect">
            <a:avLst/>
          </a:prstGeom>
        </p:spPr>
      </p:pic>
      <p:sp>
        <p:nvSpPr>
          <p:cNvPr id="6" name="Rounded Rectangle 5"/>
          <p:cNvSpPr/>
          <p:nvPr/>
        </p:nvSpPr>
        <p:spPr>
          <a:xfrm>
            <a:off x="6373368" y="1627632"/>
            <a:ext cx="2240280" cy="292608"/>
          </a:xfrm>
          <a:prstGeom prst="roundRect">
            <a:avLst>
              <a:gd name="adj" fmla="val 16667"/>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AE · loss = BCE · d = 2</a:t>
            </a:r>
          </a:p>
        </p:txBody>
      </p:sp>
      <p:pic>
        <p:nvPicPr>
          <p:cNvPr id="7" name="Picture 6" descr="latent_map_2d_bce.png"/>
          <p:cNvPicPr>
            <a:picLocks noChangeAspect="1"/>
          </p:cNvPicPr>
          <p:nvPr/>
        </p:nvPicPr>
        <p:blipFill>
          <a:blip r:embed="rId4"/>
          <a:stretch>
            <a:fillRect/>
          </a:stretch>
        </p:blipFill>
        <p:spPr>
          <a:xfrm>
            <a:off x="6373368" y="1975104"/>
            <a:ext cx="4160520" cy="3566160"/>
          </a:xfrm>
          <a:prstGeom prst="rect">
            <a:avLst/>
          </a:prstGeom>
        </p:spPr>
      </p:pic>
      <p:sp>
        <p:nvSpPr>
          <p:cNvPr id="8" name="Rounded Rectangle 7"/>
          <p:cNvSpPr/>
          <p:nvPr/>
        </p:nvSpPr>
        <p:spPr>
          <a:xfrm>
            <a:off x="457200" y="5669280"/>
            <a:ext cx="11274552" cy="640080"/>
          </a:xfrm>
          <a:prstGeom prst="roundRect">
            <a:avLst>
              <a:gd name="adj" fmla="val 2474"/>
            </a:avLst>
          </a:prstGeom>
          <a:solidFill>
            <a:srgbClr val="FDEEF0"/>
          </a:solidFill>
          <a:ln w="12700">
            <a:solidFill>
              <a:srgbClr val="F1C6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5742432"/>
            <a:ext cx="10835640" cy="530352"/>
          </a:xfrm>
          <a:prstGeom prst="rect">
            <a:avLst/>
          </a:prstGeom>
          <a:noFill/>
        </p:spPr>
        <p:txBody>
          <a:bodyPr wrap="square" anchor="t">
            <a:spAutoFit/>
          </a:bodyPr>
          <a:lstStyle/>
          <a:p>
            <a:pPr algn="l"/>
            <a:r>
              <a:rPr sz="1100" b="0" i="0">
                <a:solidFill>
                  <a:srgbClr val="4A4A4A"/>
                </a:solidFill>
                <a:latin typeface="Calibri"/>
              </a:rPr>
              <a:t>Không có ràng buộc nào ép mã ẩn về một phân phối cho trước, nên AE trải điểm ra tuỳ ý: phạm vi rộng tới khoảng ±6, các cụm bị đẩy xa nhau (chữ số 1 màu cam tách hẳn ra một góc) và giữa chúng còn những khoảng trống mà decoder chưa từng được huấn luyện — đây chính là các "lỗ hổng" khiến nội suy của AE đi qua vùng vô nghĩa. Đặt cạnh bản đồ VAE ở mục 04 để thấy khác biệt: VAE gom mọi thứ về ±3 quanh gốc và lấp đầy vùng trung tâm.</a:t>
            </a:r>
          </a:p>
        </p:txBody>
      </p:sp>
      <p:sp>
        <p:nvSpPr>
          <p:cNvPr id="10" name="TextBox 9"/>
          <p:cNvSpPr txBox="1"/>
          <p:nvPr/>
        </p:nvSpPr>
        <p:spPr>
          <a:xfrm>
            <a:off x="457200" y="6510528"/>
            <a:ext cx="5486400" cy="274320"/>
          </a:xfrm>
          <a:prstGeom prst="rect">
            <a:avLst/>
          </a:prstGeom>
          <a:noFill/>
        </p:spPr>
        <p:txBody>
          <a:bodyPr wrap="square" anchor="ctr">
            <a:spAutoFit/>
          </a:bodyPr>
          <a:lstStyle/>
          <a:p>
            <a:pPr algn="l"/>
            <a:r>
              <a:rPr sz="900" b="0" i="0">
                <a:solidFill>
                  <a:srgbClr val="8A8A8A"/>
                </a:solidFill>
                <a:latin typeface="Calibri"/>
              </a:rPr>
              <a:t>Autoencoder (AE) — MNIST</a:t>
            </a:r>
          </a:p>
        </p:txBody>
      </p:sp>
      <p:sp>
        <p:nvSpPr>
          <p:cNvPr id="11" name="TextBox 10"/>
          <p:cNvSpPr txBox="1"/>
          <p:nvPr/>
        </p:nvSpPr>
        <p:spPr>
          <a:xfrm>
            <a:off x="11521440" y="6510528"/>
            <a:ext cx="365760" cy="274320"/>
          </a:xfrm>
          <a:prstGeom prst="rect">
            <a:avLst/>
          </a:prstGeom>
          <a:noFill/>
        </p:spPr>
        <p:txBody>
          <a:bodyPr wrap="square" anchor="ctr">
            <a:spAutoFit/>
          </a:bodyPr>
          <a:lstStyle/>
          <a:p>
            <a:pPr algn="r"/>
            <a:r>
              <a:rPr sz="900" b="0" i="0">
                <a:solidFill>
                  <a:srgbClr val="8A8A8A"/>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5745</Words>
  <Application>Microsoft Office PowerPoint</Application>
  <PresentationFormat>Widescreen</PresentationFormat>
  <Paragraphs>347</Paragraphs>
  <Slides>19</Slides>
  <Notes>19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Dat Do Thanh</cp:lastModifiedBy>
  <cp:revision>16</cp:revision>
  <dcterms:created xsi:type="dcterms:W3CDTF">2026-08-23T02:31:10Z</dcterms:created>
  <dcterms:modified xsi:type="dcterms:W3CDTF">2026-08-23T14:50:42Z</dcterms:modified>
</cp:coreProperties>
</file>